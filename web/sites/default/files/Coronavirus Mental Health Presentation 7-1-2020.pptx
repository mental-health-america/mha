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568" r:id="rId2"/>
    <p:sldId id="687" r:id="rId3"/>
    <p:sldId id="698" r:id="rId4"/>
    <p:sldId id="666" r:id="rId5"/>
    <p:sldId id="669" r:id="rId6"/>
    <p:sldId id="567" r:id="rId7"/>
    <p:sldId id="690" r:id="rId8"/>
    <p:sldId id="705" r:id="rId9"/>
    <p:sldId id="706" r:id="rId10"/>
    <p:sldId id="707" r:id="rId11"/>
    <p:sldId id="680" r:id="rId12"/>
    <p:sldId id="699" r:id="rId13"/>
    <p:sldId id="702" r:id="rId14"/>
    <p:sldId id="700" r:id="rId15"/>
    <p:sldId id="703" r:id="rId16"/>
    <p:sldId id="691" r:id="rId17"/>
    <p:sldId id="697" r:id="rId18"/>
    <p:sldId id="693" r:id="rId19"/>
    <p:sldId id="704" r:id="rId20"/>
    <p:sldId id="670" r:id="rId21"/>
    <p:sldId id="68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8" d="100"/>
          <a:sy n="88" d="100"/>
        </p:scale>
        <p:origin x="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92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gionfriddo\AppData\Local\Microsoft\Windows\INetCache\Content.Outlook\22XL6XG1\Coronavirus%20Analysis%20Through%20Jun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\\mha-fp01\MHA\Departments\Executive%20Office\Paul\Data%20Excel%20Charts%20Reports%20and%20More\Coronavirus%20Screening%20Analysis%202%20PG%20addition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\\mha-fp01\MHA\Departments\Executive%20Office\Paul\Data%20Excel%20Charts%20Reports%20and%20More\Coronavirus%20Screening%20Analysis%202%20PG%20addition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\\mha-fp01\MHA\Departments\Executive%20Office\Paul\Data%20Excel%20Charts%20Reports%20and%20More\Suicidal%20Thinking%204-30-20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 Day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1/1 - 1/31</c:v>
                </c:pt>
                <c:pt idx="1">
                  <c:v>2/1 - 2/29</c:v>
                </c:pt>
                <c:pt idx="2">
                  <c:v>3/1 - 3/31</c:v>
                </c:pt>
                <c:pt idx="3">
                  <c:v>4/1 - 4/30</c:v>
                </c:pt>
                <c:pt idx="4">
                  <c:v>5/1 - 5/31</c:v>
                </c:pt>
                <c:pt idx="5">
                  <c:v>6/1 - 6/30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308</c:v>
                </c:pt>
                <c:pt idx="1">
                  <c:v>311</c:v>
                </c:pt>
                <c:pt idx="2">
                  <c:v>356</c:v>
                </c:pt>
                <c:pt idx="3">
                  <c:v>524</c:v>
                </c:pt>
                <c:pt idx="4">
                  <c:v>1450</c:v>
                </c:pt>
                <c:pt idx="5">
                  <c:v>1559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4F-4EF5-8B28-CA08B5560B4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07964096"/>
        <c:axId val="905666640"/>
      </c:barChart>
      <c:catAx>
        <c:axId val="907964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5666640"/>
        <c:crosses val="autoZero"/>
        <c:auto val="1"/>
        <c:lblAlgn val="ctr"/>
        <c:lblOffset val="100"/>
        <c:noMultiLvlLbl val="0"/>
      </c:catAx>
      <c:valAx>
        <c:axId val="905666640"/>
        <c:scaling>
          <c:orientation val="minMax"/>
          <c:min val="2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7964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Depression Screenings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444</c:v>
                </c:pt>
                <c:pt idx="1">
                  <c:v>481</c:v>
                </c:pt>
                <c:pt idx="2">
                  <c:v>532</c:v>
                </c:pt>
                <c:pt idx="3">
                  <c:v>727</c:v>
                </c:pt>
                <c:pt idx="4">
                  <c:v>2195</c:v>
                </c:pt>
                <c:pt idx="5">
                  <c:v>2476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40-4DD9-9921-C36CEF70DD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8591472"/>
        <c:axId val="343305792"/>
      </c:barChart>
      <c:catAx>
        <c:axId val="368591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3305792"/>
        <c:crosses val="autoZero"/>
        <c:auto val="1"/>
        <c:lblAlgn val="ctr"/>
        <c:lblOffset val="100"/>
        <c:noMultiLvlLbl val="0"/>
      </c:catAx>
      <c:valAx>
        <c:axId val="343305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8591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Moderate to Severe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Sheet1!$A$3:$A$7</c:f>
              <c:strCache>
                <c:ptCount val="5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June</c:v>
                </c:pt>
                <c:pt idx="4">
                  <c:v>Total</c:v>
                </c:pt>
              </c:strCache>
            </c:strRef>
          </c:cat>
          <c:val>
            <c:numRef>
              <c:f>Sheet1!$B$3:$B$7</c:f>
              <c:numCache>
                <c:formatCode>General</c:formatCode>
                <c:ptCount val="5"/>
                <c:pt idx="0">
                  <c:v>2042</c:v>
                </c:pt>
                <c:pt idx="1">
                  <c:v>5216</c:v>
                </c:pt>
                <c:pt idx="2">
                  <c:v>26683</c:v>
                </c:pt>
                <c:pt idx="3">
                  <c:v>29796</c:v>
                </c:pt>
                <c:pt idx="4">
                  <c:v>64108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77-4B03-BD8C-B335604D75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59131552"/>
        <c:axId val="559610240"/>
      </c:barChart>
      <c:catAx>
        <c:axId val="559131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9610240"/>
        <c:crosses val="autoZero"/>
        <c:auto val="1"/>
        <c:lblAlgn val="ctr"/>
        <c:lblOffset val="100"/>
        <c:noMultiLvlLbl val="0"/>
      </c:catAx>
      <c:valAx>
        <c:axId val="559610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9131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Excess Moderate to Severe Depression Screens </a:t>
            </a:r>
            <a:r>
              <a:rPr lang="en-US" sz="1862" b="0" i="0" u="none" strike="noStrike" baseline="0" dirty="0">
                <a:effectLst/>
              </a:rPr>
              <a:t>above the Nov-Jan 3-month average (10,867 moderate to severe)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Excess Positive Depression Screens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February</c:v>
                </c:pt>
                <c:pt idx="1">
                  <c:v>March</c:v>
                </c:pt>
                <c:pt idx="2">
                  <c:v>April</c:v>
                </c:pt>
                <c:pt idx="3">
                  <c:v>May</c:v>
                </c:pt>
                <c:pt idx="4">
                  <c:v>June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284</c:v>
                </c:pt>
                <c:pt idx="1">
                  <c:v>2878</c:v>
                </c:pt>
                <c:pt idx="2">
                  <c:v>7031</c:v>
                </c:pt>
                <c:pt idx="3">
                  <c:v>43900</c:v>
                </c:pt>
                <c:pt idx="4">
                  <c:v>51042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25-4C75-9467-3518AA3066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320624"/>
        <c:axId val="343314944"/>
      </c:barChart>
      <c:catAx>
        <c:axId val="14532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3314944"/>
        <c:crosses val="autoZero"/>
        <c:auto val="1"/>
        <c:lblAlgn val="ctr"/>
        <c:lblOffset val="100"/>
        <c:noMultiLvlLbl val="0"/>
      </c:catAx>
      <c:valAx>
        <c:axId val="343314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320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Psychosis!$H$9:$P$9</c:f>
              <c:strCache>
                <c:ptCount val="9"/>
                <c:pt idx="0">
                  <c:v>October</c:v>
                </c:pt>
                <c:pt idx="1">
                  <c:v>November</c:v>
                </c:pt>
                <c:pt idx="2">
                  <c:v>December</c:v>
                </c:pt>
                <c:pt idx="3">
                  <c:v>January</c:v>
                </c:pt>
                <c:pt idx="4">
                  <c:v>February</c:v>
                </c:pt>
                <c:pt idx="5">
                  <c:v>March</c:v>
                </c:pt>
                <c:pt idx="6">
                  <c:v>April</c:v>
                </c:pt>
                <c:pt idx="7">
                  <c:v>May</c:v>
                </c:pt>
                <c:pt idx="8">
                  <c:v>June</c:v>
                </c:pt>
              </c:strCache>
            </c:strRef>
          </c:cat>
          <c:val>
            <c:numRef>
              <c:f>Psychosis!$H$10:$P$10</c:f>
              <c:numCache>
                <c:formatCode>General</c:formatCode>
                <c:ptCount val="9"/>
                <c:pt idx="0">
                  <c:v>3620</c:v>
                </c:pt>
                <c:pt idx="1">
                  <c:v>4043</c:v>
                </c:pt>
                <c:pt idx="2">
                  <c:v>4086</c:v>
                </c:pt>
                <c:pt idx="3">
                  <c:v>4735</c:v>
                </c:pt>
                <c:pt idx="4">
                  <c:v>4243</c:v>
                </c:pt>
                <c:pt idx="5">
                  <c:v>4521</c:v>
                </c:pt>
                <c:pt idx="6">
                  <c:v>5805</c:v>
                </c:pt>
                <c:pt idx="7">
                  <c:v>16150</c:v>
                </c:pt>
                <c:pt idx="8">
                  <c:v>18261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34-4252-B7D0-71FFF815C0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52064928"/>
        <c:axId val="1156240064"/>
      </c:areaChart>
      <c:catAx>
        <c:axId val="1152064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6240064"/>
        <c:crosses val="autoZero"/>
        <c:auto val="1"/>
        <c:lblAlgn val="ctr"/>
        <c:lblOffset val="100"/>
        <c:noMultiLvlLbl val="0"/>
      </c:catAx>
      <c:valAx>
        <c:axId val="1156240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20649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Psychosis!$B$31</c:f>
              <c:strCache>
                <c:ptCount val="1"/>
                <c:pt idx="0">
                  <c:v>Screeners At Risk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Psychosis!$A$33:$A$40</c:f>
              <c:strCache>
                <c:ptCount val="8"/>
                <c:pt idx="0">
                  <c:v>Nov</c:v>
                </c:pt>
                <c:pt idx="1">
                  <c:v>Dec</c:v>
                </c:pt>
                <c:pt idx="2">
                  <c:v>Jan</c:v>
                </c:pt>
                <c:pt idx="3">
                  <c:v>Feb</c:v>
                </c:pt>
                <c:pt idx="4">
                  <c:v>Mar</c:v>
                </c:pt>
                <c:pt idx="5">
                  <c:v>April</c:v>
                </c:pt>
                <c:pt idx="6">
                  <c:v>May</c:v>
                </c:pt>
                <c:pt idx="7">
                  <c:v>June</c:v>
                </c:pt>
              </c:strCache>
            </c:strRef>
          </c:cat>
          <c:val>
            <c:numRef>
              <c:f>Psychosis!$B$33:$B$40</c:f>
              <c:numCache>
                <c:formatCode>General</c:formatCode>
                <c:ptCount val="8"/>
                <c:pt idx="0">
                  <c:v>4043</c:v>
                </c:pt>
                <c:pt idx="1">
                  <c:v>4086</c:v>
                </c:pt>
                <c:pt idx="2">
                  <c:v>4735</c:v>
                </c:pt>
                <c:pt idx="3">
                  <c:v>4243</c:v>
                </c:pt>
                <c:pt idx="4">
                  <c:v>4521</c:v>
                </c:pt>
                <c:pt idx="5">
                  <c:v>5805</c:v>
                </c:pt>
                <c:pt idx="6">
                  <c:v>16150</c:v>
                </c:pt>
                <c:pt idx="7">
                  <c:v>18261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FA-4FC6-8CEE-9129549DF5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86018976"/>
        <c:axId val="991189392"/>
      </c:barChart>
      <c:lineChart>
        <c:grouping val="standard"/>
        <c:varyColors val="0"/>
        <c:ser>
          <c:idx val="1"/>
          <c:order val="1"/>
          <c:tx>
            <c:strRef>
              <c:f>Psychosis!$C$31</c:f>
              <c:strCache>
                <c:ptCount val="1"/>
                <c:pt idx="0">
                  <c:v>Percent at Risk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Psychosis!$A$33:$A$40</c:f>
              <c:strCache>
                <c:ptCount val="8"/>
                <c:pt idx="0">
                  <c:v>Nov</c:v>
                </c:pt>
                <c:pt idx="1">
                  <c:v>Dec</c:v>
                </c:pt>
                <c:pt idx="2">
                  <c:v>Jan</c:v>
                </c:pt>
                <c:pt idx="3">
                  <c:v>Feb</c:v>
                </c:pt>
                <c:pt idx="4">
                  <c:v>Mar</c:v>
                </c:pt>
                <c:pt idx="5">
                  <c:v>April</c:v>
                </c:pt>
                <c:pt idx="6">
                  <c:v>May</c:v>
                </c:pt>
                <c:pt idx="7">
                  <c:v>June</c:v>
                </c:pt>
              </c:strCache>
            </c:strRef>
          </c:cat>
          <c:val>
            <c:numRef>
              <c:f>Psychosis!$C$33:$C$40</c:f>
              <c:numCache>
                <c:formatCode>0.00%</c:formatCode>
                <c:ptCount val="8"/>
                <c:pt idx="0">
                  <c:v>0.71</c:v>
                </c:pt>
                <c:pt idx="1">
                  <c:v>0.70399999999999996</c:v>
                </c:pt>
                <c:pt idx="2">
                  <c:v>0.72299999999999998</c:v>
                </c:pt>
                <c:pt idx="3">
                  <c:v>0.71399999999999997</c:v>
                </c:pt>
                <c:pt idx="4">
                  <c:v>0.751</c:v>
                </c:pt>
                <c:pt idx="5">
                  <c:v>0.72540000000000004</c:v>
                </c:pt>
                <c:pt idx="6">
                  <c:v>0.73470000000000002</c:v>
                </c:pt>
                <c:pt idx="7">
                  <c:v>0.75160000000000005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2FA-4FC6-8CEE-9129549DF5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86019376"/>
        <c:axId val="991188976"/>
      </c:lineChart>
      <c:catAx>
        <c:axId val="986018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1189392"/>
        <c:crosses val="autoZero"/>
        <c:auto val="1"/>
        <c:lblAlgn val="ctr"/>
        <c:lblOffset val="100"/>
        <c:noMultiLvlLbl val="0"/>
      </c:catAx>
      <c:valAx>
        <c:axId val="991189392"/>
        <c:scaling>
          <c:orientation val="minMax"/>
          <c:min val="35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6018976"/>
        <c:crosses val="autoZero"/>
        <c:crossBetween val="between"/>
      </c:valAx>
      <c:valAx>
        <c:axId val="991188976"/>
        <c:scaling>
          <c:orientation val="minMax"/>
        </c:scaling>
        <c:delete val="0"/>
        <c:axPos val="r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6019376"/>
        <c:crosses val="max"/>
        <c:crossBetween val="between"/>
      </c:valAx>
      <c:catAx>
        <c:axId val="9860193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9118897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Depression Screeners, Percent Moderate to Severe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Depression!$I$41:$I$46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Depression!$J$41:$J$46</c:f>
              <c:numCache>
                <c:formatCode>0.00%</c:formatCode>
                <c:ptCount val="6"/>
                <c:pt idx="0">
                  <c:v>0.78259999999999996</c:v>
                </c:pt>
                <c:pt idx="1">
                  <c:v>0.79910000000000003</c:v>
                </c:pt>
                <c:pt idx="2">
                  <c:v>0.83399999999999996</c:v>
                </c:pt>
                <c:pt idx="3">
                  <c:v>0.82050000000000001</c:v>
                </c:pt>
                <c:pt idx="4">
                  <c:v>0.80469999999999997</c:v>
                </c:pt>
                <c:pt idx="5">
                  <c:v>0.83320000000000005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EE-4123-91B7-85BB3A551D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6499152"/>
        <c:axId val="858091504"/>
      </c:barChart>
      <c:catAx>
        <c:axId val="696499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8091504"/>
        <c:crosses val="autoZero"/>
        <c:auto val="1"/>
        <c:lblAlgn val="ctr"/>
        <c:lblOffset val="100"/>
        <c:noMultiLvlLbl val="0"/>
      </c:catAx>
      <c:valAx>
        <c:axId val="858091504"/>
        <c:scaling>
          <c:orientation val="minMax"/>
          <c:max val="1"/>
          <c:min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6499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Suicidal/Self-Harm Thinking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Sheet1!$G$122</c:f>
              <c:strCache>
                <c:ptCount val="1"/>
                <c:pt idx="0">
                  <c:v>% Nearly Every Day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Sheet1!$F$125:$F$130</c:f>
              <c:strCache>
                <c:ptCount val="6"/>
                <c:pt idx="0">
                  <c:v>"Jan 2020"</c:v>
                </c:pt>
                <c:pt idx="1">
                  <c:v>"Feb 2020"</c:v>
                </c:pt>
                <c:pt idx="2">
                  <c:v>"Mar 2020"</c:v>
                </c:pt>
                <c:pt idx="3">
                  <c:v>"Apr 2020"</c:v>
                </c:pt>
                <c:pt idx="4">
                  <c:v>"May 2020"</c:v>
                </c:pt>
                <c:pt idx="5">
                  <c:v>"June 2020"</c:v>
                </c:pt>
              </c:strCache>
            </c:strRef>
          </c:cat>
          <c:val>
            <c:numRef>
              <c:f>Sheet1!$G$125:$G$130</c:f>
              <c:numCache>
                <c:formatCode>0.0%</c:formatCode>
                <c:ptCount val="6"/>
                <c:pt idx="0">
                  <c:v>0.16639999999999999</c:v>
                </c:pt>
                <c:pt idx="1">
                  <c:v>0.17530000000000001</c:v>
                </c:pt>
                <c:pt idx="2">
                  <c:v>0.2059</c:v>
                </c:pt>
                <c:pt idx="3">
                  <c:v>0.183</c:v>
                </c:pt>
                <c:pt idx="4" formatCode="0.00%">
                  <c:v>0.17480000000000001</c:v>
                </c:pt>
                <c:pt idx="5" formatCode="0.00%">
                  <c:v>0.1966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14-4889-9C28-DB2D7B12A56B}"/>
            </c:ext>
          </c:extLst>
        </c:ser>
        <c:ser>
          <c:idx val="1"/>
          <c:order val="1"/>
          <c:tx>
            <c:strRef>
              <c:f>Sheet1!$H$122</c:f>
              <c:strCache>
                <c:ptCount val="1"/>
                <c:pt idx="0">
                  <c:v>% More Than Half the Days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Sheet1!$F$125:$F$130</c:f>
              <c:strCache>
                <c:ptCount val="6"/>
                <c:pt idx="0">
                  <c:v>"Jan 2020"</c:v>
                </c:pt>
                <c:pt idx="1">
                  <c:v>"Feb 2020"</c:v>
                </c:pt>
                <c:pt idx="2">
                  <c:v>"Mar 2020"</c:v>
                </c:pt>
                <c:pt idx="3">
                  <c:v>"Apr 2020"</c:v>
                </c:pt>
                <c:pt idx="4">
                  <c:v>"May 2020"</c:v>
                </c:pt>
                <c:pt idx="5">
                  <c:v>"June 2020"</c:v>
                </c:pt>
              </c:strCache>
            </c:strRef>
          </c:cat>
          <c:val>
            <c:numRef>
              <c:f>Sheet1!$H$125:$H$130</c:f>
              <c:numCache>
                <c:formatCode>0.0%</c:formatCode>
                <c:ptCount val="6"/>
                <c:pt idx="0">
                  <c:v>0.1318</c:v>
                </c:pt>
                <c:pt idx="1">
                  <c:v>0.13489999999999999</c:v>
                </c:pt>
                <c:pt idx="2">
                  <c:v>0.1462</c:v>
                </c:pt>
                <c:pt idx="3">
                  <c:v>0.14069999999999999</c:v>
                </c:pt>
                <c:pt idx="4" formatCode="0.00%">
                  <c:v>0.13619999999999999</c:v>
                </c:pt>
                <c:pt idx="5" formatCode="0.00%">
                  <c:v>0.14660000000000001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14-4889-9C28-DB2D7B12A56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29042479"/>
        <c:axId val="426638959"/>
      </c:barChart>
      <c:lineChart>
        <c:grouping val="standard"/>
        <c:varyColors val="0"/>
        <c:ser>
          <c:idx val="2"/>
          <c:order val="2"/>
          <c:tx>
            <c:strRef>
              <c:f>Sheet1!$I$122</c:f>
              <c:strCache>
                <c:ptCount val="1"/>
                <c:pt idx="0">
                  <c:v>Total Number, Half to Nearly Every Day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Sheet1!$F$125:$F$130</c:f>
              <c:strCache>
                <c:ptCount val="6"/>
                <c:pt idx="0">
                  <c:v>"Jan 2020"</c:v>
                </c:pt>
                <c:pt idx="1">
                  <c:v>"Feb 2020"</c:v>
                </c:pt>
                <c:pt idx="2">
                  <c:v>"Mar 2020"</c:v>
                </c:pt>
                <c:pt idx="3">
                  <c:v>"Apr 2020"</c:v>
                </c:pt>
                <c:pt idx="4">
                  <c:v>"May 2020"</c:v>
                </c:pt>
                <c:pt idx="5">
                  <c:v>"June 2020"</c:v>
                </c:pt>
              </c:strCache>
            </c:strRef>
          </c:cat>
          <c:val>
            <c:numRef>
              <c:f>Sheet1!$I$125:$I$130</c:f>
              <c:numCache>
                <c:formatCode>General</c:formatCode>
                <c:ptCount val="6"/>
                <c:pt idx="0">
                  <c:v>4205</c:v>
                </c:pt>
                <c:pt idx="1">
                  <c:v>4537</c:v>
                </c:pt>
                <c:pt idx="2">
                  <c:v>5871</c:v>
                </c:pt>
                <c:pt idx="3">
                  <c:v>7061</c:v>
                </c:pt>
                <c:pt idx="4">
                  <c:v>21165</c:v>
                </c:pt>
                <c:pt idx="5">
                  <c:v>25498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314-4889-9C28-DB2D7B12A5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29159631"/>
        <c:axId val="436167679"/>
      </c:lineChart>
      <c:catAx>
        <c:axId val="429042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6638959"/>
        <c:crosses val="autoZero"/>
        <c:auto val="1"/>
        <c:lblAlgn val="ctr"/>
        <c:lblOffset val="100"/>
        <c:noMultiLvlLbl val="0"/>
      </c:catAx>
      <c:valAx>
        <c:axId val="426638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9042479"/>
        <c:crosses val="autoZero"/>
        <c:crossBetween val="between"/>
      </c:valAx>
      <c:valAx>
        <c:axId val="43616767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9159631"/>
        <c:crosses val="max"/>
        <c:crossBetween val="between"/>
      </c:valAx>
      <c:catAx>
        <c:axId val="42915963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3616767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Depression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"11-17"</c:v>
                </c:pt>
                <c:pt idx="1">
                  <c:v>"18-24"</c:v>
                </c:pt>
                <c:pt idx="2">
                  <c:v>"25-34"</c:v>
                </c:pt>
                <c:pt idx="3">
                  <c:v>"35-44"</c:v>
                </c:pt>
                <c:pt idx="4">
                  <c:v>"45-54"</c:v>
                </c:pt>
                <c:pt idx="5">
                  <c:v>"55-64"</c:v>
                </c:pt>
                <c:pt idx="6">
                  <c:v>"65+"</c:v>
                </c:pt>
              </c:strCache>
            </c:strRef>
          </c:cat>
          <c:val>
            <c:numRef>
              <c:f>Sheet1!$B$2:$B$8</c:f>
              <c:numCache>
                <c:formatCode>0.00%</c:formatCode>
                <c:ptCount val="7"/>
                <c:pt idx="0">
                  <c:v>0.89880000000000004</c:v>
                </c:pt>
                <c:pt idx="1">
                  <c:v>0.8579</c:v>
                </c:pt>
                <c:pt idx="2">
                  <c:v>0.78259999999999996</c:v>
                </c:pt>
                <c:pt idx="3">
                  <c:v>0.73699999999999999</c:v>
                </c:pt>
                <c:pt idx="4">
                  <c:v>0.71140000000000003</c:v>
                </c:pt>
                <c:pt idx="5">
                  <c:v>0.71160000000000001</c:v>
                </c:pt>
                <c:pt idx="6">
                  <c:v>0.64570000000000005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03-488F-9E44-6CA2DAD90B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Anxiety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"11-17"</c:v>
                </c:pt>
                <c:pt idx="1">
                  <c:v>"18-24"</c:v>
                </c:pt>
                <c:pt idx="2">
                  <c:v>"25-34"</c:v>
                </c:pt>
                <c:pt idx="3">
                  <c:v>"35-44"</c:v>
                </c:pt>
                <c:pt idx="4">
                  <c:v>"45-54"</c:v>
                </c:pt>
                <c:pt idx="5">
                  <c:v>"55-64"</c:v>
                </c:pt>
                <c:pt idx="6">
                  <c:v>"65+"</c:v>
                </c:pt>
              </c:strCache>
            </c:strRef>
          </c:cat>
          <c:val>
            <c:numRef>
              <c:f>Sheet1!$C$2:$C$8</c:f>
              <c:numCache>
                <c:formatCode>0.00%</c:formatCode>
                <c:ptCount val="7"/>
                <c:pt idx="0">
                  <c:v>0.81789999999999996</c:v>
                </c:pt>
                <c:pt idx="1">
                  <c:v>0.7913</c:v>
                </c:pt>
                <c:pt idx="2">
                  <c:v>0.75429999999999997</c:v>
                </c:pt>
                <c:pt idx="3">
                  <c:v>0.73180000000000001</c:v>
                </c:pt>
                <c:pt idx="4">
                  <c:v>0.71579999999999999</c:v>
                </c:pt>
                <c:pt idx="5">
                  <c:v>0.60699999999999998</c:v>
                </c:pt>
                <c:pt idx="6">
                  <c:v>0.61260000000000003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03-488F-9E44-6CA2DAD90B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1162928"/>
        <c:axId val="2050980864"/>
      </c:barChart>
      <c:catAx>
        <c:axId val="2051162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0980864"/>
        <c:crosses val="autoZero"/>
        <c:auto val="1"/>
        <c:lblAlgn val="ctr"/>
        <c:lblOffset val="100"/>
        <c:noMultiLvlLbl val="0"/>
      </c:catAx>
      <c:valAx>
        <c:axId val="2050980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1162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Depression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Vet/Active Duty</c:v>
                </c:pt>
                <c:pt idx="1">
                  <c:v>New/Exp Mom</c:v>
                </c:pt>
                <c:pt idx="2">
                  <c:v>Caregiver</c:v>
                </c:pt>
                <c:pt idx="3">
                  <c:v>LGBTQ+</c:v>
                </c:pt>
                <c:pt idx="4">
                  <c:v>Trauma Survivor</c:v>
                </c:pt>
                <c:pt idx="5">
                  <c:v>Student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0.80589999999999995</c:v>
                </c:pt>
                <c:pt idx="1">
                  <c:v>0.81940000000000002</c:v>
                </c:pt>
                <c:pt idx="2">
                  <c:v>0.81730000000000003</c:v>
                </c:pt>
                <c:pt idx="3">
                  <c:v>0.91979999999999995</c:v>
                </c:pt>
                <c:pt idx="4">
                  <c:v>0.90780000000000005</c:v>
                </c:pt>
                <c:pt idx="5">
                  <c:v>0.87050000000000005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2B-4752-9601-E59B055867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Anxiety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Vet/Active Duty</c:v>
                </c:pt>
                <c:pt idx="1">
                  <c:v>New/Exp Mom</c:v>
                </c:pt>
                <c:pt idx="2">
                  <c:v>Caregiver</c:v>
                </c:pt>
                <c:pt idx="3">
                  <c:v>LGBTQ+</c:v>
                </c:pt>
                <c:pt idx="4">
                  <c:v>Trauma Survivor</c:v>
                </c:pt>
                <c:pt idx="5">
                  <c:v>Student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0.73409999999999997</c:v>
                </c:pt>
                <c:pt idx="1">
                  <c:v>0.82340000000000002</c:v>
                </c:pt>
                <c:pt idx="2">
                  <c:v>0.77290000000000003</c:v>
                </c:pt>
                <c:pt idx="3">
                  <c:v>0.84209999999999996</c:v>
                </c:pt>
                <c:pt idx="4">
                  <c:v>0.86860000000000004</c:v>
                </c:pt>
                <c:pt idx="5">
                  <c:v>0.79700000000000004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2B-4752-9601-E59B055867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51167328"/>
        <c:axId val="2050961312"/>
      </c:barChart>
      <c:catAx>
        <c:axId val="20511673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0961312"/>
        <c:crosses val="autoZero"/>
        <c:auto val="1"/>
        <c:lblAlgn val="ctr"/>
        <c:lblOffset val="100"/>
        <c:noMultiLvlLbl val="0"/>
      </c:catAx>
      <c:valAx>
        <c:axId val="20509613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1167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7BE59C-A9D4-4EA5-9221-8B1D5C2C8E77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655A14C-F7C0-4286-B304-CC30012DC7E3}">
      <dgm:prSet custT="1"/>
      <dgm:spPr/>
      <dgm:t>
        <a:bodyPr/>
        <a:lstStyle/>
        <a:p>
          <a:pPr algn="ctr" rtl="0"/>
          <a:r>
            <a:rPr lang="en-US" sz="1800" b="1" baseline="0" dirty="0">
              <a:latin typeface="Candara" panose="020E0502030303020204" pitchFamily="34" charset="0"/>
            </a:rPr>
            <a:t>Depression (PHQ-9</a:t>
          </a:r>
          <a:r>
            <a:rPr lang="en-US" sz="1800" b="0" baseline="0" dirty="0"/>
            <a:t>)</a:t>
          </a:r>
          <a:endParaRPr lang="en-US" sz="1800" dirty="0"/>
        </a:p>
      </dgm:t>
    </dgm:pt>
    <dgm:pt modelId="{99AF0009-C4F7-4BB6-A4B7-C483119D5B5F}" type="parTrans" cxnId="{BFCA7028-68F4-4A60-AB0D-D5ADAA4A268A}">
      <dgm:prSet/>
      <dgm:spPr/>
      <dgm:t>
        <a:bodyPr/>
        <a:lstStyle/>
        <a:p>
          <a:pPr algn="ctr"/>
          <a:endParaRPr lang="en-US" sz="1800"/>
        </a:p>
      </dgm:t>
    </dgm:pt>
    <dgm:pt modelId="{27CA3880-53DC-412F-B701-D7AF924AC508}" type="sibTrans" cxnId="{BFCA7028-68F4-4A60-AB0D-D5ADAA4A268A}">
      <dgm:prSet/>
      <dgm:spPr/>
      <dgm:t>
        <a:bodyPr/>
        <a:lstStyle/>
        <a:p>
          <a:pPr algn="ctr"/>
          <a:endParaRPr lang="en-US" sz="1800"/>
        </a:p>
      </dgm:t>
    </dgm:pt>
    <dgm:pt modelId="{34D872CB-6CC2-4192-B0D2-3AF2877DB75B}">
      <dgm:prSet custT="1"/>
      <dgm:spPr/>
      <dgm:t>
        <a:bodyPr/>
        <a:lstStyle/>
        <a:p>
          <a:pPr algn="ctr" rtl="0"/>
          <a:r>
            <a:rPr lang="en-US" sz="1800" b="1" baseline="0" dirty="0"/>
            <a:t>Anxiety (GAD-7)</a:t>
          </a:r>
          <a:endParaRPr lang="en-US" sz="1800" b="1" dirty="0"/>
        </a:p>
      </dgm:t>
    </dgm:pt>
    <dgm:pt modelId="{8E0699D9-95E9-4D6C-BC04-A43FDE141620}" type="parTrans" cxnId="{8DCE99ED-5568-4D92-BEAF-EB12DA83D21E}">
      <dgm:prSet/>
      <dgm:spPr/>
      <dgm:t>
        <a:bodyPr/>
        <a:lstStyle/>
        <a:p>
          <a:pPr algn="ctr"/>
          <a:endParaRPr lang="en-US" sz="1800"/>
        </a:p>
      </dgm:t>
    </dgm:pt>
    <dgm:pt modelId="{01A7F4A3-04E4-4385-80D1-3FDA545BDBFD}" type="sibTrans" cxnId="{8DCE99ED-5568-4D92-BEAF-EB12DA83D21E}">
      <dgm:prSet/>
      <dgm:spPr/>
      <dgm:t>
        <a:bodyPr/>
        <a:lstStyle/>
        <a:p>
          <a:pPr algn="ctr"/>
          <a:endParaRPr lang="en-US" sz="1800"/>
        </a:p>
      </dgm:t>
    </dgm:pt>
    <dgm:pt modelId="{13748BA2-3611-48D1-B3C0-7AF2F3FB2ABC}">
      <dgm:prSet custT="1"/>
      <dgm:spPr/>
      <dgm:t>
        <a:bodyPr/>
        <a:lstStyle/>
        <a:p>
          <a:pPr algn="ctr" rtl="0"/>
          <a:r>
            <a:rPr lang="en-US" sz="1800" b="1" baseline="0" dirty="0"/>
            <a:t>Bipolar (MDQ)</a:t>
          </a:r>
          <a:endParaRPr lang="en-US" sz="1800" b="1" dirty="0"/>
        </a:p>
      </dgm:t>
    </dgm:pt>
    <dgm:pt modelId="{66895FCB-D669-4FB5-9C97-8E41A58E442C}" type="parTrans" cxnId="{523B34B8-6C74-456D-84FA-39B9B56FB803}">
      <dgm:prSet/>
      <dgm:spPr/>
      <dgm:t>
        <a:bodyPr/>
        <a:lstStyle/>
        <a:p>
          <a:pPr algn="ctr"/>
          <a:endParaRPr lang="en-US" sz="1800"/>
        </a:p>
      </dgm:t>
    </dgm:pt>
    <dgm:pt modelId="{AD46CCD5-45BF-4764-841F-86F5789CA918}" type="sibTrans" cxnId="{523B34B8-6C74-456D-84FA-39B9B56FB803}">
      <dgm:prSet/>
      <dgm:spPr/>
      <dgm:t>
        <a:bodyPr/>
        <a:lstStyle/>
        <a:p>
          <a:pPr algn="ctr"/>
          <a:endParaRPr lang="en-US" sz="1800"/>
        </a:p>
      </dgm:t>
    </dgm:pt>
    <dgm:pt modelId="{59D15C62-9648-45BB-95EE-12454623C729}">
      <dgm:prSet custT="1"/>
      <dgm:spPr/>
      <dgm:t>
        <a:bodyPr/>
        <a:lstStyle/>
        <a:p>
          <a:pPr algn="ctr" rtl="0"/>
          <a:r>
            <a:rPr lang="en-US" sz="1800" b="1" baseline="0" dirty="0"/>
            <a:t>PTSD (PC-PTSD)</a:t>
          </a:r>
          <a:endParaRPr lang="en-US" sz="1800" b="1" dirty="0"/>
        </a:p>
      </dgm:t>
    </dgm:pt>
    <dgm:pt modelId="{9D8E9678-0BDE-49C3-B2BC-3151241142D9}" type="parTrans" cxnId="{17D5952C-DA14-4E36-A6C4-79EE2C14A200}">
      <dgm:prSet/>
      <dgm:spPr/>
      <dgm:t>
        <a:bodyPr/>
        <a:lstStyle/>
        <a:p>
          <a:pPr algn="ctr"/>
          <a:endParaRPr lang="en-US" sz="1800"/>
        </a:p>
      </dgm:t>
    </dgm:pt>
    <dgm:pt modelId="{E07C1965-546D-4BE0-9C44-59465EECDF6D}" type="sibTrans" cxnId="{17D5952C-DA14-4E36-A6C4-79EE2C14A200}">
      <dgm:prSet/>
      <dgm:spPr/>
      <dgm:t>
        <a:bodyPr/>
        <a:lstStyle/>
        <a:p>
          <a:pPr algn="ctr"/>
          <a:endParaRPr lang="en-US" sz="1800"/>
        </a:p>
      </dgm:t>
    </dgm:pt>
    <dgm:pt modelId="{3AC9BE09-73BD-4201-87FF-596B9C57DF77}">
      <dgm:prSet custT="1"/>
      <dgm:spPr/>
      <dgm:t>
        <a:bodyPr/>
        <a:lstStyle/>
        <a:p>
          <a:pPr algn="ctr" rtl="0"/>
          <a:r>
            <a:rPr lang="en-US" sz="1800" b="1" baseline="0" dirty="0"/>
            <a:t>Youth Screen (PSC-YR)</a:t>
          </a:r>
          <a:endParaRPr lang="en-US" sz="1800" b="1" dirty="0"/>
        </a:p>
      </dgm:t>
    </dgm:pt>
    <dgm:pt modelId="{7A4DEAC1-5E76-4EC8-A5BB-50417B76305F}" type="parTrans" cxnId="{294AEFF7-5375-4B65-B139-C2A0AD2E87BE}">
      <dgm:prSet/>
      <dgm:spPr/>
      <dgm:t>
        <a:bodyPr/>
        <a:lstStyle/>
        <a:p>
          <a:pPr algn="ctr"/>
          <a:endParaRPr lang="en-US" sz="1800"/>
        </a:p>
      </dgm:t>
    </dgm:pt>
    <dgm:pt modelId="{323A3386-68F7-4791-8D24-D5D80E2C68DD}" type="sibTrans" cxnId="{294AEFF7-5375-4B65-B139-C2A0AD2E87BE}">
      <dgm:prSet/>
      <dgm:spPr/>
      <dgm:t>
        <a:bodyPr/>
        <a:lstStyle/>
        <a:p>
          <a:pPr algn="ctr"/>
          <a:endParaRPr lang="en-US" sz="1800"/>
        </a:p>
      </dgm:t>
    </dgm:pt>
    <dgm:pt modelId="{18258325-8383-4FC1-9D76-6BD9DE1E7EBB}">
      <dgm:prSet custT="1"/>
      <dgm:spPr/>
      <dgm:t>
        <a:bodyPr/>
        <a:lstStyle/>
        <a:p>
          <a:pPr algn="ctr" rtl="0"/>
          <a:r>
            <a:rPr lang="en-US" sz="1800" b="1" baseline="0" dirty="0"/>
            <a:t>Parent Screen (PSC)</a:t>
          </a:r>
          <a:endParaRPr lang="en-US" sz="1800" b="1" dirty="0"/>
        </a:p>
      </dgm:t>
    </dgm:pt>
    <dgm:pt modelId="{859054F7-BC40-4EAD-8912-BF6CA53452DE}" type="parTrans" cxnId="{9F7B8FA0-B830-4FA7-9799-140E055783A7}">
      <dgm:prSet/>
      <dgm:spPr/>
      <dgm:t>
        <a:bodyPr/>
        <a:lstStyle/>
        <a:p>
          <a:pPr algn="ctr"/>
          <a:endParaRPr lang="en-US" sz="1800"/>
        </a:p>
      </dgm:t>
    </dgm:pt>
    <dgm:pt modelId="{AC4CDE18-1871-408D-A950-FC18E3CDDD23}" type="sibTrans" cxnId="{9F7B8FA0-B830-4FA7-9799-140E055783A7}">
      <dgm:prSet/>
      <dgm:spPr/>
      <dgm:t>
        <a:bodyPr/>
        <a:lstStyle/>
        <a:p>
          <a:pPr algn="ctr"/>
          <a:endParaRPr lang="en-US" sz="1800"/>
        </a:p>
      </dgm:t>
    </dgm:pt>
    <dgm:pt modelId="{F1A8A2F2-75D0-4F4D-859E-6C30F5E06A2D}">
      <dgm:prSet custT="1"/>
      <dgm:spPr/>
      <dgm:t>
        <a:bodyPr/>
        <a:lstStyle/>
        <a:p>
          <a:pPr algn="ctr" rtl="0"/>
          <a:r>
            <a:rPr lang="en-US" sz="1800" b="1" baseline="0" dirty="0"/>
            <a:t>Alcohol and Substance Use Screen (CAGE-AID)</a:t>
          </a:r>
          <a:endParaRPr lang="en-US" sz="1800" b="1" dirty="0"/>
        </a:p>
      </dgm:t>
    </dgm:pt>
    <dgm:pt modelId="{EF8584CB-1FFC-4592-8DC0-EBBC7FBE1B5C}" type="parTrans" cxnId="{311F1DEF-189A-43AA-AA69-2871726E9EC1}">
      <dgm:prSet/>
      <dgm:spPr/>
      <dgm:t>
        <a:bodyPr/>
        <a:lstStyle/>
        <a:p>
          <a:pPr algn="ctr"/>
          <a:endParaRPr lang="en-US" sz="1800"/>
        </a:p>
      </dgm:t>
    </dgm:pt>
    <dgm:pt modelId="{EB946F51-49A9-4924-B177-6EEE3467D881}" type="sibTrans" cxnId="{311F1DEF-189A-43AA-AA69-2871726E9EC1}">
      <dgm:prSet/>
      <dgm:spPr/>
      <dgm:t>
        <a:bodyPr/>
        <a:lstStyle/>
        <a:p>
          <a:pPr algn="ctr"/>
          <a:endParaRPr lang="en-US" sz="1800"/>
        </a:p>
      </dgm:t>
    </dgm:pt>
    <dgm:pt modelId="{F3C61DF5-BEDE-4042-9ACE-6312A3D07F62}">
      <dgm:prSet custT="1"/>
      <dgm:spPr/>
      <dgm:t>
        <a:bodyPr/>
        <a:lstStyle/>
        <a:p>
          <a:pPr algn="ctr" rtl="0"/>
          <a:r>
            <a:rPr lang="en-US" sz="1800" b="1" baseline="0" dirty="0"/>
            <a:t>Psychosis Screen (Ultra-High Risk) (PQ-B)</a:t>
          </a:r>
          <a:endParaRPr lang="en-US" sz="1800" b="1" dirty="0"/>
        </a:p>
      </dgm:t>
    </dgm:pt>
    <dgm:pt modelId="{D88CBC84-6259-44C6-B10C-DD49B5F632FA}" type="parTrans" cxnId="{B6036694-555E-43A9-9EA5-45BAA63A32EA}">
      <dgm:prSet/>
      <dgm:spPr/>
      <dgm:t>
        <a:bodyPr/>
        <a:lstStyle/>
        <a:p>
          <a:pPr algn="ctr"/>
          <a:endParaRPr lang="en-US" sz="1800"/>
        </a:p>
      </dgm:t>
    </dgm:pt>
    <dgm:pt modelId="{CF2FE9C1-DAAA-4557-A7B1-26C326D40C85}" type="sibTrans" cxnId="{B6036694-555E-43A9-9EA5-45BAA63A32EA}">
      <dgm:prSet/>
      <dgm:spPr/>
      <dgm:t>
        <a:bodyPr/>
        <a:lstStyle/>
        <a:p>
          <a:pPr algn="ctr"/>
          <a:endParaRPr lang="en-US" sz="1800"/>
        </a:p>
      </dgm:t>
    </dgm:pt>
    <dgm:pt modelId="{E0E722D7-C99A-4FA4-8FAC-AD71E06C3F0A}">
      <dgm:prSet custT="1"/>
      <dgm:spPr/>
      <dgm:t>
        <a:bodyPr/>
        <a:lstStyle/>
        <a:p>
          <a:pPr algn="ctr" rtl="0"/>
          <a:r>
            <a:rPr lang="en-US" sz="1800" b="1" dirty="0"/>
            <a:t>Eating Disorders </a:t>
          </a:r>
        </a:p>
      </dgm:t>
    </dgm:pt>
    <dgm:pt modelId="{8B300EA9-41D7-4D62-95AD-EE074AF98590}" type="parTrans" cxnId="{675E7F9D-F03B-4937-9B35-28E295E59501}">
      <dgm:prSet/>
      <dgm:spPr/>
      <dgm:t>
        <a:bodyPr/>
        <a:lstStyle/>
        <a:p>
          <a:pPr algn="ctr"/>
          <a:endParaRPr lang="en-US" sz="1800"/>
        </a:p>
      </dgm:t>
    </dgm:pt>
    <dgm:pt modelId="{8F7A1891-E33F-47A9-888E-FC78EE058574}" type="sibTrans" cxnId="{675E7F9D-F03B-4937-9B35-28E295E59501}">
      <dgm:prSet/>
      <dgm:spPr/>
      <dgm:t>
        <a:bodyPr/>
        <a:lstStyle/>
        <a:p>
          <a:pPr algn="ctr"/>
          <a:endParaRPr lang="en-US" sz="1800"/>
        </a:p>
      </dgm:t>
    </dgm:pt>
    <dgm:pt modelId="{E5C152C5-9A04-4B77-9998-669C5FBB9F68}" type="pres">
      <dgm:prSet presAssocID="{817BE59C-A9D4-4EA5-9221-8B1D5C2C8E77}" presName="diagram" presStyleCnt="0">
        <dgm:presLayoutVars>
          <dgm:dir/>
          <dgm:resizeHandles val="exact"/>
        </dgm:presLayoutVars>
      </dgm:prSet>
      <dgm:spPr/>
    </dgm:pt>
    <dgm:pt modelId="{26B30921-14C2-420A-827D-F34FBA09B0C4}" type="pres">
      <dgm:prSet presAssocID="{D655A14C-F7C0-4286-B304-CC30012DC7E3}" presName="node" presStyleLbl="node1" presStyleIdx="0" presStyleCnt="9">
        <dgm:presLayoutVars>
          <dgm:bulletEnabled val="1"/>
        </dgm:presLayoutVars>
      </dgm:prSet>
      <dgm:spPr/>
    </dgm:pt>
    <dgm:pt modelId="{0EED0F82-91ED-40B1-9942-1A0863091145}" type="pres">
      <dgm:prSet presAssocID="{27CA3880-53DC-412F-B701-D7AF924AC508}" presName="sibTrans" presStyleCnt="0"/>
      <dgm:spPr/>
    </dgm:pt>
    <dgm:pt modelId="{019930D7-33A2-4205-A565-FA9CD19E9772}" type="pres">
      <dgm:prSet presAssocID="{34D872CB-6CC2-4192-B0D2-3AF2877DB75B}" presName="node" presStyleLbl="node1" presStyleIdx="1" presStyleCnt="9" custLinFactNeighborX="-24" custLinFactNeighborY="-79">
        <dgm:presLayoutVars>
          <dgm:bulletEnabled val="1"/>
        </dgm:presLayoutVars>
      </dgm:prSet>
      <dgm:spPr/>
    </dgm:pt>
    <dgm:pt modelId="{1EFCCEFA-A1BB-445E-A55D-EEF034BD08C3}" type="pres">
      <dgm:prSet presAssocID="{01A7F4A3-04E4-4385-80D1-3FDA545BDBFD}" presName="sibTrans" presStyleCnt="0"/>
      <dgm:spPr/>
    </dgm:pt>
    <dgm:pt modelId="{48FB46AF-381D-4111-A1EA-F0A4CAB6BE39}" type="pres">
      <dgm:prSet presAssocID="{13748BA2-3611-48D1-B3C0-7AF2F3FB2ABC}" presName="node" presStyleLbl="node1" presStyleIdx="2" presStyleCnt="9">
        <dgm:presLayoutVars>
          <dgm:bulletEnabled val="1"/>
        </dgm:presLayoutVars>
      </dgm:prSet>
      <dgm:spPr/>
    </dgm:pt>
    <dgm:pt modelId="{FD0211E7-B116-4F6C-8ACF-7BE5AB3C81B8}" type="pres">
      <dgm:prSet presAssocID="{AD46CCD5-45BF-4764-841F-86F5789CA918}" presName="sibTrans" presStyleCnt="0"/>
      <dgm:spPr/>
    </dgm:pt>
    <dgm:pt modelId="{5C2CEB8E-47A1-4799-A2BB-B872FE2C6B45}" type="pres">
      <dgm:prSet presAssocID="{59D15C62-9648-45BB-95EE-12454623C729}" presName="node" presStyleLbl="node1" presStyleIdx="3" presStyleCnt="9">
        <dgm:presLayoutVars>
          <dgm:bulletEnabled val="1"/>
        </dgm:presLayoutVars>
      </dgm:prSet>
      <dgm:spPr/>
    </dgm:pt>
    <dgm:pt modelId="{82359379-61F6-44ED-ADC6-2C98A886AA75}" type="pres">
      <dgm:prSet presAssocID="{E07C1965-546D-4BE0-9C44-59465EECDF6D}" presName="sibTrans" presStyleCnt="0"/>
      <dgm:spPr/>
    </dgm:pt>
    <dgm:pt modelId="{2EB4107F-DEBE-4DE9-B420-5BFB2E487EBD}" type="pres">
      <dgm:prSet presAssocID="{3AC9BE09-73BD-4201-87FF-596B9C57DF77}" presName="node" presStyleLbl="node1" presStyleIdx="4" presStyleCnt="9">
        <dgm:presLayoutVars>
          <dgm:bulletEnabled val="1"/>
        </dgm:presLayoutVars>
      </dgm:prSet>
      <dgm:spPr/>
    </dgm:pt>
    <dgm:pt modelId="{F7DB7B3E-4F64-4456-9ADC-9D7A75DF35EC}" type="pres">
      <dgm:prSet presAssocID="{323A3386-68F7-4791-8D24-D5D80E2C68DD}" presName="sibTrans" presStyleCnt="0"/>
      <dgm:spPr/>
    </dgm:pt>
    <dgm:pt modelId="{3A9EDC5B-B399-49A8-8E5C-B19AB2989736}" type="pres">
      <dgm:prSet presAssocID="{18258325-8383-4FC1-9D76-6BD9DE1E7EBB}" presName="node" presStyleLbl="node1" presStyleIdx="5" presStyleCnt="9">
        <dgm:presLayoutVars>
          <dgm:bulletEnabled val="1"/>
        </dgm:presLayoutVars>
      </dgm:prSet>
      <dgm:spPr/>
    </dgm:pt>
    <dgm:pt modelId="{C51656E0-24D6-41A9-AE32-DB1DD7F6BD34}" type="pres">
      <dgm:prSet presAssocID="{AC4CDE18-1871-408D-A950-FC18E3CDDD23}" presName="sibTrans" presStyleCnt="0"/>
      <dgm:spPr/>
    </dgm:pt>
    <dgm:pt modelId="{91B98246-A510-4162-8E39-1CA21F9A4EE6}" type="pres">
      <dgm:prSet presAssocID="{F1A8A2F2-75D0-4F4D-859E-6C30F5E06A2D}" presName="node" presStyleLbl="node1" presStyleIdx="6" presStyleCnt="9">
        <dgm:presLayoutVars>
          <dgm:bulletEnabled val="1"/>
        </dgm:presLayoutVars>
      </dgm:prSet>
      <dgm:spPr/>
    </dgm:pt>
    <dgm:pt modelId="{01D47C8E-DE04-4679-A32A-0A6898ECF097}" type="pres">
      <dgm:prSet presAssocID="{EB946F51-49A9-4924-B177-6EEE3467D881}" presName="sibTrans" presStyleCnt="0"/>
      <dgm:spPr/>
    </dgm:pt>
    <dgm:pt modelId="{7BF65ADB-6686-4AB4-B8F5-12EE755ED207}" type="pres">
      <dgm:prSet presAssocID="{F3C61DF5-BEDE-4042-9ACE-6312A3D07F62}" presName="node" presStyleLbl="node1" presStyleIdx="7" presStyleCnt="9">
        <dgm:presLayoutVars>
          <dgm:bulletEnabled val="1"/>
        </dgm:presLayoutVars>
      </dgm:prSet>
      <dgm:spPr/>
    </dgm:pt>
    <dgm:pt modelId="{D3F06864-5AD7-4229-A9D7-B3AD5A75FB3F}" type="pres">
      <dgm:prSet presAssocID="{CF2FE9C1-DAAA-4557-A7B1-26C326D40C85}" presName="sibTrans" presStyleCnt="0"/>
      <dgm:spPr/>
    </dgm:pt>
    <dgm:pt modelId="{14CD3BB6-C1A5-4B2C-8340-17B894D393DA}" type="pres">
      <dgm:prSet presAssocID="{E0E722D7-C99A-4FA4-8FAC-AD71E06C3F0A}" presName="node" presStyleLbl="node1" presStyleIdx="8" presStyleCnt="9">
        <dgm:presLayoutVars>
          <dgm:bulletEnabled val="1"/>
        </dgm:presLayoutVars>
      </dgm:prSet>
      <dgm:spPr/>
    </dgm:pt>
  </dgm:ptLst>
  <dgm:cxnLst>
    <dgm:cxn modelId="{9DF86F09-071F-420F-A9AD-4EDAB3AFC310}" type="presOf" srcId="{18258325-8383-4FC1-9D76-6BD9DE1E7EBB}" destId="{3A9EDC5B-B399-49A8-8E5C-B19AB2989736}" srcOrd="0" destOrd="0" presId="urn:microsoft.com/office/officeart/2005/8/layout/default"/>
    <dgm:cxn modelId="{E4A4C60D-3F42-4D57-A282-5BFE4C6F6A22}" type="presOf" srcId="{E0E722D7-C99A-4FA4-8FAC-AD71E06C3F0A}" destId="{14CD3BB6-C1A5-4B2C-8340-17B894D393DA}" srcOrd="0" destOrd="0" presId="urn:microsoft.com/office/officeart/2005/8/layout/default"/>
    <dgm:cxn modelId="{1EE4690E-662F-450A-83F4-3610E8BE55C5}" type="presOf" srcId="{13748BA2-3611-48D1-B3C0-7AF2F3FB2ABC}" destId="{48FB46AF-381D-4111-A1EA-F0A4CAB6BE39}" srcOrd="0" destOrd="0" presId="urn:microsoft.com/office/officeart/2005/8/layout/default"/>
    <dgm:cxn modelId="{3F33D11A-CB73-4284-A20C-DCF70AE7BD1C}" type="presOf" srcId="{59D15C62-9648-45BB-95EE-12454623C729}" destId="{5C2CEB8E-47A1-4799-A2BB-B872FE2C6B45}" srcOrd="0" destOrd="0" presId="urn:microsoft.com/office/officeart/2005/8/layout/default"/>
    <dgm:cxn modelId="{BFCA7028-68F4-4A60-AB0D-D5ADAA4A268A}" srcId="{817BE59C-A9D4-4EA5-9221-8B1D5C2C8E77}" destId="{D655A14C-F7C0-4286-B304-CC30012DC7E3}" srcOrd="0" destOrd="0" parTransId="{99AF0009-C4F7-4BB6-A4B7-C483119D5B5F}" sibTransId="{27CA3880-53DC-412F-B701-D7AF924AC508}"/>
    <dgm:cxn modelId="{17D5952C-DA14-4E36-A6C4-79EE2C14A200}" srcId="{817BE59C-A9D4-4EA5-9221-8B1D5C2C8E77}" destId="{59D15C62-9648-45BB-95EE-12454623C729}" srcOrd="3" destOrd="0" parTransId="{9D8E9678-0BDE-49C3-B2BC-3151241142D9}" sibTransId="{E07C1965-546D-4BE0-9C44-59465EECDF6D}"/>
    <dgm:cxn modelId="{3D18F84B-27F8-46DD-80E1-934AE20EFED4}" type="presOf" srcId="{817BE59C-A9D4-4EA5-9221-8B1D5C2C8E77}" destId="{E5C152C5-9A04-4B77-9998-669C5FBB9F68}" srcOrd="0" destOrd="0" presId="urn:microsoft.com/office/officeart/2005/8/layout/default"/>
    <dgm:cxn modelId="{B6036694-555E-43A9-9EA5-45BAA63A32EA}" srcId="{817BE59C-A9D4-4EA5-9221-8B1D5C2C8E77}" destId="{F3C61DF5-BEDE-4042-9ACE-6312A3D07F62}" srcOrd="7" destOrd="0" parTransId="{D88CBC84-6259-44C6-B10C-DD49B5F632FA}" sibTransId="{CF2FE9C1-DAAA-4557-A7B1-26C326D40C85}"/>
    <dgm:cxn modelId="{675E7F9D-F03B-4937-9B35-28E295E59501}" srcId="{817BE59C-A9D4-4EA5-9221-8B1D5C2C8E77}" destId="{E0E722D7-C99A-4FA4-8FAC-AD71E06C3F0A}" srcOrd="8" destOrd="0" parTransId="{8B300EA9-41D7-4D62-95AD-EE074AF98590}" sibTransId="{8F7A1891-E33F-47A9-888E-FC78EE058574}"/>
    <dgm:cxn modelId="{9F7B8FA0-B830-4FA7-9799-140E055783A7}" srcId="{817BE59C-A9D4-4EA5-9221-8B1D5C2C8E77}" destId="{18258325-8383-4FC1-9D76-6BD9DE1E7EBB}" srcOrd="5" destOrd="0" parTransId="{859054F7-BC40-4EAD-8912-BF6CA53452DE}" sibTransId="{AC4CDE18-1871-408D-A950-FC18E3CDDD23}"/>
    <dgm:cxn modelId="{B0317FA9-A073-45E1-BA70-BBFB60D48752}" type="presOf" srcId="{34D872CB-6CC2-4192-B0D2-3AF2877DB75B}" destId="{019930D7-33A2-4205-A565-FA9CD19E9772}" srcOrd="0" destOrd="0" presId="urn:microsoft.com/office/officeart/2005/8/layout/default"/>
    <dgm:cxn modelId="{523B34B8-6C74-456D-84FA-39B9B56FB803}" srcId="{817BE59C-A9D4-4EA5-9221-8B1D5C2C8E77}" destId="{13748BA2-3611-48D1-B3C0-7AF2F3FB2ABC}" srcOrd="2" destOrd="0" parTransId="{66895FCB-D669-4FB5-9C97-8E41A58E442C}" sibTransId="{AD46CCD5-45BF-4764-841F-86F5789CA918}"/>
    <dgm:cxn modelId="{9A9E06D4-1934-4EC5-B14C-4A12C1BE476E}" type="presOf" srcId="{F3C61DF5-BEDE-4042-9ACE-6312A3D07F62}" destId="{7BF65ADB-6686-4AB4-B8F5-12EE755ED207}" srcOrd="0" destOrd="0" presId="urn:microsoft.com/office/officeart/2005/8/layout/default"/>
    <dgm:cxn modelId="{2D4CB4D7-F377-4895-BA51-0941E120DE74}" type="presOf" srcId="{D655A14C-F7C0-4286-B304-CC30012DC7E3}" destId="{26B30921-14C2-420A-827D-F34FBA09B0C4}" srcOrd="0" destOrd="0" presId="urn:microsoft.com/office/officeart/2005/8/layout/default"/>
    <dgm:cxn modelId="{72A6FBDB-69C7-4113-A119-C13FFB9710E8}" type="presOf" srcId="{3AC9BE09-73BD-4201-87FF-596B9C57DF77}" destId="{2EB4107F-DEBE-4DE9-B420-5BFB2E487EBD}" srcOrd="0" destOrd="0" presId="urn:microsoft.com/office/officeart/2005/8/layout/default"/>
    <dgm:cxn modelId="{8DCE99ED-5568-4D92-BEAF-EB12DA83D21E}" srcId="{817BE59C-A9D4-4EA5-9221-8B1D5C2C8E77}" destId="{34D872CB-6CC2-4192-B0D2-3AF2877DB75B}" srcOrd="1" destOrd="0" parTransId="{8E0699D9-95E9-4D6C-BC04-A43FDE141620}" sibTransId="{01A7F4A3-04E4-4385-80D1-3FDA545BDBFD}"/>
    <dgm:cxn modelId="{CC3A16EE-B8CE-4B6C-8E19-72768F8EB7CE}" type="presOf" srcId="{F1A8A2F2-75D0-4F4D-859E-6C30F5E06A2D}" destId="{91B98246-A510-4162-8E39-1CA21F9A4EE6}" srcOrd="0" destOrd="0" presId="urn:microsoft.com/office/officeart/2005/8/layout/default"/>
    <dgm:cxn modelId="{311F1DEF-189A-43AA-AA69-2871726E9EC1}" srcId="{817BE59C-A9D4-4EA5-9221-8B1D5C2C8E77}" destId="{F1A8A2F2-75D0-4F4D-859E-6C30F5E06A2D}" srcOrd="6" destOrd="0" parTransId="{EF8584CB-1FFC-4592-8DC0-EBBC7FBE1B5C}" sibTransId="{EB946F51-49A9-4924-B177-6EEE3467D881}"/>
    <dgm:cxn modelId="{294AEFF7-5375-4B65-B139-C2A0AD2E87BE}" srcId="{817BE59C-A9D4-4EA5-9221-8B1D5C2C8E77}" destId="{3AC9BE09-73BD-4201-87FF-596B9C57DF77}" srcOrd="4" destOrd="0" parTransId="{7A4DEAC1-5E76-4EC8-A5BB-50417B76305F}" sibTransId="{323A3386-68F7-4791-8D24-D5D80E2C68DD}"/>
    <dgm:cxn modelId="{2EBFF66C-949B-4D87-8DD2-0292B6AFED78}" type="presParOf" srcId="{E5C152C5-9A04-4B77-9998-669C5FBB9F68}" destId="{26B30921-14C2-420A-827D-F34FBA09B0C4}" srcOrd="0" destOrd="0" presId="urn:microsoft.com/office/officeart/2005/8/layout/default"/>
    <dgm:cxn modelId="{F520B592-CF29-4A2C-8FDC-D77CCFDC3B6E}" type="presParOf" srcId="{E5C152C5-9A04-4B77-9998-669C5FBB9F68}" destId="{0EED0F82-91ED-40B1-9942-1A0863091145}" srcOrd="1" destOrd="0" presId="urn:microsoft.com/office/officeart/2005/8/layout/default"/>
    <dgm:cxn modelId="{4DD34763-715D-4D78-8D46-5422B541D210}" type="presParOf" srcId="{E5C152C5-9A04-4B77-9998-669C5FBB9F68}" destId="{019930D7-33A2-4205-A565-FA9CD19E9772}" srcOrd="2" destOrd="0" presId="urn:microsoft.com/office/officeart/2005/8/layout/default"/>
    <dgm:cxn modelId="{5FA22CD2-3A3A-433A-9A96-4A2BC78EA3E6}" type="presParOf" srcId="{E5C152C5-9A04-4B77-9998-669C5FBB9F68}" destId="{1EFCCEFA-A1BB-445E-A55D-EEF034BD08C3}" srcOrd="3" destOrd="0" presId="urn:microsoft.com/office/officeart/2005/8/layout/default"/>
    <dgm:cxn modelId="{3B7C2171-9EDD-4FF4-964C-204D1B774067}" type="presParOf" srcId="{E5C152C5-9A04-4B77-9998-669C5FBB9F68}" destId="{48FB46AF-381D-4111-A1EA-F0A4CAB6BE39}" srcOrd="4" destOrd="0" presId="urn:microsoft.com/office/officeart/2005/8/layout/default"/>
    <dgm:cxn modelId="{70E1F7C9-A237-4520-AC9B-A0E4FA3A6D64}" type="presParOf" srcId="{E5C152C5-9A04-4B77-9998-669C5FBB9F68}" destId="{FD0211E7-B116-4F6C-8ACF-7BE5AB3C81B8}" srcOrd="5" destOrd="0" presId="urn:microsoft.com/office/officeart/2005/8/layout/default"/>
    <dgm:cxn modelId="{B13A56BB-3F6D-4074-874F-5CAD6F7A348A}" type="presParOf" srcId="{E5C152C5-9A04-4B77-9998-669C5FBB9F68}" destId="{5C2CEB8E-47A1-4799-A2BB-B872FE2C6B45}" srcOrd="6" destOrd="0" presId="urn:microsoft.com/office/officeart/2005/8/layout/default"/>
    <dgm:cxn modelId="{C72C8D4A-E24C-44F1-B73A-A2010C7AFDE4}" type="presParOf" srcId="{E5C152C5-9A04-4B77-9998-669C5FBB9F68}" destId="{82359379-61F6-44ED-ADC6-2C98A886AA75}" srcOrd="7" destOrd="0" presId="urn:microsoft.com/office/officeart/2005/8/layout/default"/>
    <dgm:cxn modelId="{A4633B30-39F2-4F8B-B4E7-DBD2BF8F1325}" type="presParOf" srcId="{E5C152C5-9A04-4B77-9998-669C5FBB9F68}" destId="{2EB4107F-DEBE-4DE9-B420-5BFB2E487EBD}" srcOrd="8" destOrd="0" presId="urn:microsoft.com/office/officeart/2005/8/layout/default"/>
    <dgm:cxn modelId="{F9315691-3829-4AC7-BC24-798CBE9CD40C}" type="presParOf" srcId="{E5C152C5-9A04-4B77-9998-669C5FBB9F68}" destId="{F7DB7B3E-4F64-4456-9ADC-9D7A75DF35EC}" srcOrd="9" destOrd="0" presId="urn:microsoft.com/office/officeart/2005/8/layout/default"/>
    <dgm:cxn modelId="{42808486-CAA4-4A35-857D-7CC906A71002}" type="presParOf" srcId="{E5C152C5-9A04-4B77-9998-669C5FBB9F68}" destId="{3A9EDC5B-B399-49A8-8E5C-B19AB2989736}" srcOrd="10" destOrd="0" presId="urn:microsoft.com/office/officeart/2005/8/layout/default"/>
    <dgm:cxn modelId="{33408961-EFEB-4076-A544-154B340C5BCA}" type="presParOf" srcId="{E5C152C5-9A04-4B77-9998-669C5FBB9F68}" destId="{C51656E0-24D6-41A9-AE32-DB1DD7F6BD34}" srcOrd="11" destOrd="0" presId="urn:microsoft.com/office/officeart/2005/8/layout/default"/>
    <dgm:cxn modelId="{50DB2D16-2602-441C-B4B2-8E56A0218A32}" type="presParOf" srcId="{E5C152C5-9A04-4B77-9998-669C5FBB9F68}" destId="{91B98246-A510-4162-8E39-1CA21F9A4EE6}" srcOrd="12" destOrd="0" presId="urn:microsoft.com/office/officeart/2005/8/layout/default"/>
    <dgm:cxn modelId="{912C41A4-6F32-4C9A-951D-EB716BCD1054}" type="presParOf" srcId="{E5C152C5-9A04-4B77-9998-669C5FBB9F68}" destId="{01D47C8E-DE04-4679-A32A-0A6898ECF097}" srcOrd="13" destOrd="0" presId="urn:microsoft.com/office/officeart/2005/8/layout/default"/>
    <dgm:cxn modelId="{98EE10E2-EFA0-47D2-ACA2-D2F08C4EFB07}" type="presParOf" srcId="{E5C152C5-9A04-4B77-9998-669C5FBB9F68}" destId="{7BF65ADB-6686-4AB4-B8F5-12EE755ED207}" srcOrd="14" destOrd="0" presId="urn:microsoft.com/office/officeart/2005/8/layout/default"/>
    <dgm:cxn modelId="{44C78DD2-5F54-4488-B168-5E20C7BA3E6F}" type="presParOf" srcId="{E5C152C5-9A04-4B77-9998-669C5FBB9F68}" destId="{D3F06864-5AD7-4229-A9D7-B3AD5A75FB3F}" srcOrd="15" destOrd="0" presId="urn:microsoft.com/office/officeart/2005/8/layout/default"/>
    <dgm:cxn modelId="{4ED4F62F-754B-4360-A3DD-3154DBF8AAC6}" type="presParOf" srcId="{E5C152C5-9A04-4B77-9998-669C5FBB9F68}" destId="{14CD3BB6-C1A5-4B2C-8340-17B894D393DA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B30921-14C2-420A-827D-F34FBA09B0C4}">
      <dsp:nvSpPr>
        <dsp:cNvPr id="0" name=""/>
        <dsp:cNvSpPr/>
      </dsp:nvSpPr>
      <dsp:spPr>
        <a:xfrm>
          <a:off x="352186" y="1041"/>
          <a:ext cx="2208758" cy="132525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baseline="0" dirty="0">
              <a:latin typeface="Candara" panose="020E0502030303020204" pitchFamily="34" charset="0"/>
            </a:rPr>
            <a:t>Depression (PHQ-9</a:t>
          </a:r>
          <a:r>
            <a:rPr lang="en-US" sz="1800" b="0" kern="1200" baseline="0" dirty="0"/>
            <a:t>)</a:t>
          </a:r>
          <a:endParaRPr lang="en-US" sz="1800" kern="1200" dirty="0"/>
        </a:p>
      </dsp:txBody>
      <dsp:txXfrm>
        <a:off x="352186" y="1041"/>
        <a:ext cx="2208758" cy="1325254"/>
      </dsp:txXfrm>
    </dsp:sp>
    <dsp:sp modelId="{019930D7-33A2-4205-A565-FA9CD19E9772}">
      <dsp:nvSpPr>
        <dsp:cNvPr id="0" name=""/>
        <dsp:cNvSpPr/>
      </dsp:nvSpPr>
      <dsp:spPr>
        <a:xfrm>
          <a:off x="2781290" y="0"/>
          <a:ext cx="2208758" cy="1325254"/>
        </a:xfrm>
        <a:prstGeom prst="rect">
          <a:avLst/>
        </a:prstGeom>
        <a:solidFill>
          <a:schemeClr val="accent2">
            <a:hueOff val="1045582"/>
            <a:satOff val="-5441"/>
            <a:lumOff val="9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baseline="0" dirty="0"/>
            <a:t>Anxiety (GAD-7)</a:t>
          </a:r>
          <a:endParaRPr lang="en-US" sz="1800" b="1" kern="1200" dirty="0"/>
        </a:p>
      </dsp:txBody>
      <dsp:txXfrm>
        <a:off x="2781290" y="0"/>
        <a:ext cx="2208758" cy="1325254"/>
      </dsp:txXfrm>
    </dsp:sp>
    <dsp:sp modelId="{48FB46AF-381D-4111-A1EA-F0A4CAB6BE39}">
      <dsp:nvSpPr>
        <dsp:cNvPr id="0" name=""/>
        <dsp:cNvSpPr/>
      </dsp:nvSpPr>
      <dsp:spPr>
        <a:xfrm>
          <a:off x="5211454" y="1041"/>
          <a:ext cx="2208758" cy="1325254"/>
        </a:xfrm>
        <a:prstGeom prst="rect">
          <a:avLst/>
        </a:prstGeom>
        <a:solidFill>
          <a:schemeClr val="accent2">
            <a:hueOff val="2091164"/>
            <a:satOff val="-10882"/>
            <a:lumOff val="181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baseline="0" dirty="0"/>
            <a:t>Bipolar (MDQ)</a:t>
          </a:r>
          <a:endParaRPr lang="en-US" sz="1800" b="1" kern="1200" dirty="0"/>
        </a:p>
      </dsp:txBody>
      <dsp:txXfrm>
        <a:off x="5211454" y="1041"/>
        <a:ext cx="2208758" cy="1325254"/>
      </dsp:txXfrm>
    </dsp:sp>
    <dsp:sp modelId="{5C2CEB8E-47A1-4799-A2BB-B872FE2C6B45}">
      <dsp:nvSpPr>
        <dsp:cNvPr id="0" name=""/>
        <dsp:cNvSpPr/>
      </dsp:nvSpPr>
      <dsp:spPr>
        <a:xfrm>
          <a:off x="352186" y="1547172"/>
          <a:ext cx="2208758" cy="1325254"/>
        </a:xfrm>
        <a:prstGeom prst="rect">
          <a:avLst/>
        </a:prstGeom>
        <a:solidFill>
          <a:schemeClr val="accent2">
            <a:hueOff val="3136746"/>
            <a:satOff val="-16323"/>
            <a:lumOff val="272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baseline="0" dirty="0"/>
            <a:t>PTSD (PC-PTSD)</a:t>
          </a:r>
          <a:endParaRPr lang="en-US" sz="1800" b="1" kern="1200" dirty="0"/>
        </a:p>
      </dsp:txBody>
      <dsp:txXfrm>
        <a:off x="352186" y="1547172"/>
        <a:ext cx="2208758" cy="1325254"/>
      </dsp:txXfrm>
    </dsp:sp>
    <dsp:sp modelId="{2EB4107F-DEBE-4DE9-B420-5BFB2E487EBD}">
      <dsp:nvSpPr>
        <dsp:cNvPr id="0" name=""/>
        <dsp:cNvSpPr/>
      </dsp:nvSpPr>
      <dsp:spPr>
        <a:xfrm>
          <a:off x="2781820" y="1547172"/>
          <a:ext cx="2208758" cy="1325254"/>
        </a:xfrm>
        <a:prstGeom prst="rect">
          <a:avLst/>
        </a:prstGeom>
        <a:solidFill>
          <a:schemeClr val="accent2">
            <a:hueOff val="4182328"/>
            <a:satOff val="-21764"/>
            <a:lumOff val="362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baseline="0" dirty="0"/>
            <a:t>Youth Screen (PSC-YR)</a:t>
          </a:r>
          <a:endParaRPr lang="en-US" sz="1800" b="1" kern="1200" dirty="0"/>
        </a:p>
      </dsp:txBody>
      <dsp:txXfrm>
        <a:off x="2781820" y="1547172"/>
        <a:ext cx="2208758" cy="1325254"/>
      </dsp:txXfrm>
    </dsp:sp>
    <dsp:sp modelId="{3A9EDC5B-B399-49A8-8E5C-B19AB2989736}">
      <dsp:nvSpPr>
        <dsp:cNvPr id="0" name=""/>
        <dsp:cNvSpPr/>
      </dsp:nvSpPr>
      <dsp:spPr>
        <a:xfrm>
          <a:off x="5211454" y="1547172"/>
          <a:ext cx="2208758" cy="1325254"/>
        </a:xfrm>
        <a:prstGeom prst="rect">
          <a:avLst/>
        </a:prstGeom>
        <a:solidFill>
          <a:schemeClr val="accent2">
            <a:hueOff val="5227909"/>
            <a:satOff val="-27206"/>
            <a:lumOff val="453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baseline="0" dirty="0"/>
            <a:t>Parent Screen (PSC)</a:t>
          </a:r>
          <a:endParaRPr lang="en-US" sz="1800" b="1" kern="1200" dirty="0"/>
        </a:p>
      </dsp:txBody>
      <dsp:txXfrm>
        <a:off x="5211454" y="1547172"/>
        <a:ext cx="2208758" cy="1325254"/>
      </dsp:txXfrm>
    </dsp:sp>
    <dsp:sp modelId="{91B98246-A510-4162-8E39-1CA21F9A4EE6}">
      <dsp:nvSpPr>
        <dsp:cNvPr id="0" name=""/>
        <dsp:cNvSpPr/>
      </dsp:nvSpPr>
      <dsp:spPr>
        <a:xfrm>
          <a:off x="352186" y="3093303"/>
          <a:ext cx="2208758" cy="1325254"/>
        </a:xfrm>
        <a:prstGeom prst="rect">
          <a:avLst/>
        </a:prstGeom>
        <a:solidFill>
          <a:schemeClr val="accent2">
            <a:hueOff val="6273491"/>
            <a:satOff val="-32647"/>
            <a:lumOff val="544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baseline="0" dirty="0"/>
            <a:t>Alcohol and Substance Use Screen (CAGE-AID)</a:t>
          </a:r>
          <a:endParaRPr lang="en-US" sz="1800" b="1" kern="1200" dirty="0"/>
        </a:p>
      </dsp:txBody>
      <dsp:txXfrm>
        <a:off x="352186" y="3093303"/>
        <a:ext cx="2208758" cy="1325254"/>
      </dsp:txXfrm>
    </dsp:sp>
    <dsp:sp modelId="{7BF65ADB-6686-4AB4-B8F5-12EE755ED207}">
      <dsp:nvSpPr>
        <dsp:cNvPr id="0" name=""/>
        <dsp:cNvSpPr/>
      </dsp:nvSpPr>
      <dsp:spPr>
        <a:xfrm>
          <a:off x="2781820" y="3093303"/>
          <a:ext cx="2208758" cy="1325254"/>
        </a:xfrm>
        <a:prstGeom prst="rect">
          <a:avLst/>
        </a:prstGeom>
        <a:solidFill>
          <a:schemeClr val="accent2">
            <a:hueOff val="7319073"/>
            <a:satOff val="-38088"/>
            <a:lumOff val="634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baseline="0" dirty="0"/>
            <a:t>Psychosis Screen (Ultra-High Risk) (PQ-B)</a:t>
          </a:r>
          <a:endParaRPr lang="en-US" sz="1800" b="1" kern="1200" dirty="0"/>
        </a:p>
      </dsp:txBody>
      <dsp:txXfrm>
        <a:off x="2781820" y="3093303"/>
        <a:ext cx="2208758" cy="1325254"/>
      </dsp:txXfrm>
    </dsp:sp>
    <dsp:sp modelId="{14CD3BB6-C1A5-4B2C-8340-17B894D393DA}">
      <dsp:nvSpPr>
        <dsp:cNvPr id="0" name=""/>
        <dsp:cNvSpPr/>
      </dsp:nvSpPr>
      <dsp:spPr>
        <a:xfrm>
          <a:off x="5211454" y="3093303"/>
          <a:ext cx="2208758" cy="1325254"/>
        </a:xfrm>
        <a:prstGeom prst="rect">
          <a:avLst/>
        </a:prstGeom>
        <a:solidFill>
          <a:schemeClr val="accent2">
            <a:hueOff val="8364655"/>
            <a:satOff val="-43529"/>
            <a:lumOff val="725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Eating Disorders </a:t>
          </a:r>
        </a:p>
      </dsp:txBody>
      <dsp:txXfrm>
        <a:off x="5211454" y="3093303"/>
        <a:ext cx="2208758" cy="13252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9A155-AF6C-4D81-91C3-0DC9277B0B8C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A31331-6A9D-4445-806C-98D3F8E81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37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31331-6A9D-4445-806C-98D3F8E816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3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4967560-B87A-4521-BE63-E4081AE19F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3346"/>
            <a:ext cx="12187116" cy="6861346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838200" y="1488202"/>
            <a:ext cx="10718800" cy="1470026"/>
          </a:xfrm>
          <a:prstGeom prst="rect">
            <a:avLst/>
          </a:prstGeom>
          <a:noFill/>
          <a:ln w="76200" cmpd="sng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6" name="Rectangle 5"/>
          <p:cNvSpPr/>
          <p:nvPr userDrawn="1"/>
        </p:nvSpPr>
        <p:spPr>
          <a:xfrm>
            <a:off x="4152900" y="3411765"/>
            <a:ext cx="3886200" cy="93163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30480" rtlCol="0" anchor="ctr"/>
          <a:lstStyle/>
          <a:p>
            <a:pPr algn="ctr"/>
            <a:endParaRPr lang="en-US" sz="2400" b="1" dirty="0">
              <a:latin typeface="Calibri" panose="020F0502020204030204" pitchFamily="34" charset="0"/>
              <a:cs typeface="Source Sans Pro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117600" y="1651714"/>
            <a:ext cx="9956800" cy="1143000"/>
          </a:xfrm>
          <a:prstGeom prst="rect">
            <a:avLst/>
          </a:prstGeom>
        </p:spPr>
        <p:txBody>
          <a:bodyPr/>
          <a:lstStyle>
            <a:lvl1pPr algn="ctr">
              <a:defRPr sz="6733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394200" y="3622611"/>
            <a:ext cx="3403602" cy="374780"/>
          </a:xfrm>
          <a:prstGeom prst="rect">
            <a:avLst/>
          </a:prstGeom>
        </p:spPr>
        <p:txBody>
          <a:bodyPr/>
          <a:lstStyle>
            <a:lvl1pPr algn="ctr">
              <a:defRPr sz="2667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4pPr algn="l">
              <a:defRPr sz="2667">
                <a:solidFill>
                  <a:schemeClr val="bg1"/>
                </a:solidFill>
                <a:latin typeface="+mj-lt"/>
              </a:defRPr>
            </a:lvl4pPr>
          </a:lstStyle>
          <a:p>
            <a:pPr lvl="0"/>
            <a:r>
              <a:rPr lang="en-US" dirty="0"/>
              <a:t>Your name here</a:t>
            </a:r>
          </a:p>
        </p:txBody>
      </p:sp>
    </p:spTree>
    <p:extLst>
      <p:ext uri="{BB962C8B-B14F-4D97-AF65-F5344CB8AC3E}">
        <p14:creationId xmlns:p14="http://schemas.microsoft.com/office/powerpoint/2010/main" val="1531154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43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Head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622800" y="1905000"/>
            <a:ext cx="7047067" cy="512233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Century Gothic" panose="020B0502020202020204" pitchFamily="34" charset="0"/>
              </a:defRPr>
            </a:lvl1pPr>
            <a:lvl3pPr>
              <a:defRPr/>
            </a:lvl3pPr>
          </a:lstStyle>
          <a:p>
            <a:pPr lvl="0"/>
            <a:r>
              <a:rPr lang="en-US" dirty="0"/>
              <a:t>Main Point</a:t>
            </a:r>
          </a:p>
        </p:txBody>
      </p:sp>
      <p:sp>
        <p:nvSpPr>
          <p:cNvPr id="9" name="Title 17"/>
          <p:cNvSpPr>
            <a:spLocks noGrp="1"/>
          </p:cNvSpPr>
          <p:nvPr>
            <p:ph type="title"/>
          </p:nvPr>
        </p:nvSpPr>
        <p:spPr>
          <a:xfrm>
            <a:off x="508000" y="481013"/>
            <a:ext cx="11161867" cy="66198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4" hasCustomPrompt="1"/>
          </p:nvPr>
        </p:nvSpPr>
        <p:spPr>
          <a:xfrm>
            <a:off x="4622800" y="2514600"/>
            <a:ext cx="7047067" cy="3066288"/>
          </a:xfrm>
        </p:spPr>
        <p:txBody>
          <a:bodyPr>
            <a:normAutofit/>
          </a:bodyPr>
          <a:lstStyle>
            <a:lvl1pPr>
              <a:defRPr sz="2134" baseline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Paragraph or Bullet Points or Something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508000" y="1905000"/>
            <a:ext cx="3352800" cy="3674269"/>
          </a:xfrm>
        </p:spPr>
        <p:txBody>
          <a:bodyPr>
            <a:normAutofit/>
          </a:bodyPr>
          <a:lstStyle>
            <a:lvl1pPr algn="ctr">
              <a:defRPr sz="2667"/>
            </a:lvl1pPr>
          </a:lstStyle>
          <a:p>
            <a:r>
              <a:rPr lang="en-US" dirty="0"/>
              <a:t>Picture</a:t>
            </a:r>
          </a:p>
          <a:p>
            <a:r>
              <a:rPr lang="en-US" dirty="0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3530923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oints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700055" y="1485900"/>
            <a:ext cx="4962144" cy="512233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Century Gothic" panose="020B0502020202020204" pitchFamily="34" charset="0"/>
              </a:defRPr>
            </a:lvl1pPr>
            <a:lvl3pPr>
              <a:defRPr/>
            </a:lvl3pPr>
          </a:lstStyle>
          <a:p>
            <a:pPr lvl="0"/>
            <a:r>
              <a:rPr lang="en-US" dirty="0"/>
              <a:t>Second Point</a:t>
            </a:r>
          </a:p>
        </p:txBody>
      </p:sp>
      <p:sp>
        <p:nvSpPr>
          <p:cNvPr id="9" name="Title 17"/>
          <p:cNvSpPr>
            <a:spLocks noGrp="1"/>
          </p:cNvSpPr>
          <p:nvPr>
            <p:ph type="title"/>
          </p:nvPr>
        </p:nvSpPr>
        <p:spPr>
          <a:xfrm>
            <a:off x="508000" y="481013"/>
            <a:ext cx="11161867" cy="66198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4" hasCustomPrompt="1"/>
          </p:nvPr>
        </p:nvSpPr>
        <p:spPr>
          <a:xfrm>
            <a:off x="6700055" y="2133600"/>
            <a:ext cx="4969812" cy="3447288"/>
          </a:xfrm>
        </p:spPr>
        <p:txBody>
          <a:bodyPr>
            <a:normAutofit/>
          </a:bodyPr>
          <a:lstStyle>
            <a:lvl1pPr>
              <a:defRPr sz="2134" baseline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Paragraph or Bullet Points or Something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22134" y="1485900"/>
            <a:ext cx="4964267" cy="512233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Century Gothic" panose="020B0502020202020204" pitchFamily="34" charset="0"/>
              </a:defRPr>
            </a:lvl1pPr>
            <a:lvl3pPr>
              <a:defRPr/>
            </a:lvl3pPr>
          </a:lstStyle>
          <a:p>
            <a:pPr lvl="0"/>
            <a:r>
              <a:rPr lang="en-US" dirty="0"/>
              <a:t>First Point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522134" y="2133600"/>
            <a:ext cx="4964267" cy="3447288"/>
          </a:xfrm>
        </p:spPr>
        <p:txBody>
          <a:bodyPr>
            <a:normAutofit/>
          </a:bodyPr>
          <a:lstStyle>
            <a:lvl1pPr>
              <a:defRPr sz="2134" baseline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Paragraph or Bullet Points or Something</a:t>
            </a:r>
          </a:p>
        </p:txBody>
      </p:sp>
    </p:spTree>
    <p:extLst>
      <p:ext uri="{BB962C8B-B14F-4D97-AF65-F5344CB8AC3E}">
        <p14:creationId xmlns:p14="http://schemas.microsoft.com/office/powerpoint/2010/main" val="638443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ictures with Lab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1109428" y="2019300"/>
            <a:ext cx="2133600" cy="2133600"/>
          </a:xfrm>
        </p:spPr>
      </p:sp>
      <p:sp>
        <p:nvSpPr>
          <p:cNvPr id="31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3584419" y="2019300"/>
            <a:ext cx="2133600" cy="2133600"/>
          </a:xfrm>
        </p:spPr>
      </p:sp>
      <p:sp>
        <p:nvSpPr>
          <p:cNvPr id="32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6059410" y="2019300"/>
            <a:ext cx="2133600" cy="2133600"/>
          </a:xfrm>
        </p:spPr>
      </p:sp>
      <p:sp>
        <p:nvSpPr>
          <p:cNvPr id="33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8534400" y="2019300"/>
            <a:ext cx="2133600" cy="2133600"/>
          </a:xfrm>
        </p:spPr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1109134" y="4267200"/>
            <a:ext cx="2133600" cy="838200"/>
          </a:xfrm>
        </p:spPr>
        <p:txBody>
          <a:bodyPr>
            <a:noAutofit/>
          </a:bodyPr>
          <a:lstStyle>
            <a:lvl1pPr algn="ctr">
              <a:defRPr sz="240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3584419" y="4267200"/>
            <a:ext cx="2133600" cy="838200"/>
          </a:xfrm>
        </p:spPr>
        <p:txBody>
          <a:bodyPr>
            <a:noAutofit/>
          </a:bodyPr>
          <a:lstStyle>
            <a:lvl1pPr algn="ctr">
              <a:defRPr sz="240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6068562" y="4267200"/>
            <a:ext cx="2133600" cy="838200"/>
          </a:xfrm>
        </p:spPr>
        <p:txBody>
          <a:bodyPr>
            <a:noAutofit/>
          </a:bodyPr>
          <a:lstStyle>
            <a:lvl1pPr algn="ctr">
              <a:defRPr sz="240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36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8534400" y="4280140"/>
            <a:ext cx="2133600" cy="838200"/>
          </a:xfrm>
        </p:spPr>
        <p:txBody>
          <a:bodyPr>
            <a:noAutofit/>
          </a:bodyPr>
          <a:lstStyle>
            <a:lvl1pPr algn="ctr">
              <a:defRPr sz="240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1728688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1288298" y="1409701"/>
            <a:ext cx="2317411" cy="1781894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24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15"/>
          </p:nvPr>
        </p:nvSpPr>
        <p:spPr>
          <a:xfrm>
            <a:off x="6064226" y="1409701"/>
            <a:ext cx="2317411" cy="1781894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24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6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8452190" y="1409701"/>
            <a:ext cx="2317411" cy="1781894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24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27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1288298" y="3238501"/>
            <a:ext cx="2317411" cy="1783080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24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28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3676262" y="3238501"/>
            <a:ext cx="2317411" cy="1783081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24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9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6064226" y="3238501"/>
            <a:ext cx="2317411" cy="1783081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24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30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8452190" y="3238501"/>
            <a:ext cx="2317411" cy="1783081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24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32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3676262" y="1409701"/>
            <a:ext cx="2317411" cy="1781894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24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508000" y="481013"/>
            <a:ext cx="11161867" cy="6619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5940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23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00"/>
                            </p:stCondLst>
                            <p:childTnLst>
                              <p:par>
                                <p:cTn id="29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400"/>
                            </p:stCondLst>
                            <p:childTnLst>
                              <p:par>
                                <p:cTn id="41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800"/>
                            </p:stCondLst>
                            <p:childTnLst>
                              <p:par>
                                <p:cTn id="47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6" grpId="0"/>
      <p:bldP spid="27" grpId="0"/>
      <p:bldP spid="28" grpId="0"/>
      <p:bldP spid="29" grpId="0"/>
      <p:bldP spid="30" grpId="0"/>
      <p:bldP spid="3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508001" y="1485900"/>
            <a:ext cx="11162242" cy="4038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3194828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508000" y="1447800"/>
            <a:ext cx="11161867" cy="4191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754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AutoShape 98"/>
          <p:cNvSpPr>
            <a:spLocks/>
          </p:cNvSpPr>
          <p:nvPr userDrawn="1"/>
        </p:nvSpPr>
        <p:spPr bwMode="auto">
          <a:xfrm>
            <a:off x="5896046" y="876300"/>
            <a:ext cx="243840" cy="25603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599" y="7647"/>
                </a:moveTo>
                <a:cubicBezTo>
                  <a:pt x="21599" y="8410"/>
                  <a:pt x="21443" y="9124"/>
                  <a:pt x="21132" y="9804"/>
                </a:cubicBezTo>
                <a:cubicBezTo>
                  <a:pt x="20820" y="10488"/>
                  <a:pt x="20404" y="11134"/>
                  <a:pt x="19880" y="11747"/>
                </a:cubicBezTo>
                <a:lnTo>
                  <a:pt x="12619" y="20679"/>
                </a:lnTo>
                <a:cubicBezTo>
                  <a:pt x="12095" y="21292"/>
                  <a:pt x="11491" y="21599"/>
                  <a:pt x="10804" y="21599"/>
                </a:cubicBezTo>
                <a:cubicBezTo>
                  <a:pt x="10112" y="21599"/>
                  <a:pt x="9520" y="21292"/>
                  <a:pt x="9024" y="20679"/>
                </a:cubicBezTo>
                <a:lnTo>
                  <a:pt x="1727" y="11718"/>
                </a:lnTo>
                <a:cubicBezTo>
                  <a:pt x="1203" y="11106"/>
                  <a:pt x="783" y="10462"/>
                  <a:pt x="472" y="9782"/>
                </a:cubicBezTo>
                <a:cubicBezTo>
                  <a:pt x="156" y="9110"/>
                  <a:pt x="0" y="8398"/>
                  <a:pt x="0" y="7647"/>
                </a:cubicBezTo>
                <a:cubicBezTo>
                  <a:pt x="0" y="6594"/>
                  <a:pt x="279" y="5601"/>
                  <a:pt x="843" y="4669"/>
                </a:cubicBezTo>
                <a:cubicBezTo>
                  <a:pt x="1403" y="3737"/>
                  <a:pt x="2179" y="2921"/>
                  <a:pt x="3164" y="2227"/>
                </a:cubicBezTo>
                <a:cubicBezTo>
                  <a:pt x="4143" y="1538"/>
                  <a:pt x="5296" y="990"/>
                  <a:pt x="6615" y="595"/>
                </a:cubicBezTo>
                <a:cubicBezTo>
                  <a:pt x="7936" y="197"/>
                  <a:pt x="9344" y="0"/>
                  <a:pt x="10819" y="0"/>
                </a:cubicBezTo>
                <a:cubicBezTo>
                  <a:pt x="12315" y="0"/>
                  <a:pt x="13719" y="197"/>
                  <a:pt x="15023" y="595"/>
                </a:cubicBezTo>
                <a:cubicBezTo>
                  <a:pt x="16335" y="993"/>
                  <a:pt x="17475" y="1538"/>
                  <a:pt x="18451" y="2227"/>
                </a:cubicBezTo>
                <a:cubicBezTo>
                  <a:pt x="19427" y="2921"/>
                  <a:pt x="20200" y="3737"/>
                  <a:pt x="20756" y="4669"/>
                </a:cubicBezTo>
                <a:cubicBezTo>
                  <a:pt x="21320" y="5603"/>
                  <a:pt x="21599" y="6594"/>
                  <a:pt x="21599" y="7647"/>
                </a:cubicBezTo>
                <a:moveTo>
                  <a:pt x="10819" y="11408"/>
                </a:moveTo>
                <a:cubicBezTo>
                  <a:pt x="11547" y="11408"/>
                  <a:pt x="12240" y="11309"/>
                  <a:pt x="12900" y="11114"/>
                </a:cubicBezTo>
                <a:cubicBezTo>
                  <a:pt x="13556" y="10922"/>
                  <a:pt x="14127" y="10651"/>
                  <a:pt x="14612" y="10310"/>
                </a:cubicBezTo>
                <a:cubicBezTo>
                  <a:pt x="15096" y="9968"/>
                  <a:pt x="15476" y="9564"/>
                  <a:pt x="15748" y="9107"/>
                </a:cubicBezTo>
                <a:cubicBezTo>
                  <a:pt x="16028" y="8650"/>
                  <a:pt x="16164" y="8158"/>
                  <a:pt x="16164" y="7645"/>
                </a:cubicBezTo>
                <a:cubicBezTo>
                  <a:pt x="16164" y="7131"/>
                  <a:pt x="16028" y="6642"/>
                  <a:pt x="15748" y="6176"/>
                </a:cubicBezTo>
                <a:cubicBezTo>
                  <a:pt x="15476" y="5713"/>
                  <a:pt x="15096" y="5304"/>
                  <a:pt x="14612" y="4951"/>
                </a:cubicBezTo>
                <a:cubicBezTo>
                  <a:pt x="14128" y="4604"/>
                  <a:pt x="13564" y="4327"/>
                  <a:pt x="12908" y="4135"/>
                </a:cubicBezTo>
                <a:cubicBezTo>
                  <a:pt x="12256" y="3943"/>
                  <a:pt x="11564" y="3842"/>
                  <a:pt x="10820" y="3842"/>
                </a:cubicBezTo>
                <a:cubicBezTo>
                  <a:pt x="10068" y="3842"/>
                  <a:pt x="9376" y="3940"/>
                  <a:pt x="8736" y="4135"/>
                </a:cubicBezTo>
                <a:cubicBezTo>
                  <a:pt x="8092" y="4327"/>
                  <a:pt x="7528" y="4604"/>
                  <a:pt x="7032" y="4951"/>
                </a:cubicBezTo>
                <a:cubicBezTo>
                  <a:pt x="6532" y="5304"/>
                  <a:pt x="6148" y="5713"/>
                  <a:pt x="5872" y="6171"/>
                </a:cubicBezTo>
                <a:cubicBezTo>
                  <a:pt x="5596" y="6628"/>
                  <a:pt x="5460" y="7119"/>
                  <a:pt x="5460" y="7642"/>
                </a:cubicBezTo>
                <a:cubicBezTo>
                  <a:pt x="5460" y="8155"/>
                  <a:pt x="5596" y="8644"/>
                  <a:pt x="5872" y="9104"/>
                </a:cubicBezTo>
                <a:cubicBezTo>
                  <a:pt x="6148" y="9561"/>
                  <a:pt x="6532" y="9965"/>
                  <a:pt x="7032" y="10307"/>
                </a:cubicBezTo>
                <a:cubicBezTo>
                  <a:pt x="7528" y="10648"/>
                  <a:pt x="8092" y="10919"/>
                  <a:pt x="8736" y="11111"/>
                </a:cubicBezTo>
                <a:cubicBezTo>
                  <a:pt x="9376" y="11309"/>
                  <a:pt x="10068" y="11408"/>
                  <a:pt x="10819" y="11408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lIns="25400" tIns="25400" rIns="25400" bIns="25400" anchor="t"/>
          <a:lstStyle/>
          <a:p>
            <a:pPr defTabSz="228595">
              <a:defRPr/>
            </a:pPr>
            <a:endParaRPr lang="es-ES" sz="1467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15" name="AutoShape 73"/>
          <p:cNvSpPr>
            <a:spLocks/>
          </p:cNvSpPr>
          <p:nvPr userDrawn="1"/>
        </p:nvSpPr>
        <p:spPr bwMode="auto">
          <a:xfrm>
            <a:off x="5865566" y="4538583"/>
            <a:ext cx="304800" cy="228600"/>
          </a:xfrm>
          <a:custGeom>
            <a:avLst/>
            <a:gdLst>
              <a:gd name="T0" fmla="*/ 10800 w 21600"/>
              <a:gd name="T1" fmla="*/ 10794 h 21588"/>
              <a:gd name="T2" fmla="*/ 10800 w 21600"/>
              <a:gd name="T3" fmla="*/ 10794 h 21588"/>
              <a:gd name="T4" fmla="*/ 10800 w 21600"/>
              <a:gd name="T5" fmla="*/ 10794 h 21588"/>
              <a:gd name="T6" fmla="*/ 10800 w 21600"/>
              <a:gd name="T7" fmla="*/ 10794 h 21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588">
                <a:moveTo>
                  <a:pt x="17530" y="7696"/>
                </a:moveTo>
                <a:cubicBezTo>
                  <a:pt x="17530" y="8751"/>
                  <a:pt x="17302" y="9747"/>
                  <a:pt x="16843" y="10684"/>
                </a:cubicBezTo>
                <a:cubicBezTo>
                  <a:pt x="16386" y="11620"/>
                  <a:pt x="15760" y="12436"/>
                  <a:pt x="14969" y="13127"/>
                </a:cubicBezTo>
                <a:cubicBezTo>
                  <a:pt x="14176" y="13821"/>
                  <a:pt x="13249" y="14371"/>
                  <a:pt x="12185" y="14775"/>
                </a:cubicBezTo>
                <a:cubicBezTo>
                  <a:pt x="11121" y="15181"/>
                  <a:pt x="9982" y="15384"/>
                  <a:pt x="8765" y="15384"/>
                </a:cubicBezTo>
                <a:cubicBezTo>
                  <a:pt x="8487" y="15384"/>
                  <a:pt x="8212" y="15370"/>
                  <a:pt x="7936" y="15342"/>
                </a:cubicBezTo>
                <a:cubicBezTo>
                  <a:pt x="7663" y="15316"/>
                  <a:pt x="7395" y="15283"/>
                  <a:pt x="7131" y="15249"/>
                </a:cubicBezTo>
                <a:cubicBezTo>
                  <a:pt x="6027" y="16264"/>
                  <a:pt x="4766" y="16967"/>
                  <a:pt x="3346" y="17339"/>
                </a:cubicBezTo>
                <a:cubicBezTo>
                  <a:pt x="3196" y="17379"/>
                  <a:pt x="3043" y="17413"/>
                  <a:pt x="2890" y="17444"/>
                </a:cubicBezTo>
                <a:cubicBezTo>
                  <a:pt x="2735" y="17475"/>
                  <a:pt x="2572" y="17509"/>
                  <a:pt x="2398" y="17545"/>
                </a:cubicBezTo>
                <a:cubicBezTo>
                  <a:pt x="2308" y="17562"/>
                  <a:pt x="2228" y="17534"/>
                  <a:pt x="2155" y="17455"/>
                </a:cubicBezTo>
                <a:cubicBezTo>
                  <a:pt x="2085" y="17379"/>
                  <a:pt x="2033" y="17297"/>
                  <a:pt x="2005" y="17207"/>
                </a:cubicBezTo>
                <a:lnTo>
                  <a:pt x="2005" y="17181"/>
                </a:lnTo>
                <a:cubicBezTo>
                  <a:pt x="1974" y="17071"/>
                  <a:pt x="1986" y="16984"/>
                  <a:pt x="2038" y="16916"/>
                </a:cubicBezTo>
                <a:cubicBezTo>
                  <a:pt x="2090" y="16851"/>
                  <a:pt x="2158" y="16769"/>
                  <a:pt x="2240" y="16679"/>
                </a:cubicBezTo>
                <a:cubicBezTo>
                  <a:pt x="2377" y="16518"/>
                  <a:pt x="2506" y="16355"/>
                  <a:pt x="2629" y="16188"/>
                </a:cubicBezTo>
                <a:cubicBezTo>
                  <a:pt x="2753" y="16022"/>
                  <a:pt x="2864" y="15830"/>
                  <a:pt x="2963" y="15621"/>
                </a:cubicBezTo>
                <a:cubicBezTo>
                  <a:pt x="3059" y="15410"/>
                  <a:pt x="3151" y="15159"/>
                  <a:pt x="3238" y="14871"/>
                </a:cubicBezTo>
                <a:cubicBezTo>
                  <a:pt x="3325" y="14580"/>
                  <a:pt x="3398" y="14225"/>
                  <a:pt x="3457" y="13801"/>
                </a:cubicBezTo>
                <a:cubicBezTo>
                  <a:pt x="2398" y="13102"/>
                  <a:pt x="1558" y="12222"/>
                  <a:pt x="934" y="11164"/>
                </a:cubicBezTo>
                <a:cubicBezTo>
                  <a:pt x="310" y="10106"/>
                  <a:pt x="0" y="8952"/>
                  <a:pt x="0" y="7696"/>
                </a:cubicBezTo>
                <a:cubicBezTo>
                  <a:pt x="0" y="6627"/>
                  <a:pt x="230" y="5625"/>
                  <a:pt x="691" y="4694"/>
                </a:cubicBezTo>
                <a:cubicBezTo>
                  <a:pt x="1153" y="3763"/>
                  <a:pt x="1781" y="2948"/>
                  <a:pt x="2574" y="2257"/>
                </a:cubicBezTo>
                <a:cubicBezTo>
                  <a:pt x="3365" y="1565"/>
                  <a:pt x="4290" y="1012"/>
                  <a:pt x="5352" y="609"/>
                </a:cubicBezTo>
                <a:cubicBezTo>
                  <a:pt x="6409" y="203"/>
                  <a:pt x="7548" y="0"/>
                  <a:pt x="8765" y="0"/>
                </a:cubicBezTo>
                <a:cubicBezTo>
                  <a:pt x="9982" y="0"/>
                  <a:pt x="11121" y="203"/>
                  <a:pt x="12185" y="609"/>
                </a:cubicBezTo>
                <a:cubicBezTo>
                  <a:pt x="13249" y="1012"/>
                  <a:pt x="14176" y="1565"/>
                  <a:pt x="14969" y="2257"/>
                </a:cubicBezTo>
                <a:cubicBezTo>
                  <a:pt x="15760" y="2948"/>
                  <a:pt x="16386" y="3763"/>
                  <a:pt x="16843" y="4694"/>
                </a:cubicBezTo>
                <a:cubicBezTo>
                  <a:pt x="17302" y="5625"/>
                  <a:pt x="17530" y="6627"/>
                  <a:pt x="17530" y="7696"/>
                </a:cubicBezTo>
                <a:moveTo>
                  <a:pt x="21599" y="11736"/>
                </a:moveTo>
                <a:cubicBezTo>
                  <a:pt x="21599" y="12986"/>
                  <a:pt x="21286" y="14146"/>
                  <a:pt x="20665" y="15204"/>
                </a:cubicBezTo>
                <a:cubicBezTo>
                  <a:pt x="20039" y="16261"/>
                  <a:pt x="19199" y="17139"/>
                  <a:pt x="18140" y="17841"/>
                </a:cubicBezTo>
                <a:cubicBezTo>
                  <a:pt x="18201" y="18265"/>
                  <a:pt x="18271" y="18620"/>
                  <a:pt x="18354" y="18908"/>
                </a:cubicBezTo>
                <a:cubicBezTo>
                  <a:pt x="18436" y="19199"/>
                  <a:pt x="18533" y="19444"/>
                  <a:pt x="18641" y="19661"/>
                </a:cubicBezTo>
                <a:cubicBezTo>
                  <a:pt x="18752" y="19870"/>
                  <a:pt x="18862" y="20059"/>
                  <a:pt x="18980" y="20226"/>
                </a:cubicBezTo>
                <a:cubicBezTo>
                  <a:pt x="19095" y="20392"/>
                  <a:pt x="19222" y="20556"/>
                  <a:pt x="19356" y="20719"/>
                </a:cubicBezTo>
                <a:cubicBezTo>
                  <a:pt x="19432" y="20809"/>
                  <a:pt x="19498" y="20891"/>
                  <a:pt x="19554" y="20968"/>
                </a:cubicBezTo>
                <a:cubicBezTo>
                  <a:pt x="19611" y="21047"/>
                  <a:pt x="19622" y="21128"/>
                  <a:pt x="19592" y="21219"/>
                </a:cubicBezTo>
                <a:lnTo>
                  <a:pt x="19592" y="21247"/>
                </a:lnTo>
                <a:cubicBezTo>
                  <a:pt x="19578" y="21351"/>
                  <a:pt x="19533" y="21439"/>
                  <a:pt x="19453" y="21509"/>
                </a:cubicBezTo>
                <a:cubicBezTo>
                  <a:pt x="19373" y="21577"/>
                  <a:pt x="19291" y="21599"/>
                  <a:pt x="19199" y="21583"/>
                </a:cubicBezTo>
                <a:cubicBezTo>
                  <a:pt x="19027" y="21549"/>
                  <a:pt x="18862" y="21512"/>
                  <a:pt x="18709" y="21481"/>
                </a:cubicBezTo>
                <a:cubicBezTo>
                  <a:pt x="18556" y="21450"/>
                  <a:pt x="18403" y="21419"/>
                  <a:pt x="18253" y="21379"/>
                </a:cubicBezTo>
                <a:cubicBezTo>
                  <a:pt x="17530" y="21199"/>
                  <a:pt x="16854" y="20931"/>
                  <a:pt x="16224" y="20570"/>
                </a:cubicBezTo>
                <a:cubicBezTo>
                  <a:pt x="15593" y="20211"/>
                  <a:pt x="15007" y="19783"/>
                  <a:pt x="14468" y="19286"/>
                </a:cubicBezTo>
                <a:cubicBezTo>
                  <a:pt x="14204" y="19323"/>
                  <a:pt x="13936" y="19354"/>
                  <a:pt x="13660" y="19382"/>
                </a:cubicBezTo>
                <a:cubicBezTo>
                  <a:pt x="13387" y="19407"/>
                  <a:pt x="13112" y="19424"/>
                  <a:pt x="12832" y="19424"/>
                </a:cubicBezTo>
                <a:cubicBezTo>
                  <a:pt x="11773" y="19424"/>
                  <a:pt x="10777" y="19263"/>
                  <a:pt x="9847" y="18950"/>
                </a:cubicBezTo>
                <a:cubicBezTo>
                  <a:pt x="8915" y="18634"/>
                  <a:pt x="8070" y="18211"/>
                  <a:pt x="7312" y="17678"/>
                </a:cubicBezTo>
                <a:cubicBezTo>
                  <a:pt x="7357" y="17644"/>
                  <a:pt x="7407" y="17607"/>
                  <a:pt x="7463" y="17571"/>
                </a:cubicBezTo>
                <a:cubicBezTo>
                  <a:pt x="7520" y="17537"/>
                  <a:pt x="7571" y="17500"/>
                  <a:pt x="7616" y="17463"/>
                </a:cubicBezTo>
                <a:cubicBezTo>
                  <a:pt x="8000" y="17517"/>
                  <a:pt x="8381" y="17545"/>
                  <a:pt x="8765" y="17545"/>
                </a:cubicBezTo>
                <a:cubicBezTo>
                  <a:pt x="10245" y="17545"/>
                  <a:pt x="11632" y="17291"/>
                  <a:pt x="12921" y="16781"/>
                </a:cubicBezTo>
                <a:cubicBezTo>
                  <a:pt x="14214" y="16270"/>
                  <a:pt x="15334" y="15576"/>
                  <a:pt x="16280" y="14690"/>
                </a:cubicBezTo>
                <a:cubicBezTo>
                  <a:pt x="17229" y="13801"/>
                  <a:pt x="17972" y="12757"/>
                  <a:pt x="18516" y="11558"/>
                </a:cubicBezTo>
                <a:cubicBezTo>
                  <a:pt x="19062" y="10365"/>
                  <a:pt x="19335" y="9075"/>
                  <a:pt x="19335" y="7696"/>
                </a:cubicBezTo>
                <a:cubicBezTo>
                  <a:pt x="19335" y="7326"/>
                  <a:pt x="19312" y="6954"/>
                  <a:pt x="19267" y="6564"/>
                </a:cubicBezTo>
                <a:cubicBezTo>
                  <a:pt x="19987" y="7267"/>
                  <a:pt x="20557" y="8054"/>
                  <a:pt x="20973" y="8926"/>
                </a:cubicBezTo>
                <a:cubicBezTo>
                  <a:pt x="21392" y="9801"/>
                  <a:pt x="21599" y="10737"/>
                  <a:pt x="21599" y="11736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lIns="25400" tIns="25400" rIns="25400" bIns="25400" anchor="ctr"/>
          <a:lstStyle/>
          <a:p>
            <a:pPr defTabSz="228595">
              <a:defRPr/>
            </a:pPr>
            <a:r>
              <a:rPr lang="es-ES" sz="1467" dirty="0">
                <a:solidFill>
                  <a:srgbClr val="44C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cs typeface="Gill Sans" charset="0"/>
                <a:sym typeface="Gill Sans" charset="0"/>
              </a:rPr>
              <a:t> </a:t>
            </a:r>
          </a:p>
        </p:txBody>
      </p:sp>
      <p:sp>
        <p:nvSpPr>
          <p:cNvPr id="16" name="Subtitle 2"/>
          <p:cNvSpPr txBox="1">
            <a:spLocks/>
          </p:cNvSpPr>
          <p:nvPr userDrawn="1"/>
        </p:nvSpPr>
        <p:spPr>
          <a:xfrm>
            <a:off x="6299201" y="2650120"/>
            <a:ext cx="5443513" cy="1121781"/>
          </a:xfrm>
          <a:prstGeom prst="rect">
            <a:avLst/>
          </a:prstGeom>
        </p:spPr>
        <p:txBody>
          <a:bodyPr vert="horz" lIns="162568" tIns="81284" rIns="162568" bIns="81284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2134" dirty="0">
                <a:solidFill>
                  <a:schemeClr val="tx1"/>
                </a:solidFill>
                <a:latin typeface="Century Gothic" panose="020B0502020202020204" pitchFamily="34" charset="0"/>
                <a:cs typeface="Source Sans Pro ExtraLight"/>
              </a:rPr>
              <a:t>Facebook.com/</a:t>
            </a:r>
            <a:r>
              <a:rPr lang="en-US" sz="2134" dirty="0" err="1">
                <a:solidFill>
                  <a:schemeClr val="tx1"/>
                </a:solidFill>
                <a:latin typeface="Century Gothic" panose="020B0502020202020204" pitchFamily="34" charset="0"/>
                <a:cs typeface="Source Sans Pro ExtraLight"/>
              </a:rPr>
              <a:t>mentalhealthamerica</a:t>
            </a:r>
            <a:endParaRPr lang="en-US" sz="2134" dirty="0">
              <a:solidFill>
                <a:schemeClr val="tx1"/>
              </a:solidFill>
              <a:latin typeface="Century Gothic" panose="020B0502020202020204" pitchFamily="34" charset="0"/>
              <a:cs typeface="Source Sans Pro ExtraLigh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134" dirty="0">
                <a:solidFill>
                  <a:schemeClr val="tx1"/>
                </a:solidFill>
                <a:latin typeface="Century Gothic" panose="020B0502020202020204" pitchFamily="34" charset="0"/>
                <a:cs typeface="Source Sans Pro ExtraLight"/>
              </a:rPr>
              <a:t>Twitter.com/</a:t>
            </a:r>
            <a:r>
              <a:rPr lang="en-US" sz="2134" dirty="0" err="1">
                <a:solidFill>
                  <a:schemeClr val="tx1"/>
                </a:solidFill>
                <a:latin typeface="Century Gothic" panose="020B0502020202020204" pitchFamily="34" charset="0"/>
                <a:cs typeface="Source Sans Pro ExtraLight"/>
              </a:rPr>
              <a:t>mentalhealtham</a:t>
            </a:r>
            <a:endParaRPr lang="en-US" sz="2134" dirty="0">
              <a:solidFill>
                <a:schemeClr val="tx1"/>
              </a:solidFill>
              <a:latin typeface="Century Gothic" panose="020B0502020202020204" pitchFamily="34" charset="0"/>
              <a:cs typeface="Source Sans Pro ExtraLigh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134" dirty="0">
                <a:solidFill>
                  <a:schemeClr val="tx1"/>
                </a:solidFill>
                <a:latin typeface="Century Gothic" panose="020B0502020202020204" pitchFamily="34" charset="0"/>
                <a:cs typeface="Source Sans Pro ExtraLight"/>
              </a:rPr>
              <a:t>Instagram.com/</a:t>
            </a:r>
            <a:r>
              <a:rPr lang="en-US" sz="2134" dirty="0" err="1">
                <a:solidFill>
                  <a:schemeClr val="tx1"/>
                </a:solidFill>
                <a:latin typeface="Century Gothic" panose="020B0502020202020204" pitchFamily="34" charset="0"/>
                <a:cs typeface="Source Sans Pro ExtraLight"/>
              </a:rPr>
              <a:t>mentalhealthamerica</a:t>
            </a:r>
            <a:endParaRPr lang="en-US" sz="2134" dirty="0">
              <a:solidFill>
                <a:schemeClr val="tx1"/>
              </a:solidFill>
              <a:latin typeface="Century Gothic" panose="020B0502020202020204" pitchFamily="34" charset="0"/>
              <a:cs typeface="Source Sans Pro ExtraLigh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134" dirty="0">
                <a:solidFill>
                  <a:schemeClr val="tx1"/>
                </a:solidFill>
                <a:latin typeface="Century Gothic" panose="020B0502020202020204" pitchFamily="34" charset="0"/>
                <a:cs typeface="Source Sans Pro ExtraLight"/>
              </a:rPr>
              <a:t>Youtube.com/</a:t>
            </a:r>
            <a:r>
              <a:rPr lang="en-US" sz="2134" dirty="0" err="1">
                <a:solidFill>
                  <a:schemeClr val="tx1"/>
                </a:solidFill>
                <a:latin typeface="Century Gothic" panose="020B0502020202020204" pitchFamily="34" charset="0"/>
                <a:cs typeface="Source Sans Pro ExtraLight"/>
              </a:rPr>
              <a:t>mentalhealthamerica</a:t>
            </a:r>
            <a:endParaRPr lang="en-US" sz="2134" dirty="0">
              <a:solidFill>
                <a:schemeClr val="tx1"/>
              </a:solidFill>
              <a:latin typeface="Century Gothic" panose="020B0502020202020204" pitchFamily="34" charset="0"/>
              <a:cs typeface="Source Sans Pro ExtraLigh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406400" y="748353"/>
            <a:ext cx="5130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chemeClr val="bg2"/>
                </a:solidFill>
              </a:rPr>
              <a:t>Contact Us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6312583" y="800101"/>
            <a:ext cx="4406218" cy="1898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34" dirty="0"/>
              <a:t>Mental Health America</a:t>
            </a:r>
          </a:p>
          <a:p>
            <a:r>
              <a:rPr lang="en-US" sz="2934" dirty="0"/>
              <a:t>500 Montgomery</a:t>
            </a:r>
            <a:r>
              <a:rPr lang="en-US" sz="2934" baseline="0" dirty="0"/>
              <a:t> Street</a:t>
            </a:r>
          </a:p>
          <a:p>
            <a:r>
              <a:rPr lang="en-US" sz="2934" baseline="0" dirty="0"/>
              <a:t>Suite 820</a:t>
            </a:r>
          </a:p>
          <a:p>
            <a:r>
              <a:rPr lang="en-US" sz="2934" baseline="0" dirty="0"/>
              <a:t>Alexandria, VA 22314</a:t>
            </a:r>
            <a:endParaRPr lang="en-US" sz="2934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2"/>
          <a:srcRect l="19527" r="19629"/>
          <a:stretch/>
        </p:blipFill>
        <p:spPr>
          <a:xfrm>
            <a:off x="533399" y="1648645"/>
            <a:ext cx="3810001" cy="390038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21155" y="2729701"/>
            <a:ext cx="456695" cy="342521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815346" y="3185542"/>
            <a:ext cx="456696" cy="34252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849386" y="4179899"/>
            <a:ext cx="341376" cy="256032"/>
          </a:xfrm>
          <a:prstGeom prst="rect">
            <a:avLst/>
          </a:prstGeom>
        </p:spPr>
      </p:pic>
      <p:sp>
        <p:nvSpPr>
          <p:cNvPr id="25" name="Text Placeholder 24"/>
          <p:cNvSpPr>
            <a:spLocks noGrp="1"/>
          </p:cNvSpPr>
          <p:nvPr>
            <p:ph type="body" sz="quarter" idx="12" hasCustomPrompt="1"/>
          </p:nvPr>
        </p:nvSpPr>
        <p:spPr>
          <a:xfrm>
            <a:off x="6451600" y="4486484"/>
            <a:ext cx="4927600" cy="1214438"/>
          </a:xfrm>
        </p:spPr>
        <p:txBody>
          <a:bodyPr>
            <a:normAutofit/>
          </a:bodyPr>
          <a:lstStyle>
            <a:lvl1pPr>
              <a:defRPr sz="2134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Your contact info here</a:t>
            </a:r>
          </a:p>
        </p:txBody>
      </p:sp>
      <p:pic>
        <p:nvPicPr>
          <p:cNvPr id="1026" name="Picture 2" descr="NEW INSTAGRAM LOGO 2020 PNG">
            <a:extLst>
              <a:ext uri="{FF2B5EF4-FFF2-40B4-BE49-F238E27FC236}">
                <a16:creationId xmlns:a16="http://schemas.microsoft.com/office/drawing/2014/main" id="{0350EA92-6B9F-45C8-9F31-73E33D8EF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5566" y="3701519"/>
            <a:ext cx="344051" cy="342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8289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Quote Head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4267200" y="1905000"/>
            <a:ext cx="0" cy="3675888"/>
          </a:xfrm>
          <a:prstGeom prst="line">
            <a:avLst/>
          </a:prstGeom>
          <a:ln w="3175" cmpd="sng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622800" y="1905000"/>
            <a:ext cx="7047067" cy="512233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Century Gothic" panose="020B0502020202020204" pitchFamily="34" charset="0"/>
              </a:defRPr>
            </a:lvl1pPr>
            <a:lvl3pPr>
              <a:defRPr/>
            </a:lvl3pPr>
          </a:lstStyle>
          <a:p>
            <a:pPr lvl="0"/>
            <a:r>
              <a:rPr lang="en-US" dirty="0"/>
              <a:t>Main Point</a:t>
            </a:r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 hasCustomPrompt="1"/>
          </p:nvPr>
        </p:nvSpPr>
        <p:spPr>
          <a:xfrm>
            <a:off x="4622800" y="2514600"/>
            <a:ext cx="7047067" cy="3086100"/>
          </a:xfrm>
        </p:spPr>
        <p:txBody>
          <a:bodyPr>
            <a:normAutofit/>
          </a:bodyPr>
          <a:lstStyle>
            <a:lvl1pPr>
              <a:defRPr sz="1600" baseline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Paragraph or Bullet Points or Something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5" hasCustomPrompt="1"/>
          </p:nvPr>
        </p:nvSpPr>
        <p:spPr>
          <a:xfrm>
            <a:off x="508000" y="1905002"/>
            <a:ext cx="3352800" cy="1902619"/>
          </a:xfrm>
        </p:spPr>
        <p:txBody>
          <a:bodyPr>
            <a:normAutofit/>
          </a:bodyPr>
          <a:lstStyle>
            <a:lvl1pPr algn="ctr">
              <a:defRPr sz="2000"/>
            </a:lvl1pPr>
          </a:lstStyle>
          <a:p>
            <a:r>
              <a:rPr lang="en-US" dirty="0"/>
              <a:t>Picture</a:t>
            </a:r>
          </a:p>
          <a:p>
            <a:r>
              <a:rPr lang="en-US" dirty="0"/>
              <a:t>Goes Here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6" hasCustomPrompt="1"/>
          </p:nvPr>
        </p:nvSpPr>
        <p:spPr>
          <a:xfrm>
            <a:off x="512175" y="3904059"/>
            <a:ext cx="3339042" cy="1104900"/>
          </a:xfrm>
        </p:spPr>
        <p:txBody>
          <a:bodyPr>
            <a:normAutofit/>
          </a:bodyPr>
          <a:lstStyle>
            <a:lvl1pPr algn="r">
              <a:defRPr sz="3300" b="1" baseline="0">
                <a:solidFill>
                  <a:schemeClr val="accent2"/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“Quote goes here”</a:t>
            </a:r>
          </a:p>
          <a:p>
            <a:pPr lvl="0"/>
            <a:endParaRPr lang="en-US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7" hasCustomPrompt="1"/>
          </p:nvPr>
        </p:nvSpPr>
        <p:spPr>
          <a:xfrm>
            <a:off x="521759" y="5105400"/>
            <a:ext cx="3339042" cy="495300"/>
          </a:xfrm>
        </p:spPr>
        <p:txBody>
          <a:bodyPr>
            <a:noAutofit/>
          </a:bodyPr>
          <a:lstStyle>
            <a:lvl1pPr algn="r"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5pPr algn="just">
              <a:defRPr/>
            </a:lvl5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037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459318" y="1600994"/>
            <a:ext cx="11273367" cy="3656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  <a:p>
            <a:pPr lvl="4"/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38151" y="779464"/>
            <a:ext cx="11294534" cy="592137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US" sz="2000" baseline="0" dirty="0">
                <a:solidFill>
                  <a:schemeClr val="accent6"/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Essence of the slide (Action). This can be of one sentence or two sentences</a:t>
            </a:r>
          </a:p>
        </p:txBody>
      </p:sp>
    </p:spTree>
    <p:extLst>
      <p:ext uri="{BB962C8B-B14F-4D97-AF65-F5344CB8AC3E}">
        <p14:creationId xmlns:p14="http://schemas.microsoft.com/office/powerpoint/2010/main" val="1521855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ABCFF-0EFE-4AA1-977A-577A77A96F49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59A0-2740-40F5-9431-3B7C887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36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>
                <a:uFillTx/>
              </a:defRPr>
            </a:pPr>
            <a:r>
              <a:rPr sz="4400" b="1">
                <a:uFill>
                  <a:solidFill/>
                </a:uFill>
              </a:rPr>
              <a:t>Title Text</a:t>
            </a:r>
          </a:p>
        </p:txBody>
      </p:sp>
      <p:sp>
        <p:nvSpPr>
          <p:cNvPr id="10" name="Shape 1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783590" indent="-285750">
              <a:spcBef>
                <a:spcPts val="300"/>
              </a:spcBef>
              <a:defRPr sz="2800" b="0" i="1"/>
            </a:lvl2pPr>
            <a:lvl3pPr marL="1183639" indent="-228600">
              <a:spcBef>
                <a:spcPts val="200"/>
              </a:spcBef>
              <a:defRPr sz="2400"/>
            </a:lvl3pPr>
            <a:lvl4pPr marL="1640839" indent="-228600">
              <a:spcBef>
                <a:spcPts val="200"/>
              </a:spcBef>
              <a:defRPr sz="2000" b="0" i="1"/>
            </a:lvl4pPr>
            <a:lvl5pPr marL="2098039" indent="-228600">
              <a:spcBef>
                <a:spcPts val="200"/>
              </a:spcBef>
              <a:defRPr sz="2000"/>
            </a:lvl5pPr>
          </a:lstStyle>
          <a:p>
            <a:pPr lvl="0">
              <a:defRPr sz="1800" b="0">
                <a:uFillTx/>
              </a:defRPr>
            </a:pPr>
            <a:r>
              <a:rPr sz="3200" b="1">
                <a:uFill>
                  <a:solidFill/>
                </a:uFill>
              </a:rPr>
              <a:t>Body Level One</a:t>
            </a:r>
          </a:p>
          <a:p>
            <a:pPr lvl="1">
              <a:defRPr sz="1800" i="0">
                <a:uFillTx/>
              </a:defRPr>
            </a:pPr>
            <a:r>
              <a:rPr sz="2800" i="1">
                <a:uFill>
                  <a:solidFill/>
                </a:uFill>
              </a:rPr>
              <a:t>Body Level Two</a:t>
            </a:r>
          </a:p>
          <a:p>
            <a:pPr lvl="2">
              <a:defRPr sz="1800" b="0">
                <a:uFillTx/>
              </a:defRPr>
            </a:pPr>
            <a:r>
              <a:rPr sz="2400" b="1">
                <a:uFill>
                  <a:solidFill/>
                </a:uFill>
              </a:rPr>
              <a:t>Body Level Three</a:t>
            </a:r>
          </a:p>
          <a:p>
            <a:pPr lvl="3">
              <a:defRPr sz="1800" i="0">
                <a:uFillTx/>
              </a:defRPr>
            </a:pPr>
            <a:r>
              <a:rPr sz="2000" i="1">
                <a:uFill>
                  <a:solidFill/>
                </a:uFill>
              </a:rPr>
              <a:t>Body Level Four</a:t>
            </a:r>
          </a:p>
          <a:p>
            <a:pPr lvl="4">
              <a:defRPr sz="1800" b="0">
                <a:uFillTx/>
              </a:defRPr>
            </a:pPr>
            <a:r>
              <a:rPr sz="2000" b="1">
                <a:uFill>
                  <a:solidFill/>
                </a:u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97362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ABCFF-0EFE-4AA1-977A-577A77A96F49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59A0-2740-40F5-9431-3B7C887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4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C996-D7CF-4719-A7CE-BE80E8531D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2B063-A46C-4BC8-93E7-6D1200153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5FD2A-FAE3-4F0B-BE85-538BEA910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935A-3073-45C1-B887-A90A9FA449FD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10DD0-24F4-4A2F-ACDF-C2080312A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C10B1-280D-49A7-9687-B3D061FE8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40FA1-1F1F-4070-B017-348C30EC9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1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0C50-A0C8-42BE-ACE3-A9EBFE00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83E62-7425-42C9-AC38-691DC5182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3A682-9685-4753-A419-4887A7987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2901B-E563-4817-9B72-9C14740A3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172AE-62DD-496C-B827-A8271389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81586-5FD3-4F71-9E3B-B6858CCFB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508000" y="481013"/>
            <a:ext cx="11161867" cy="661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522134" y="1219200"/>
            <a:ext cx="11147734" cy="46642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4"/>
          </p:nvPr>
        </p:nvSpPr>
        <p:spPr>
          <a:xfrm>
            <a:off x="11669867" y="0"/>
            <a:ext cx="522134" cy="28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336B6-AC0B-4DC8-97E4-BF1A1A542E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264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2" r:id="rId10"/>
    <p:sldLayoutId id="2147483673" r:id="rId11"/>
    <p:sldLayoutId id="2147483674" r:id="rId12"/>
    <p:sldLayoutId id="2147483675" r:id="rId13"/>
    <p:sldLayoutId id="2147483677" r:id="rId14"/>
    <p:sldLayoutId id="2147483678" r:id="rId15"/>
    <p:sldLayoutId id="2147483679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812821" rtl="0" eaLnBrk="1" latinLnBrk="0" hangingPunct="1">
        <a:spcBef>
          <a:spcPct val="0"/>
        </a:spcBef>
        <a:buNone/>
        <a:defRPr sz="5000" b="1" kern="1200" baseline="0">
          <a:solidFill>
            <a:schemeClr val="bg2"/>
          </a:solidFill>
          <a:latin typeface="Century Gothic" panose="020B0502020202020204" pitchFamily="34" charset="0"/>
          <a:ea typeface="+mj-ea"/>
          <a:cs typeface="Century Gothic" panose="020B0502020202020204" pitchFamily="34" charset="0"/>
        </a:defRPr>
      </a:lvl1pPr>
    </p:titleStyle>
    <p:bodyStyle>
      <a:lvl1pPr marL="0" indent="0" algn="l" defTabSz="812821" rtl="0" eaLnBrk="1" latinLnBrk="0" hangingPunct="1">
        <a:spcBef>
          <a:spcPct val="20000"/>
        </a:spcBef>
        <a:buFont typeface="Arial"/>
        <a:buNone/>
        <a:defRPr sz="4267" kern="1200">
          <a:solidFill>
            <a:schemeClr val="tx2"/>
          </a:solidFill>
          <a:latin typeface="Corbel" panose="020B0503020204020204" pitchFamily="34" charset="0"/>
          <a:ea typeface="+mn-ea"/>
          <a:cs typeface="Corbel" panose="020B0503020204020204" pitchFamily="34" charset="0"/>
        </a:defRPr>
      </a:lvl1pPr>
      <a:lvl2pPr marL="812821" indent="0" algn="l" defTabSz="812821" rtl="0" eaLnBrk="1" latinLnBrk="0" hangingPunct="1">
        <a:spcBef>
          <a:spcPct val="20000"/>
        </a:spcBef>
        <a:buFont typeface="Arial"/>
        <a:buNone/>
        <a:defRPr sz="4000" kern="1200">
          <a:solidFill>
            <a:schemeClr val="tx1"/>
          </a:solidFill>
          <a:latin typeface="+mj-lt"/>
          <a:ea typeface="Tahoma" panose="020B0604030504040204" pitchFamily="34" charset="0"/>
          <a:cs typeface="Tahoma" panose="020B0604030504040204" pitchFamily="34" charset="0"/>
        </a:defRPr>
      </a:lvl2pPr>
      <a:lvl3pPr marL="1625641" indent="0" algn="l" defTabSz="812821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bg2"/>
          </a:solidFill>
          <a:latin typeface="+mj-lt"/>
          <a:ea typeface="+mn-ea"/>
          <a:cs typeface="Sylfaen" panose="010A0502050306030303" pitchFamily="18" charset="0"/>
        </a:defRPr>
      </a:lvl3pPr>
      <a:lvl4pPr marL="2438461" indent="0" algn="l" defTabSz="812821" rtl="0" eaLnBrk="1" latinLnBrk="0" hangingPunct="1">
        <a:spcBef>
          <a:spcPct val="20000"/>
        </a:spcBef>
        <a:buFont typeface="Arial"/>
        <a:buNone/>
        <a:defRPr sz="2467" kern="1200">
          <a:solidFill>
            <a:schemeClr val="accent6">
              <a:lumMod val="50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3251282" indent="0" algn="l" defTabSz="812821" rtl="0" eaLnBrk="1" latinLnBrk="0" hangingPunct="1">
        <a:spcBef>
          <a:spcPct val="20000"/>
        </a:spcBef>
        <a:buFont typeface="Arial"/>
        <a:buNone/>
        <a:defRPr sz="2134" kern="1200">
          <a:solidFill>
            <a:schemeClr val="accent6">
              <a:lumMod val="50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4470512" indent="-406410" algn="l" defTabSz="812821" rtl="0" eaLnBrk="1" latinLnBrk="0" hangingPunct="1">
        <a:spcBef>
          <a:spcPct val="20000"/>
        </a:spcBef>
        <a:buFont typeface="Arial"/>
        <a:buChar char="•"/>
        <a:defRPr sz="3533" kern="1200">
          <a:solidFill>
            <a:schemeClr val="tx1"/>
          </a:solidFill>
          <a:latin typeface="+mn-lt"/>
          <a:ea typeface="+mn-ea"/>
          <a:cs typeface="+mn-cs"/>
        </a:defRPr>
      </a:lvl6pPr>
      <a:lvl7pPr marL="5283332" indent="-406410" algn="l" defTabSz="812821" rtl="0" eaLnBrk="1" latinLnBrk="0" hangingPunct="1">
        <a:spcBef>
          <a:spcPct val="20000"/>
        </a:spcBef>
        <a:buFont typeface="Arial"/>
        <a:buChar char="•"/>
        <a:defRPr sz="3533" kern="1200">
          <a:solidFill>
            <a:schemeClr val="tx1"/>
          </a:solidFill>
          <a:latin typeface="+mn-lt"/>
          <a:ea typeface="+mn-ea"/>
          <a:cs typeface="+mn-cs"/>
        </a:defRPr>
      </a:lvl7pPr>
      <a:lvl8pPr marL="6096153" indent="-406410" algn="l" defTabSz="812821" rtl="0" eaLnBrk="1" latinLnBrk="0" hangingPunct="1">
        <a:spcBef>
          <a:spcPct val="20000"/>
        </a:spcBef>
        <a:buFont typeface="Arial"/>
        <a:buChar char="•"/>
        <a:defRPr sz="3533" kern="1200">
          <a:solidFill>
            <a:schemeClr val="tx1"/>
          </a:solidFill>
          <a:latin typeface="+mn-lt"/>
          <a:ea typeface="+mn-ea"/>
          <a:cs typeface="+mn-cs"/>
        </a:defRPr>
      </a:lvl8pPr>
      <a:lvl9pPr marL="6908973" indent="-406410" algn="l" defTabSz="812821" rtl="0" eaLnBrk="1" latinLnBrk="0" hangingPunct="1">
        <a:spcBef>
          <a:spcPct val="20000"/>
        </a:spcBef>
        <a:buFont typeface="Arial"/>
        <a:buChar char="•"/>
        <a:defRPr sz="35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2821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821" algn="l" defTabSz="812821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41" algn="l" defTabSz="812821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461" algn="l" defTabSz="812821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282" algn="l" defTabSz="812821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102" algn="l" defTabSz="812821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922" algn="l" defTabSz="812821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743" algn="l" defTabSz="812821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563" algn="l" defTabSz="812821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hascreening.org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hyperlink" Target="http://www.mhascreening.org/" TargetMode="Externa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hascreening.org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sychhub.com/covid-19/" TargetMode="External"/><Relationship Id="rId2" Type="http://schemas.openxmlformats.org/officeDocument/2006/relationships/hyperlink" Target="https://www.mhanational.org/covid1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creening.mhanational.org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mailto:pgionfriddo@mhanational.org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8E59F1-CDAE-4E5E-A4C4-3A0CCA895E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COVID-19 and Mental Health:</a:t>
            </a:r>
          </a:p>
          <a:p>
            <a:r>
              <a:rPr lang="en-US" dirty="0"/>
              <a:t>What We Are Learning from </a:t>
            </a:r>
            <a:r>
              <a:rPr lang="en-US" dirty="0">
                <a:hlinkClick r:id="rId2"/>
              </a:rPr>
              <a:t>www.mhascreening.org</a:t>
            </a:r>
            <a:endParaRPr lang="en-US" dirty="0"/>
          </a:p>
          <a:p>
            <a:r>
              <a:rPr lang="en-US" dirty="0"/>
              <a:t>July 1, 2020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F1BEF-D5CD-4526-A701-C319526726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94200" y="3622611"/>
            <a:ext cx="3403602" cy="639146"/>
          </a:xfrm>
        </p:spPr>
        <p:txBody>
          <a:bodyPr>
            <a:noAutofit/>
          </a:bodyPr>
          <a:lstStyle/>
          <a:p>
            <a:endParaRPr lang="en-US" sz="1800" b="1" dirty="0"/>
          </a:p>
          <a:p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5727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1033D-76E6-4B0D-9F19-8A4EE2FEA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Mental Health and COVID-19: More than 169,000 People Impacted by Anxiety and Depression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81D9D-7667-493B-9100-0415D9FEC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34" y="1634836"/>
            <a:ext cx="11147734" cy="4248578"/>
          </a:xfrm>
        </p:spPr>
        <p:txBody>
          <a:bodyPr>
            <a:normAutofit fontScale="77500" lnSpcReduction="20000"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dirty="0"/>
              <a:t>Through June, more than </a:t>
            </a:r>
            <a:r>
              <a:rPr lang="en-US" sz="2800" b="1" dirty="0">
                <a:solidFill>
                  <a:srgbClr val="FF0000"/>
                </a:solidFill>
              </a:rPr>
              <a:t>169,243</a:t>
            </a:r>
            <a:r>
              <a:rPr lang="en-US" sz="2800" dirty="0"/>
              <a:t> additional people (over pre-pandemic baselines) have screened moderate to severe for depression or anxiety since the start of the pandemic.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dirty="0"/>
              <a:t>In addition, far more people are now taking mental health screenings – </a:t>
            </a:r>
            <a:r>
              <a:rPr lang="en-US" sz="2800" b="1" dirty="0">
                <a:solidFill>
                  <a:schemeClr val="tx1"/>
                </a:solidFill>
              </a:rPr>
              <a:t>7,000 per day </a:t>
            </a:r>
            <a:r>
              <a:rPr lang="en-US" sz="2800" dirty="0"/>
              <a:t>in May and June. The per day number of anxiety screenings completed in June was </a:t>
            </a:r>
            <a:r>
              <a:rPr lang="en-US" sz="2800" b="1" dirty="0">
                <a:solidFill>
                  <a:schemeClr val="tx1"/>
                </a:solidFill>
              </a:rPr>
              <a:t>406% higher </a:t>
            </a:r>
            <a:r>
              <a:rPr lang="en-US" sz="2800" dirty="0"/>
              <a:t>than in January, and the per day number of depression screens was </a:t>
            </a:r>
            <a:r>
              <a:rPr lang="en-US" sz="2800" b="1" dirty="0">
                <a:solidFill>
                  <a:schemeClr val="tx1"/>
                </a:solidFill>
              </a:rPr>
              <a:t>457% higher</a:t>
            </a:r>
            <a:r>
              <a:rPr lang="en-US" sz="2800" dirty="0"/>
              <a:t>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dirty="0"/>
              <a:t>The mental health impacts of the pandemic are not confined to anxiety and depression. There has been a steep increase in the numbers of people screening positive (“at risk”) for psychosis, too. In June, more than </a:t>
            </a:r>
            <a:r>
              <a:rPr lang="en-US" sz="2800" b="1" dirty="0">
                <a:solidFill>
                  <a:schemeClr val="tx1"/>
                </a:solidFill>
              </a:rPr>
              <a:t>18,000 </a:t>
            </a:r>
            <a:r>
              <a:rPr lang="en-US" sz="2800" b="1" dirty="0"/>
              <a:t>people screened at risk for psychosis</a:t>
            </a:r>
            <a:r>
              <a:rPr lang="en-US" sz="2800" dirty="0"/>
              <a:t>, more than 4 times the baseline numbers we had seen through March.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dirty="0"/>
              <a:t>The mental health impacts continue to be </a:t>
            </a:r>
            <a:r>
              <a:rPr lang="en-US" sz="2800" b="1" dirty="0">
                <a:solidFill>
                  <a:schemeClr val="tx1"/>
                </a:solidFill>
              </a:rPr>
              <a:t>more pronounced in young people </a:t>
            </a:r>
            <a:r>
              <a:rPr lang="en-US" sz="2800" dirty="0"/>
              <a:t>(&lt;25): roughly 9 in 10 are screening with moderate-to-severe depression, </a:t>
            </a:r>
            <a:r>
              <a:rPr lang="en-US" sz="2800" b="1" dirty="0">
                <a:solidFill>
                  <a:schemeClr val="tx1"/>
                </a:solidFill>
              </a:rPr>
              <a:t>and </a:t>
            </a:r>
            <a:r>
              <a:rPr lang="en-US" sz="2800" dirty="0"/>
              <a:t>8 in 10 are screening with moderate-to-severe anxiety.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99041-CBF6-4EE5-885A-EF2151214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81586-5FD3-4F71-9E3B-B6858CCFB7F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56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1033D-76E6-4B0D-9F19-8A4EE2FEA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Mental Health and COVID-19: Thoughts of Suicide &amp; Self-Harm at Epidemic Levels in both May and June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81D9D-7667-493B-9100-0415D9FEC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34" y="1611086"/>
            <a:ext cx="11147734" cy="4272328"/>
          </a:xfrm>
        </p:spPr>
        <p:txBody>
          <a:bodyPr>
            <a:normAutofit fontScale="92500" lnSpcReduction="10000"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</a:rPr>
              <a:t>“Loneliness and isolation”</a:t>
            </a:r>
            <a:r>
              <a:rPr lang="en-US" sz="2400" dirty="0"/>
              <a:t> is cited by the greatest percent of moderate to severe depression (74%) and anxiety (65%) screeners as contributing to mental health problems “right now.” These percentages have been steady since mid-April.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400" dirty="0"/>
              <a:t>Despite a dramatic jump in screeners in May and June (230,822 in June versus 69,626 in April), severity continued to track equal to or higher than our pre-pandemic baselines.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400" dirty="0"/>
              <a:t>In June 2020, </a:t>
            </a:r>
            <a:r>
              <a:rPr lang="en-US" sz="2400" b="1" dirty="0">
                <a:solidFill>
                  <a:schemeClr val="tx1"/>
                </a:solidFill>
              </a:rPr>
              <a:t>25,498 depression screeners reported thinking of suicide or self-harm </a:t>
            </a:r>
            <a:r>
              <a:rPr lang="en-US" sz="2400" dirty="0"/>
              <a:t>on more than half of days to nearly every day, with 14,607 reporting these thoughts nearly every day.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400" dirty="0"/>
              <a:t>Special populations are also experiencing high anxiety and depression, including LGBTQ, caregivers, students, veterans/active duty, and trauma survivors.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400" dirty="0"/>
              <a:t>For thousands of positive screeners, </a:t>
            </a:r>
            <a:r>
              <a:rPr lang="en-US" sz="2400" b="1" dirty="0">
                <a:solidFill>
                  <a:schemeClr val="tx1"/>
                </a:solidFill>
              </a:rPr>
              <a:t>racism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chemeClr val="tx1"/>
                </a:solidFill>
              </a:rPr>
              <a:t>current events </a:t>
            </a:r>
            <a:r>
              <a:rPr lang="en-US" sz="2400" dirty="0"/>
              <a:t>are cited as factors in their screening results.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99041-CBF6-4EE5-885A-EF2151214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81586-5FD3-4F71-9E3B-B6858CCFB7F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69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85980"/>
            <a:ext cx="11161867" cy="957021"/>
          </a:xfrm>
        </p:spPr>
        <p:txBody>
          <a:bodyPr>
            <a:noAutofit/>
          </a:bodyPr>
          <a:lstStyle/>
          <a:p>
            <a:r>
              <a:rPr lang="en-US" sz="2475" dirty="0"/>
              <a:t>MHA Screening (</a:t>
            </a:r>
            <a:r>
              <a:rPr lang="en-US" sz="2475" dirty="0">
                <a:hlinkClick r:id="rId2"/>
              </a:rPr>
              <a:t>www.mhascreening.org</a:t>
            </a:r>
            <a:r>
              <a:rPr lang="en-US" sz="2475" dirty="0"/>
              <a:t>): </a:t>
            </a:r>
            <a:br>
              <a:rPr lang="en-US" sz="2475" dirty="0"/>
            </a:br>
            <a:r>
              <a:rPr lang="en-US" sz="2475" dirty="0"/>
              <a:t>Nearly 5.5 Million Completed Screens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517306"/>
              </p:ext>
            </p:extLst>
          </p:nvPr>
        </p:nvGraphicFramePr>
        <p:xfrm>
          <a:off x="2209800" y="1257300"/>
          <a:ext cx="7772400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23"/>
            <a:r>
              <a:rPr lang="en-US" dirty="0">
                <a:solidFill>
                  <a:prstClr val="black">
                    <a:tint val="75000"/>
                  </a:prstClr>
                </a:solidFill>
                <a:latin typeface="Century Gothic" panose="020F0302020204030204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8919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3591E7-4DBE-4340-B48E-4E521890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4437D1-0398-42DE-8A63-07D210FD8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MHA Screening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562AA-D562-412B-AB1B-E94987895A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Began in April 2014.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Access to screening tools is free and anonymous at </a:t>
            </a:r>
            <a:r>
              <a:rPr lang="en-US" dirty="0">
                <a:hlinkClick r:id="rId2"/>
              </a:rPr>
              <a:t>www.mhascreening.org</a:t>
            </a:r>
            <a:r>
              <a:rPr lang="en-US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Most screeners voluntarily give de-identified demographic data.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Screeners are young, (63% &lt; 25 years), female (72%).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Help-seeking population (74% positive).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Otherwise representative of the population.</a:t>
            </a:r>
          </a:p>
        </p:txBody>
      </p:sp>
    </p:spTree>
    <p:extLst>
      <p:ext uri="{BB962C8B-B14F-4D97-AF65-F5344CB8AC3E}">
        <p14:creationId xmlns:p14="http://schemas.microsoft.com/office/powerpoint/2010/main" val="50106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20223-0D27-4C6B-9707-D3DB67EAC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 June, Per Day Anxiety Screenings Increased by 406% over January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AF85C6-86F4-4561-9EEB-ADE0E340D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59A0-2740-40F5-9431-3B7C887B04EE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B6BA230-81C3-485E-86EE-854944CF4A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5561581"/>
              </p:ext>
            </p:extLst>
          </p:nvPr>
        </p:nvGraphicFramePr>
        <p:xfrm>
          <a:off x="1132114" y="1580827"/>
          <a:ext cx="9927772" cy="4198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2380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24A36E-04FB-4B78-97D2-F5FE87A80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 June, Per Day Depression Screenings Increased by 457% over January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3516F82-EBF8-40FE-8359-0D6FF81AF8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6572204"/>
              </p:ext>
            </p:extLst>
          </p:nvPr>
        </p:nvGraphicFramePr>
        <p:xfrm>
          <a:off x="522288" y="1219200"/>
          <a:ext cx="11147425" cy="466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48A46B-A46B-404B-AD1B-E79892B08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59A0-2740-40F5-9431-3B7C887B04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42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E04E0-3310-475C-908A-F9F0D8400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More Than 64,108 Additional Screeners Have Anxiety Since COVID-19 Pandemic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9BD0DF3-BCDE-48C2-B00F-5C43638497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715763"/>
              </p:ext>
            </p:extLst>
          </p:nvPr>
        </p:nvGraphicFramePr>
        <p:xfrm>
          <a:off x="522288" y="1464129"/>
          <a:ext cx="11147425" cy="44191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E1C33-3BF1-4C30-A1B2-5943E696D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81586-5FD3-4F71-9E3B-B6858CCFB7FA}" type="slidenum">
              <a:rPr lang="en-US" smtClean="0"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006B27-05B4-4846-B948-2E913B5F3E8B}"/>
              </a:ext>
            </a:extLst>
          </p:cNvPr>
          <p:cNvSpPr txBox="1"/>
          <p:nvPr/>
        </p:nvSpPr>
        <p:spPr>
          <a:xfrm>
            <a:off x="1322613" y="1556657"/>
            <a:ext cx="8730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Excess Moderate-to-Severe screening results above the Nov-Jan 3-month average (5295 moderate to severe)</a:t>
            </a:r>
          </a:p>
        </p:txBody>
      </p:sp>
    </p:spTree>
    <p:extLst>
      <p:ext uri="{BB962C8B-B14F-4D97-AF65-F5344CB8AC3E}">
        <p14:creationId xmlns:p14="http://schemas.microsoft.com/office/powerpoint/2010/main" val="391582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2A402-F650-4DF5-A6F1-063B5500F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More Than 105,135 Additional Screeners Have Depression Since COVID-19 Pandemic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BFC98B7-368F-46EF-8C9C-E85FEBC66E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1770160"/>
              </p:ext>
            </p:extLst>
          </p:nvPr>
        </p:nvGraphicFramePr>
        <p:xfrm>
          <a:off x="522288" y="1219200"/>
          <a:ext cx="11147425" cy="466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8C6C3-55BF-46AE-8E14-3668091DB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81586-5FD3-4F71-9E3B-B6858CCFB7F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053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F9C33-9276-4BB4-A403-0046E755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Psychosis: Those Screening “Positive” Increased Dramatically in May &amp; June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F531C-1F37-46F3-9720-4AB53F398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81586-5FD3-4F71-9E3B-B6858CCFB7FA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41F590C-C236-44A9-A13B-B4E3617626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7976619"/>
              </p:ext>
            </p:extLst>
          </p:nvPr>
        </p:nvGraphicFramePr>
        <p:xfrm>
          <a:off x="522288" y="1600200"/>
          <a:ext cx="11038341" cy="43429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79392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F8D04-EA8C-493E-8068-874C1C3D7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Psychosis Screening: Severity Also Up in June 2020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639378-442B-4A0B-8BFA-771F2EC35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59A0-2740-40F5-9431-3B7C887B04EE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548C2B9-4166-460F-8D9C-A3702B2F86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635238"/>
              </p:ext>
            </p:extLst>
          </p:nvPr>
        </p:nvGraphicFramePr>
        <p:xfrm>
          <a:off x="522288" y="1594757"/>
          <a:ext cx="11147425" cy="4288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9290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F6FC8-6358-4517-8C06-FE25970FE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May Anxiety Screeners: The Main Things Contributing to Mental Health Problems Right Now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16E9492-E018-433F-A75E-BDE2591748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3512972"/>
              </p:ext>
            </p:extLst>
          </p:nvPr>
        </p:nvGraphicFramePr>
        <p:xfrm>
          <a:off x="425976" y="1894115"/>
          <a:ext cx="11161867" cy="38975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5353">
                  <a:extLst>
                    <a:ext uri="{9D8B030D-6E8A-4147-A177-3AD203B41FA5}">
                      <a16:colId xmlns:a16="http://schemas.microsoft.com/office/drawing/2014/main" val="1791270174"/>
                    </a:ext>
                  </a:extLst>
                </a:gridCol>
                <a:gridCol w="2939142">
                  <a:extLst>
                    <a:ext uri="{9D8B030D-6E8A-4147-A177-3AD203B41FA5}">
                      <a16:colId xmlns:a16="http://schemas.microsoft.com/office/drawing/2014/main" val="243722030"/>
                    </a:ext>
                  </a:extLst>
                </a:gridCol>
                <a:gridCol w="2917372">
                  <a:extLst>
                    <a:ext uri="{9D8B030D-6E8A-4147-A177-3AD203B41FA5}">
                      <a16:colId xmlns:a16="http://schemas.microsoft.com/office/drawing/2014/main" val="4106168252"/>
                    </a:ext>
                  </a:extLst>
                </a:gridCol>
              </a:tblGrid>
              <a:tr h="6671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Reason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Number of Responders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Percent of Respondents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801908"/>
                  </a:ext>
                </a:extLst>
              </a:tr>
              <a:tr h="3572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Loneliness or isolation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15934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62.14%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718920121"/>
                  </a:ext>
                </a:extLst>
              </a:tr>
              <a:tr h="3572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Past trauma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12219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47.65%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693386252"/>
                  </a:ext>
                </a:extLst>
              </a:tr>
              <a:tr h="3572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Relationship problems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10540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41.10%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702267812"/>
                  </a:ext>
                </a:extLst>
              </a:tr>
              <a:tr h="3572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Coronavirus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9326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36.37%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779505720"/>
                  </a:ext>
                </a:extLst>
              </a:tr>
              <a:tr h="6888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Current events (news, politics, etc.)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7542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29.41%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167303488"/>
                  </a:ext>
                </a:extLst>
              </a:tr>
              <a:tr h="6888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Grief or loss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6489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25.31%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45052874"/>
                  </a:ext>
                </a:extLst>
              </a:tr>
              <a:tr h="3572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Financial Problems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6315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24.63%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29651486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F22B6-E7D4-41AE-8397-C2FD7F055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81586-5FD3-4F71-9E3B-B6858CCFB7FA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C7753-2C6F-4F1B-8439-EC7FB97C728D}"/>
              </a:ext>
            </a:extLst>
          </p:cNvPr>
          <p:cNvSpPr txBox="1"/>
          <p:nvPr/>
        </p:nvSpPr>
        <p:spPr>
          <a:xfrm>
            <a:off x="3450771" y="5796170"/>
            <a:ext cx="5970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N=25,643, scoring moderate to severe 5/1-5/31, “Choose up to 3”</a:t>
            </a:r>
          </a:p>
        </p:txBody>
      </p:sp>
    </p:spTree>
    <p:extLst>
      <p:ext uri="{BB962C8B-B14F-4D97-AF65-F5344CB8AC3E}">
        <p14:creationId xmlns:p14="http://schemas.microsoft.com/office/powerpoint/2010/main" val="1931013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F6FC8-6358-4517-8C06-FE25970FE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June Anxiety Screeners: The Main Things Contributing to Mental Health Problems Right Now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16E9492-E018-433F-A75E-BDE2591748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1469892"/>
              </p:ext>
            </p:extLst>
          </p:nvPr>
        </p:nvGraphicFramePr>
        <p:xfrm>
          <a:off x="385033" y="1528131"/>
          <a:ext cx="11161867" cy="4081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5353">
                  <a:extLst>
                    <a:ext uri="{9D8B030D-6E8A-4147-A177-3AD203B41FA5}">
                      <a16:colId xmlns:a16="http://schemas.microsoft.com/office/drawing/2014/main" val="1791270174"/>
                    </a:ext>
                  </a:extLst>
                </a:gridCol>
                <a:gridCol w="2939142">
                  <a:extLst>
                    <a:ext uri="{9D8B030D-6E8A-4147-A177-3AD203B41FA5}">
                      <a16:colId xmlns:a16="http://schemas.microsoft.com/office/drawing/2014/main" val="243722030"/>
                    </a:ext>
                  </a:extLst>
                </a:gridCol>
                <a:gridCol w="2917372">
                  <a:extLst>
                    <a:ext uri="{9D8B030D-6E8A-4147-A177-3AD203B41FA5}">
                      <a16:colId xmlns:a16="http://schemas.microsoft.com/office/drawing/2014/main" val="4106168252"/>
                    </a:ext>
                  </a:extLst>
                </a:gridCol>
              </a:tblGrid>
              <a:tr h="6064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Reason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Number of Responders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Percent of Respondents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801908"/>
                  </a:ext>
                </a:extLst>
              </a:tr>
              <a:tr h="34990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Loneliness or isolation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17637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64.74%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718920121"/>
                  </a:ext>
                </a:extLst>
              </a:tr>
              <a:tr h="34990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Past trauma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12700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46.62%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693386252"/>
                  </a:ext>
                </a:extLst>
              </a:tr>
              <a:tr h="34990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Relationship problems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11111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40.79%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702267812"/>
                  </a:ext>
                </a:extLst>
              </a:tr>
              <a:tr h="34990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Current events (news, politics, etc.)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9838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36.11%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779505720"/>
                  </a:ext>
                </a:extLst>
              </a:tr>
              <a:tr h="6262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Coronavirus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7878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28.92%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167303488"/>
                  </a:ext>
                </a:extLst>
              </a:tr>
              <a:tr h="6262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Grief or Loss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6723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24.68%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45052874"/>
                  </a:ext>
                </a:extLst>
              </a:tr>
              <a:tr h="34990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Financial Problems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6588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24.18%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296514864"/>
                  </a:ext>
                </a:extLst>
              </a:tr>
              <a:tr h="34990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Racism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2097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7.70%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88205244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F22B6-E7D4-41AE-8397-C2FD7F055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81586-5FD3-4F71-9E3B-B6858CCFB7FA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C7753-2C6F-4F1B-8439-EC7FB97C728D}"/>
              </a:ext>
            </a:extLst>
          </p:cNvPr>
          <p:cNvSpPr txBox="1"/>
          <p:nvPr/>
        </p:nvSpPr>
        <p:spPr>
          <a:xfrm>
            <a:off x="3478067" y="5610130"/>
            <a:ext cx="63756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N=27,241, scoring moderate to severe 6/1-6/30, “Choose up to 3” </a:t>
            </a:r>
          </a:p>
          <a:p>
            <a:r>
              <a:rPr lang="en-US" sz="1600" dirty="0"/>
              <a:t>“Racism” added as option on 6/16</a:t>
            </a:r>
          </a:p>
        </p:txBody>
      </p:sp>
    </p:spTree>
    <p:extLst>
      <p:ext uri="{BB962C8B-B14F-4D97-AF65-F5344CB8AC3E}">
        <p14:creationId xmlns:p14="http://schemas.microsoft.com/office/powerpoint/2010/main" val="1370959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F6FC8-6358-4517-8C06-FE25970FE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May Depression Screeners: The Main Things Contributing to Mental Health Problems Right Now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16E9492-E018-433F-A75E-BDE2591748D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25976" y="1894115"/>
          <a:ext cx="11161867" cy="38975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5353">
                  <a:extLst>
                    <a:ext uri="{9D8B030D-6E8A-4147-A177-3AD203B41FA5}">
                      <a16:colId xmlns:a16="http://schemas.microsoft.com/office/drawing/2014/main" val="1791270174"/>
                    </a:ext>
                  </a:extLst>
                </a:gridCol>
                <a:gridCol w="2939142">
                  <a:extLst>
                    <a:ext uri="{9D8B030D-6E8A-4147-A177-3AD203B41FA5}">
                      <a16:colId xmlns:a16="http://schemas.microsoft.com/office/drawing/2014/main" val="243722030"/>
                    </a:ext>
                  </a:extLst>
                </a:gridCol>
                <a:gridCol w="2917372">
                  <a:extLst>
                    <a:ext uri="{9D8B030D-6E8A-4147-A177-3AD203B41FA5}">
                      <a16:colId xmlns:a16="http://schemas.microsoft.com/office/drawing/2014/main" val="4106168252"/>
                    </a:ext>
                  </a:extLst>
                </a:gridCol>
              </a:tblGrid>
              <a:tr h="6671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Reason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Number of Responders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Percent of Respondents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801908"/>
                  </a:ext>
                </a:extLst>
              </a:tr>
              <a:tr h="3572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Loneliness or isolation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32910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72.59%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718920121"/>
                  </a:ext>
                </a:extLst>
              </a:tr>
              <a:tr h="3572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Past trauma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20931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46.17%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693386252"/>
                  </a:ext>
                </a:extLst>
              </a:tr>
              <a:tr h="3572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Relationship problems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20100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44.34%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702267812"/>
                  </a:ext>
                </a:extLst>
              </a:tr>
              <a:tr h="3572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Coronavirus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13703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>
                          <a:effectLst/>
                        </a:rPr>
                        <a:t>30.23%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779505720"/>
                  </a:ext>
                </a:extLst>
              </a:tr>
              <a:tr h="6888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Grief or loss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12413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27.38%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45052874"/>
                  </a:ext>
                </a:extLst>
              </a:tr>
              <a:tr h="3572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Financial Problems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10142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22.37%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296514864"/>
                  </a:ext>
                </a:extLst>
              </a:tr>
              <a:tr h="6888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Current events (news, politics, etc.)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>
                          <a:effectLst/>
                        </a:rPr>
                        <a:t>9868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</a:rPr>
                        <a:t>21.77%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550143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F22B6-E7D4-41AE-8397-C2FD7F055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81586-5FD3-4F71-9E3B-B6858CCFB7FA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C7753-2C6F-4F1B-8439-EC7FB97C728D}"/>
              </a:ext>
            </a:extLst>
          </p:cNvPr>
          <p:cNvSpPr txBox="1"/>
          <p:nvPr/>
        </p:nvSpPr>
        <p:spPr>
          <a:xfrm>
            <a:off x="3450771" y="5796170"/>
            <a:ext cx="5970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N=45,335, scoring moderate to severe 5/1-5/31, “Choose up to 3”</a:t>
            </a:r>
          </a:p>
        </p:txBody>
      </p:sp>
    </p:spTree>
    <p:extLst>
      <p:ext uri="{BB962C8B-B14F-4D97-AF65-F5344CB8AC3E}">
        <p14:creationId xmlns:p14="http://schemas.microsoft.com/office/powerpoint/2010/main" val="277528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F6FC8-6358-4517-8C06-FE25970FE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June Depression Screeners: The Main Things Contributing to Mental Health Problems Right Now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16E9492-E018-433F-A75E-BDE2591748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0849905"/>
              </p:ext>
            </p:extLst>
          </p:nvPr>
        </p:nvGraphicFramePr>
        <p:xfrm>
          <a:off x="507999" y="1520827"/>
          <a:ext cx="11188132" cy="41679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5353">
                  <a:extLst>
                    <a:ext uri="{9D8B030D-6E8A-4147-A177-3AD203B41FA5}">
                      <a16:colId xmlns:a16="http://schemas.microsoft.com/office/drawing/2014/main" val="1791270174"/>
                    </a:ext>
                  </a:extLst>
                </a:gridCol>
                <a:gridCol w="2939142">
                  <a:extLst>
                    <a:ext uri="{9D8B030D-6E8A-4147-A177-3AD203B41FA5}">
                      <a16:colId xmlns:a16="http://schemas.microsoft.com/office/drawing/2014/main" val="243722030"/>
                    </a:ext>
                  </a:extLst>
                </a:gridCol>
                <a:gridCol w="2943637">
                  <a:extLst>
                    <a:ext uri="{9D8B030D-6E8A-4147-A177-3AD203B41FA5}">
                      <a16:colId xmlns:a16="http://schemas.microsoft.com/office/drawing/2014/main" val="4106168252"/>
                    </a:ext>
                  </a:extLst>
                </a:gridCol>
              </a:tblGrid>
              <a:tr h="565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Reason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Number of Responders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Percent of Respondents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801908"/>
                  </a:ext>
                </a:extLst>
              </a:tr>
              <a:tr h="3428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Loneliness or isolation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37237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73.92%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718920121"/>
                  </a:ext>
                </a:extLst>
              </a:tr>
              <a:tr h="3428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Past trauma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22653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44.97%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693386252"/>
                  </a:ext>
                </a:extLst>
              </a:tr>
              <a:tr h="3428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Relationship problems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22058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43.79%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702267812"/>
                  </a:ext>
                </a:extLst>
              </a:tr>
              <a:tr h="3428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Current events (news, politics, etc.)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14674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29.13%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779505720"/>
                  </a:ext>
                </a:extLst>
              </a:tr>
              <a:tr h="58343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Grief or loss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13366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26.53%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45052874"/>
                  </a:ext>
                </a:extLst>
              </a:tr>
              <a:tr h="3428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Coronavirus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11926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23.67%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296514864"/>
                  </a:ext>
                </a:extLst>
              </a:tr>
              <a:tr h="58343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Financial Problems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11767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u="none" strike="noStrike" dirty="0">
                          <a:effectLst/>
                          <a:latin typeface="+mn-lt"/>
                        </a:rPr>
                        <a:t>23.36%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5501432"/>
                  </a:ext>
                </a:extLst>
              </a:tr>
              <a:tr h="58343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Racism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2704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5.37%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51238844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F22B6-E7D4-41AE-8397-C2FD7F055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81586-5FD3-4F71-9E3B-B6858CCFB7FA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C7753-2C6F-4F1B-8439-EC7FB97C728D}"/>
              </a:ext>
            </a:extLst>
          </p:cNvPr>
          <p:cNvSpPr txBox="1"/>
          <p:nvPr/>
        </p:nvSpPr>
        <p:spPr>
          <a:xfrm>
            <a:off x="3546305" y="5651086"/>
            <a:ext cx="59708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N=50,376, scoring moderate to severe 6/1-6/30, “Choose up to 3”</a:t>
            </a:r>
          </a:p>
          <a:p>
            <a:r>
              <a:rPr lang="en-US" sz="1600" dirty="0"/>
              <a:t>“Racism” added as option on 6/16</a:t>
            </a:r>
          </a:p>
        </p:txBody>
      </p:sp>
    </p:spTree>
    <p:extLst>
      <p:ext uri="{BB962C8B-B14F-4D97-AF65-F5344CB8AC3E}">
        <p14:creationId xmlns:p14="http://schemas.microsoft.com/office/powerpoint/2010/main" val="390750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30BBF-D4F8-441B-BCB0-B3567CED1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Screeners Are Not “Worried Well”:</a:t>
            </a:r>
            <a:br>
              <a:rPr lang="en-US" sz="3200" dirty="0"/>
            </a:br>
            <a:r>
              <a:rPr lang="en-US" sz="3200" dirty="0"/>
              <a:t>Depression Severity Higher In March-June v. Jan-Feb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FCD6C-7D23-4C20-84F3-F0AAF3EFC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81586-5FD3-4F71-9E3B-B6858CCFB7FA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FEC2403-6A88-401D-8390-102463E06B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7170914"/>
              </p:ext>
            </p:extLst>
          </p:nvPr>
        </p:nvGraphicFramePr>
        <p:xfrm>
          <a:off x="522288" y="1823358"/>
          <a:ext cx="11147425" cy="40599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60974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A53C9-0A69-48A2-A7E3-F8AA062C0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More Than 25,000 People Considered Self-Harm or Suicide in June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1007C-52B5-4752-8F6F-D8C9CB3E9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81586-5FD3-4F71-9E3B-B6858CCFB7FA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5F43849-91E4-48FD-B05C-E392FCB90A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2159437"/>
              </p:ext>
            </p:extLst>
          </p:nvPr>
        </p:nvGraphicFramePr>
        <p:xfrm>
          <a:off x="522288" y="1420589"/>
          <a:ext cx="11147425" cy="466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2135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5F88-9321-4CB7-AA63-7CC37597D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Young People in June Still Disproportionately Experiencing Depression and Anxiety</a:t>
            </a:r>
            <a:br>
              <a:rPr lang="en-US" sz="4000" dirty="0"/>
            </a:br>
            <a:r>
              <a:rPr lang="en-US" sz="1400" dirty="0"/>
              <a:t>Percent Moderate to Severe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12129-4E31-481D-A757-DB9E7321E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81586-5FD3-4F71-9E3B-B6858CCFB7FA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01ABBC72-CE49-4165-A811-EEAC3B9CDA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0909850"/>
              </p:ext>
            </p:extLst>
          </p:nvPr>
        </p:nvGraphicFramePr>
        <p:xfrm>
          <a:off x="522288" y="1516284"/>
          <a:ext cx="11147425" cy="43669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34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F2EB-8123-49DD-9E64-A09F6EFC8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Special Populations: Positive for Depression and Anxiety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DC03A-8744-4051-8BD2-56E4479D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81586-5FD3-4F71-9E3B-B6858CCFB7FA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B1C5B70-264E-4BE6-9C4B-0785F7851B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5585771"/>
              </p:ext>
            </p:extLst>
          </p:nvPr>
        </p:nvGraphicFramePr>
        <p:xfrm>
          <a:off x="522288" y="1458410"/>
          <a:ext cx="11147425" cy="44248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33038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0BB5D8-28D0-4C3B-810E-86BB9E1D8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59A0-2740-40F5-9431-3B7C887B04EE}" type="slidenum">
              <a:rPr lang="en-US" smtClean="0"/>
              <a:t>20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F97C8F-0330-4AD2-95FD-F92E05DE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 More Resources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08AA8-7BFD-4176-909B-AA1E6FA85A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For MHA COVID-19 resources: </a:t>
            </a:r>
            <a:r>
              <a:rPr lang="en-US" dirty="0">
                <a:hlinkClick r:id="rId2"/>
              </a:rPr>
              <a:t>https://www.mhanational.org/covid19</a:t>
            </a:r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For other mental health COVID-19 resources: </a:t>
            </a:r>
            <a:r>
              <a:rPr lang="en-US" dirty="0">
                <a:hlinkClick r:id="rId3"/>
              </a:rPr>
              <a:t>https://psychhub.com/covid-19/</a:t>
            </a:r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To take a free mental health screen: </a:t>
            </a:r>
            <a:r>
              <a:rPr lang="en-US" dirty="0">
                <a:hlinkClick r:id="rId4"/>
              </a:rPr>
              <a:t>https://screening.mhanational.org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555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B9190A-09D9-4D75-B6EC-3E2D69B0A0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E2222-C7D9-432B-A736-4DE25D5216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pgionfriddo@mhanational.org</a:t>
            </a:r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pgionfriddo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3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MHA">
      <a:dk1>
        <a:sysClr val="windowText" lastClr="000000"/>
      </a:dk1>
      <a:lt1>
        <a:sysClr val="window" lastClr="FFFFFF"/>
      </a:lt1>
      <a:dk2>
        <a:srgbClr val="797979"/>
      </a:dk2>
      <a:lt2>
        <a:srgbClr val="385988"/>
      </a:lt2>
      <a:accent1>
        <a:srgbClr val="385988"/>
      </a:accent1>
      <a:accent2>
        <a:srgbClr val="1BAAAA"/>
      </a:accent2>
      <a:accent3>
        <a:srgbClr val="975381"/>
      </a:accent3>
      <a:accent4>
        <a:srgbClr val="FF9F37"/>
      </a:accent4>
      <a:accent5>
        <a:srgbClr val="F95D62"/>
      </a:accent5>
      <a:accent6>
        <a:srgbClr val="C5C5C5"/>
      </a:accent6>
      <a:hlink>
        <a:srgbClr val="1BAAAA"/>
      </a:hlink>
      <a:folHlink>
        <a:srgbClr val="206779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2B3AF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HA Template 10.24.16.potx" id="{54AA7439-DBDE-4580-AE58-864B0C7357F7}" vid="{8E1FAB3C-F302-4FD6-99CE-928430DC552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6828</TotalTime>
  <Words>1080</Words>
  <Application>Microsoft Office PowerPoint</Application>
  <PresentationFormat>Widescreen</PresentationFormat>
  <Paragraphs>184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Calibri</vt:lpstr>
      <vt:lpstr>Candara</vt:lpstr>
      <vt:lpstr>Century Gothic</vt:lpstr>
      <vt:lpstr>Corbel</vt:lpstr>
      <vt:lpstr>Gill Sans</vt:lpstr>
      <vt:lpstr>Source Sans Pro ExtraLight</vt:lpstr>
      <vt:lpstr>Tahoma</vt:lpstr>
      <vt:lpstr>Wingdings</vt:lpstr>
      <vt:lpstr>1_Office Theme</vt:lpstr>
      <vt:lpstr>PowerPoint Presentation</vt:lpstr>
      <vt:lpstr>Mental Health and COVID-19: More than 169,000 People Impacted by Anxiety and Depression</vt:lpstr>
      <vt:lpstr>Mental Health and COVID-19: Thoughts of Suicide &amp; Self-Harm at Epidemic Levels in both May and June</vt:lpstr>
      <vt:lpstr>MHA Screening (www.mhascreening.org):  Nearly 5.5 Million Completed Screens</vt:lpstr>
      <vt:lpstr>MHA Screening</vt:lpstr>
      <vt:lpstr>In June, Per Day Anxiety Screenings Increased by 406% over January</vt:lpstr>
      <vt:lpstr>In June, Per Day Depression Screenings Increased by 457% over January</vt:lpstr>
      <vt:lpstr>More Than 64,108 Additional Screeners Have Anxiety Since COVID-19 Pandemic</vt:lpstr>
      <vt:lpstr>More Than 105,135 Additional Screeners Have Depression Since COVID-19 Pandemic</vt:lpstr>
      <vt:lpstr>Psychosis: Those Screening “Positive” Increased Dramatically in May &amp; June</vt:lpstr>
      <vt:lpstr>Psychosis Screening: Severity Also Up in June 2020</vt:lpstr>
      <vt:lpstr>May Anxiety Screeners: The Main Things Contributing to Mental Health Problems Right Now</vt:lpstr>
      <vt:lpstr>June Anxiety Screeners: The Main Things Contributing to Mental Health Problems Right Now</vt:lpstr>
      <vt:lpstr>May Depression Screeners: The Main Things Contributing to Mental Health Problems Right Now</vt:lpstr>
      <vt:lpstr>June Depression Screeners: The Main Things Contributing to Mental Health Problems Right Now</vt:lpstr>
      <vt:lpstr>Screeners Are Not “Worried Well”: Depression Severity Higher In March-June v. Jan-Feb</vt:lpstr>
      <vt:lpstr>More Than 25,000 People Considered Self-Harm or Suicide in June</vt:lpstr>
      <vt:lpstr>Young People in June Still Disproportionately Experiencing Depression and Anxiety Percent Moderate to Severe</vt:lpstr>
      <vt:lpstr>Special Populations: Positive for Depression and Anxiety</vt:lpstr>
      <vt:lpstr>For More Resources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Madeline Reinert</dc:creator>
  <cp:lastModifiedBy>Paul Gionfriddo</cp:lastModifiedBy>
  <cp:revision>127</cp:revision>
  <dcterms:created xsi:type="dcterms:W3CDTF">2020-03-05T14:28:01Z</dcterms:created>
  <dcterms:modified xsi:type="dcterms:W3CDTF">2020-07-16T18:04:45Z</dcterms:modified>
</cp:coreProperties>
</file>