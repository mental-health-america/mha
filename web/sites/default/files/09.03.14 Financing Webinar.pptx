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53"/>
  </p:notesMasterIdLst>
  <p:sldIdLst>
    <p:sldId id="313" r:id="rId3"/>
    <p:sldId id="256" r:id="rId4"/>
    <p:sldId id="276" r:id="rId5"/>
    <p:sldId id="257" r:id="rId6"/>
    <p:sldId id="277" r:id="rId7"/>
    <p:sldId id="278" r:id="rId8"/>
    <p:sldId id="283" r:id="rId9"/>
    <p:sldId id="279" r:id="rId10"/>
    <p:sldId id="258" r:id="rId11"/>
    <p:sldId id="263" r:id="rId12"/>
    <p:sldId id="264" r:id="rId13"/>
    <p:sldId id="280" r:id="rId14"/>
    <p:sldId id="265" r:id="rId15"/>
    <p:sldId id="259" r:id="rId16"/>
    <p:sldId id="260" r:id="rId17"/>
    <p:sldId id="261" r:id="rId18"/>
    <p:sldId id="262" r:id="rId19"/>
    <p:sldId id="266" r:id="rId20"/>
    <p:sldId id="267" r:id="rId21"/>
    <p:sldId id="286" r:id="rId22"/>
    <p:sldId id="287" r:id="rId23"/>
    <p:sldId id="288" r:id="rId24"/>
    <p:sldId id="289" r:id="rId25"/>
    <p:sldId id="290" r:id="rId26"/>
    <p:sldId id="291" r:id="rId27"/>
    <p:sldId id="292" r:id="rId28"/>
    <p:sldId id="293" r:id="rId29"/>
    <p:sldId id="294" r:id="rId30"/>
    <p:sldId id="295" r:id="rId31"/>
    <p:sldId id="270" r:id="rId32"/>
    <p:sldId id="272" r:id="rId33"/>
    <p:sldId id="273" r:id="rId34"/>
    <p:sldId id="274" r:id="rId35"/>
    <p:sldId id="275" r:id="rId36"/>
    <p:sldId id="307" r:id="rId37"/>
    <p:sldId id="296" r:id="rId38"/>
    <p:sldId id="297" r:id="rId39"/>
    <p:sldId id="298" r:id="rId40"/>
    <p:sldId id="299" r:id="rId41"/>
    <p:sldId id="300" r:id="rId42"/>
    <p:sldId id="301" r:id="rId43"/>
    <p:sldId id="302" r:id="rId44"/>
    <p:sldId id="303" r:id="rId45"/>
    <p:sldId id="304" r:id="rId46"/>
    <p:sldId id="312" r:id="rId47"/>
    <p:sldId id="308" r:id="rId48"/>
    <p:sldId id="309" r:id="rId49"/>
    <p:sldId id="310" r:id="rId50"/>
    <p:sldId id="311" r:id="rId51"/>
    <p:sldId id="305"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Shern" initials="D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53" autoAdjust="0"/>
    <p:restoredTop sz="83044" autoAdjust="0"/>
  </p:normalViewPr>
  <p:slideViewPr>
    <p:cSldViewPr>
      <p:cViewPr>
        <p:scale>
          <a:sx n="74" d="100"/>
          <a:sy n="74" d="100"/>
        </p:scale>
        <p:origin x="-786" y="-4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8FB1B7-B6AE-449B-9176-22F54382E1F7}" type="datetimeFigureOut">
              <a:rPr lang="en-US" smtClean="0"/>
              <a:pPr/>
              <a:t>9/17/2014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F3C5AF-85B7-4395-A9D6-3643E9DB815A}" type="slidenum">
              <a:rPr lang="en-US" smtClean="0"/>
              <a:pPr/>
              <a:t>‹#›</a:t>
            </a:fld>
            <a:endParaRPr lang="en-US"/>
          </a:p>
        </p:txBody>
      </p:sp>
    </p:spTree>
    <p:extLst>
      <p:ext uri="{BB962C8B-B14F-4D97-AF65-F5344CB8AC3E}">
        <p14:creationId xmlns:p14="http://schemas.microsoft.com/office/powerpoint/2010/main" val="855599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First bullet – emphasize</a:t>
            </a:r>
            <a:r>
              <a:rPr lang="en-US" baseline="0" dirty="0" smtClean="0"/>
              <a:t> BH is integral to general health and social indicators – educational attainment, JJ/CJ, poverty, etc.</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Sarah begins</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Compared</a:t>
            </a:r>
            <a:r>
              <a:rPr lang="en-US" baseline="0" dirty="0" smtClean="0"/>
              <a:t> with other countries, d</a:t>
            </a:r>
            <a:r>
              <a:rPr lang="en-US" dirty="0" smtClean="0"/>
              <a:t>eclining health and social outcomes – BH, general health (obesity,</a:t>
            </a:r>
            <a:r>
              <a:rPr lang="en-US" baseline="0" dirty="0" smtClean="0"/>
              <a:t> diabetes, infant mortality, etc.), educational outcomes, violence, poverty, etc.</a:t>
            </a:r>
          </a:p>
          <a:p>
            <a:pPr>
              <a:buFont typeface="Arial" pitchFamily="34" charset="0"/>
              <a:buChar char="•"/>
            </a:pPr>
            <a:r>
              <a:rPr lang="en-US" baseline="0" dirty="0" smtClean="0"/>
              <a:t>Broadly conceived prevention – from bio/genetics, programs/services for individuals to community development, state and federal laws, etc.</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is from our</a:t>
            </a:r>
            <a:r>
              <a:rPr lang="en-US" baseline="0" dirty="0" smtClean="0"/>
              <a:t> presentation last year – this could be deleted</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Define human capital</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is from our</a:t>
            </a:r>
            <a:r>
              <a:rPr lang="en-US" baseline="0" dirty="0" smtClean="0"/>
              <a:t> presentation last year – this could be deleted</a:t>
            </a:r>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Goals of human service</a:t>
            </a:r>
            <a:r>
              <a:rPr lang="en-US" baseline="0" dirty="0" smtClean="0"/>
              <a:t> sectors, not just BH</a:t>
            </a:r>
            <a:endParaRPr lang="en-US" dirty="0" smtClean="0"/>
          </a:p>
          <a:p>
            <a:endParaRPr lang="en-US" dirty="0" smtClean="0"/>
          </a:p>
          <a:p>
            <a:r>
              <a:rPr lang="en-US" dirty="0" smtClean="0"/>
              <a:t>Note: Environmental</a:t>
            </a:r>
            <a:r>
              <a:rPr lang="en-US" baseline="0" dirty="0" smtClean="0"/>
              <a:t> strategies and programmatic strategies</a:t>
            </a:r>
          </a:p>
          <a:p>
            <a:endParaRPr lang="en-US" baseline="0" dirty="0" smtClean="0"/>
          </a:p>
          <a:p>
            <a:r>
              <a:rPr lang="en-US" baseline="0" dirty="0" smtClean="0"/>
              <a:t>This is adapted from last year’s webinar – but it might be good to point out at the beginning that we’re talking about both environmental strategies and prevention programs</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SABG – 20% must</a:t>
            </a:r>
            <a:r>
              <a:rPr lang="en-US" baseline="0" dirty="0" smtClean="0"/>
              <a:t> go to prevention</a:t>
            </a:r>
          </a:p>
          <a:p>
            <a:pPr>
              <a:buFont typeface="Arial" pitchFamily="34" charset="0"/>
              <a:buChar char="•"/>
            </a:pPr>
            <a:r>
              <a:rPr lang="en-US" baseline="0" dirty="0" smtClean="0"/>
              <a:t>Fed Block Grants – many different agencies, across lifespan </a:t>
            </a:r>
          </a:p>
          <a:p>
            <a:pPr>
              <a:buFont typeface="Arial" pitchFamily="34" charset="0"/>
              <a:buChar char="•"/>
            </a:pPr>
            <a:r>
              <a:rPr lang="en-US" baseline="0" dirty="0" smtClean="0"/>
              <a:t>Discretionary programs – SPF, Partnerships for Success, Launch, SS/HS</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16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PPHF – what many/most think of from the ACA</a:t>
            </a:r>
          </a:p>
          <a:p>
            <a:pPr>
              <a:buFont typeface="Arial" pitchFamily="34" charset="0"/>
              <a:buChar char="•"/>
            </a:pPr>
            <a:r>
              <a:rPr lang="en-US" dirty="0" smtClean="0"/>
              <a:t>USPSTF – start, but mostly screening.</a:t>
            </a:r>
            <a:r>
              <a:rPr lang="en-US" baseline="0" dirty="0" smtClean="0"/>
              <a:t> Mention community preventive services task force here?</a:t>
            </a:r>
          </a:p>
          <a:p>
            <a:pPr>
              <a:buFont typeface="Arial" pitchFamily="34" charset="0"/>
              <a:buChar char="•"/>
            </a:pPr>
            <a:r>
              <a:rPr lang="en-US" baseline="0" dirty="0" smtClean="0"/>
              <a:t>Universal coverage – Medicaid expansion, marketplaces – provides incentives to keep the entire population healthy</a:t>
            </a:r>
          </a:p>
          <a:p>
            <a:pPr>
              <a:buFont typeface="Arial" pitchFamily="34" charset="0"/>
              <a:buChar char="•"/>
            </a:pPr>
            <a:r>
              <a:rPr lang="en-US" baseline="0" dirty="0" smtClean="0"/>
              <a:t>Risk-based – </a:t>
            </a:r>
            <a:r>
              <a:rPr lang="en-US" baseline="0" dirty="0" err="1" smtClean="0"/>
              <a:t>capitated</a:t>
            </a:r>
            <a:r>
              <a:rPr lang="en-US" baseline="0" dirty="0" smtClean="0"/>
              <a:t> plans give incentive to keep all </a:t>
            </a:r>
            <a:r>
              <a:rPr lang="en-US" baseline="0" dirty="0" err="1" smtClean="0"/>
              <a:t>benefiaries</a:t>
            </a:r>
            <a:r>
              <a:rPr lang="en-US" baseline="0" dirty="0" smtClean="0"/>
              <a:t> covered (VT model), ACO models can also be mentioned here</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17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Both clinical/</a:t>
            </a:r>
            <a:r>
              <a:rPr lang="en-US" baseline="0" dirty="0" smtClean="0"/>
              <a:t>individual and environmental/population-based</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18</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Implementation and evaluation is such an important part of a successful</a:t>
            </a:r>
            <a:r>
              <a:rPr lang="en-US" baseline="0" dirty="0" smtClean="0"/>
              <a:t> SIB, therefore we need to get implementation right</a:t>
            </a:r>
          </a:p>
        </p:txBody>
      </p:sp>
      <p:sp>
        <p:nvSpPr>
          <p:cNvPr id="4" name="Slide Number Placeholder 3"/>
          <p:cNvSpPr>
            <a:spLocks noGrp="1"/>
          </p:cNvSpPr>
          <p:nvPr>
            <p:ph type="sldNum" sz="quarter" idx="10"/>
          </p:nvPr>
        </p:nvSpPr>
        <p:spPr/>
        <p:txBody>
          <a:bodyPr/>
          <a:lstStyle/>
          <a:p>
            <a:fld id="{ECF3C5AF-85B7-4395-A9D6-3643E9DB815A}" type="slidenum">
              <a:rPr lang="en-US" smtClean="0"/>
              <a:pPr/>
              <a:t>30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PROSPER/CTC</a:t>
            </a:r>
          </a:p>
          <a:p>
            <a:pPr marL="342900" marR="0" lvl="0" indent="-342900">
              <a:lnSpc>
                <a:spcPct val="115000"/>
              </a:lnSpc>
              <a:spcBef>
                <a:spcPts val="0"/>
              </a:spcBef>
              <a:spcAft>
                <a:spcPts val="750"/>
              </a:spcAft>
              <a:buFont typeface="Symbol"/>
              <a:buChar char=""/>
            </a:pPr>
            <a:r>
              <a:rPr lang="en-US" sz="1200" dirty="0" smtClean="0">
                <a:solidFill>
                  <a:srgbClr val="000000"/>
                </a:solidFill>
                <a:latin typeface="+mn-lt"/>
                <a:ea typeface="Times New Roman"/>
                <a:cs typeface="Calibri"/>
              </a:rPr>
              <a:t>forming coalitions that include important community leaders and stakeholders, </a:t>
            </a:r>
            <a:endParaRPr lang="en-US" sz="1200" dirty="0" smtClean="0">
              <a:latin typeface="+mn-lt"/>
              <a:ea typeface="Times New Roman"/>
              <a:cs typeface="Times New Roman"/>
            </a:endParaRPr>
          </a:p>
          <a:p>
            <a:pPr marL="342900" marR="0" lvl="0" indent="-342900">
              <a:lnSpc>
                <a:spcPct val="115000"/>
              </a:lnSpc>
              <a:spcBef>
                <a:spcPts val="0"/>
              </a:spcBef>
              <a:spcAft>
                <a:spcPts val="750"/>
              </a:spcAft>
              <a:buFont typeface="Symbol"/>
              <a:buChar char=""/>
            </a:pPr>
            <a:r>
              <a:rPr lang="en-US" sz="1200" dirty="0" smtClean="0">
                <a:solidFill>
                  <a:srgbClr val="000000"/>
                </a:solidFill>
                <a:latin typeface="+mn-lt"/>
                <a:ea typeface="Times New Roman"/>
                <a:cs typeface="Calibri"/>
              </a:rPr>
              <a:t>conducting a systematic needs assessment, </a:t>
            </a:r>
            <a:endParaRPr lang="en-US" sz="1200" dirty="0" smtClean="0">
              <a:latin typeface="+mn-lt"/>
              <a:ea typeface="Times New Roman"/>
              <a:cs typeface="Times New Roman"/>
            </a:endParaRPr>
          </a:p>
          <a:p>
            <a:pPr marL="342900" marR="0" lvl="0" indent="-342900">
              <a:lnSpc>
                <a:spcPct val="115000"/>
              </a:lnSpc>
              <a:spcBef>
                <a:spcPts val="0"/>
              </a:spcBef>
              <a:spcAft>
                <a:spcPts val="750"/>
              </a:spcAft>
              <a:buFont typeface="Symbol"/>
              <a:buChar char=""/>
            </a:pPr>
            <a:r>
              <a:rPr lang="en-US" sz="1200" dirty="0" smtClean="0">
                <a:solidFill>
                  <a:srgbClr val="000000"/>
                </a:solidFill>
                <a:latin typeface="+mn-lt"/>
                <a:ea typeface="Times New Roman"/>
                <a:cs typeface="Calibri"/>
              </a:rPr>
              <a:t>identifying evidence-based interventions that respond to these needs, </a:t>
            </a:r>
            <a:endParaRPr lang="en-US" sz="1200" dirty="0" smtClean="0">
              <a:latin typeface="+mn-lt"/>
              <a:ea typeface="Times New Roman"/>
              <a:cs typeface="Times New Roman"/>
            </a:endParaRPr>
          </a:p>
          <a:p>
            <a:pPr marL="342900" marR="0" lvl="0" indent="-342900">
              <a:lnSpc>
                <a:spcPct val="115000"/>
              </a:lnSpc>
              <a:spcBef>
                <a:spcPts val="0"/>
              </a:spcBef>
              <a:spcAft>
                <a:spcPts val="750"/>
              </a:spcAft>
              <a:buFont typeface="Symbol"/>
              <a:buChar char=""/>
            </a:pPr>
            <a:r>
              <a:rPr lang="en-US" sz="1200" dirty="0" smtClean="0">
                <a:solidFill>
                  <a:srgbClr val="000000"/>
                </a:solidFill>
                <a:latin typeface="+mn-lt"/>
                <a:ea typeface="Times New Roman"/>
                <a:cs typeface="Calibri"/>
              </a:rPr>
              <a:t>implementing targeted interventions that address these needs with fidelity, and </a:t>
            </a:r>
            <a:endParaRPr lang="en-US" sz="1200" dirty="0" smtClean="0">
              <a:latin typeface="+mn-lt"/>
              <a:ea typeface="Times New Roman"/>
              <a:cs typeface="Times New Roman"/>
            </a:endParaRPr>
          </a:p>
          <a:p>
            <a:pPr marL="342900" marR="0" lvl="0" indent="-342900">
              <a:lnSpc>
                <a:spcPct val="115000"/>
              </a:lnSpc>
              <a:spcBef>
                <a:spcPts val="0"/>
              </a:spcBef>
              <a:spcAft>
                <a:spcPts val="750"/>
              </a:spcAft>
              <a:buFont typeface="Symbol"/>
              <a:buChar char=""/>
            </a:pPr>
            <a:r>
              <a:rPr lang="en-US" sz="1200" dirty="0" smtClean="0">
                <a:solidFill>
                  <a:srgbClr val="000000"/>
                </a:solidFill>
                <a:latin typeface="+mn-lt"/>
                <a:ea typeface="Times New Roman"/>
                <a:cs typeface="Calibri"/>
              </a:rPr>
              <a:t>conducting ongoing program evaluation.  </a:t>
            </a:r>
            <a:endParaRPr lang="en-US" sz="1200" dirty="0" smtClean="0">
              <a:latin typeface="+mn-lt"/>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31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Purveyors can help with this – marketing</a:t>
            </a:r>
            <a:r>
              <a:rPr lang="en-US" baseline="0" dirty="0" smtClean="0"/>
              <a:t> strategies to gain funding and get decision makers on board (from Dennis)</a:t>
            </a:r>
          </a:p>
          <a:p>
            <a:endParaRPr lang="en-US" baseline="0" dirty="0" smtClean="0"/>
          </a:p>
          <a:p>
            <a:pPr marL="1143000" marR="0" lvl="2" indent="-228600">
              <a:lnSpc>
                <a:spcPct val="115000"/>
              </a:lnSpc>
              <a:spcBef>
                <a:spcPts val="0"/>
              </a:spcBef>
              <a:spcAft>
                <a:spcPts val="0"/>
              </a:spcAft>
              <a:buFont typeface="+mj-lt"/>
              <a:buAutoNum type="arabicPeriod"/>
            </a:pPr>
            <a:r>
              <a:rPr lang="en-US" sz="1200" dirty="0" smtClean="0">
                <a:solidFill>
                  <a:srgbClr val="000000"/>
                </a:solidFill>
                <a:latin typeface="+mn-lt"/>
                <a:ea typeface="Times New Roman"/>
                <a:cs typeface="Calibri"/>
              </a:rPr>
              <a:t>Demonstration programs must have easily </a:t>
            </a:r>
            <a:r>
              <a:rPr lang="en-US" sz="1200" i="1" dirty="0" smtClean="0">
                <a:solidFill>
                  <a:srgbClr val="000000"/>
                </a:solidFill>
                <a:latin typeface="+mn-lt"/>
                <a:ea typeface="Times New Roman"/>
                <a:cs typeface="Calibri"/>
              </a:rPr>
              <a:t>observable and measurable "early wins,"</a:t>
            </a:r>
            <a:r>
              <a:rPr lang="en-US" sz="1200" dirty="0" smtClean="0">
                <a:solidFill>
                  <a:srgbClr val="000000"/>
                </a:solidFill>
                <a:latin typeface="+mn-lt"/>
                <a:ea typeface="Times New Roman"/>
                <a:cs typeface="Calibri"/>
              </a:rPr>
              <a:t> which are identified by participants and stakeholders. For the GBG, this is typically rapid reduction in problem behaviors that are noted by teachers, administrators, students, and parents.</a:t>
            </a:r>
            <a:endParaRPr lang="en-US" sz="1200" dirty="0" smtClean="0">
              <a:latin typeface="+mn-lt"/>
              <a:ea typeface="Times New Roman"/>
              <a:cs typeface="Times New Roman"/>
            </a:endParaRPr>
          </a:p>
          <a:p>
            <a:pPr marL="1143000" marR="0" lvl="2" indent="-228600">
              <a:lnSpc>
                <a:spcPct val="115000"/>
              </a:lnSpc>
              <a:spcBef>
                <a:spcPts val="0"/>
              </a:spcBef>
              <a:spcAft>
                <a:spcPts val="0"/>
              </a:spcAft>
              <a:buFont typeface="+mj-lt"/>
              <a:buAutoNum type="arabicPeriod"/>
            </a:pPr>
            <a:r>
              <a:rPr lang="en-US" sz="1200" dirty="0" smtClean="0">
                <a:solidFill>
                  <a:srgbClr val="000000"/>
                </a:solidFill>
                <a:latin typeface="+mn-lt"/>
                <a:ea typeface="Times New Roman"/>
                <a:cs typeface="Calibri"/>
              </a:rPr>
              <a:t>In addition to a reduction in problems, program success is often tied to an increase in </a:t>
            </a:r>
            <a:r>
              <a:rPr lang="en-US" sz="1200" i="1" dirty="0" smtClean="0">
                <a:solidFill>
                  <a:srgbClr val="000000"/>
                </a:solidFill>
                <a:latin typeface="+mn-lt"/>
                <a:ea typeface="Times New Roman"/>
                <a:cs typeface="Calibri"/>
              </a:rPr>
              <a:t>positive behaviors</a:t>
            </a:r>
            <a:r>
              <a:rPr lang="en-US" sz="1200" dirty="0" smtClean="0">
                <a:solidFill>
                  <a:srgbClr val="000000"/>
                </a:solidFill>
                <a:latin typeface="+mn-lt"/>
                <a:ea typeface="Times New Roman"/>
                <a:cs typeface="Calibri"/>
              </a:rPr>
              <a:t>, including increased pro-social behaviors, self-regulation, and feelings of hope.</a:t>
            </a:r>
            <a:endParaRPr lang="en-US" sz="1200" dirty="0" smtClean="0">
              <a:latin typeface="+mn-lt"/>
              <a:ea typeface="Times New Roman"/>
              <a:cs typeface="Times New Roman"/>
            </a:endParaRPr>
          </a:p>
          <a:p>
            <a:pPr marL="1143000" marR="0" lvl="2" indent="-228600">
              <a:lnSpc>
                <a:spcPct val="115000"/>
              </a:lnSpc>
              <a:spcBef>
                <a:spcPts val="0"/>
              </a:spcBef>
              <a:spcAft>
                <a:spcPts val="0"/>
              </a:spcAft>
              <a:buFont typeface="+mj-lt"/>
              <a:buAutoNum type="arabicPeriod"/>
            </a:pPr>
            <a:r>
              <a:rPr lang="en-US" sz="1200" dirty="0" smtClean="0">
                <a:solidFill>
                  <a:srgbClr val="000000"/>
                </a:solidFill>
                <a:latin typeface="+mn-lt"/>
                <a:ea typeface="Times New Roman"/>
                <a:cs typeface="Calibri"/>
              </a:rPr>
              <a:t>The observable </a:t>
            </a:r>
            <a:r>
              <a:rPr lang="en-US" sz="1200" i="1" dirty="0" smtClean="0">
                <a:solidFill>
                  <a:srgbClr val="000000"/>
                </a:solidFill>
                <a:latin typeface="+mn-lt"/>
                <a:ea typeface="Times New Roman"/>
                <a:cs typeface="Calibri"/>
              </a:rPr>
              <a:t>changes affect current well-being</a:t>
            </a:r>
            <a:r>
              <a:rPr lang="en-US" sz="1200" dirty="0" smtClean="0">
                <a:solidFill>
                  <a:srgbClr val="000000"/>
                </a:solidFill>
                <a:latin typeface="+mn-lt"/>
                <a:ea typeface="Times New Roman"/>
                <a:cs typeface="Calibri"/>
              </a:rPr>
              <a:t> (helps kids, teachers, and families feel better) rather than specific reductions (present or future) in diagnosable MEB disorders.</a:t>
            </a:r>
            <a:endParaRPr lang="en-US" sz="1200" dirty="0" smtClean="0">
              <a:latin typeface="+mn-lt"/>
              <a:ea typeface="Times New Roman"/>
              <a:cs typeface="Times New Roman"/>
            </a:endParaRPr>
          </a:p>
          <a:p>
            <a:pPr marL="1143000" marR="0" lvl="2" indent="-228600">
              <a:lnSpc>
                <a:spcPct val="115000"/>
              </a:lnSpc>
              <a:spcBef>
                <a:spcPts val="0"/>
              </a:spcBef>
              <a:spcAft>
                <a:spcPts val="0"/>
              </a:spcAft>
              <a:buFont typeface="+mj-lt"/>
              <a:buAutoNum type="arabicPeriod"/>
            </a:pPr>
            <a:r>
              <a:rPr lang="en-US" sz="1200" dirty="0" smtClean="0">
                <a:solidFill>
                  <a:srgbClr val="000000"/>
                </a:solidFill>
                <a:latin typeface="+mn-lt"/>
                <a:ea typeface="Times New Roman"/>
                <a:cs typeface="Calibri"/>
              </a:rPr>
              <a:t>First person accounts or </a:t>
            </a:r>
            <a:r>
              <a:rPr lang="en-US" sz="1200" i="1" dirty="0" smtClean="0">
                <a:solidFill>
                  <a:srgbClr val="000000"/>
                </a:solidFill>
                <a:latin typeface="+mn-lt"/>
                <a:ea typeface="Times New Roman"/>
                <a:cs typeface="Calibri"/>
              </a:rPr>
              <a:t>testimonials</a:t>
            </a:r>
            <a:r>
              <a:rPr lang="en-US" sz="1200" dirty="0" smtClean="0">
                <a:solidFill>
                  <a:srgbClr val="000000"/>
                </a:solidFill>
                <a:latin typeface="+mn-lt"/>
                <a:ea typeface="Times New Roman"/>
                <a:cs typeface="Calibri"/>
              </a:rPr>
              <a:t> can be utilized in conjunction with program evaluation data.</a:t>
            </a:r>
            <a:endParaRPr lang="en-US" sz="1200" dirty="0" smtClean="0">
              <a:latin typeface="+mn-lt"/>
              <a:ea typeface="Times New Roman"/>
              <a:cs typeface="Times New Roman"/>
            </a:endParaRPr>
          </a:p>
          <a:p>
            <a:pPr marL="1143000" marR="0" lvl="2" indent="-228600">
              <a:lnSpc>
                <a:spcPct val="115000"/>
              </a:lnSpc>
              <a:spcBef>
                <a:spcPts val="0"/>
              </a:spcBef>
              <a:spcAft>
                <a:spcPts val="0"/>
              </a:spcAft>
              <a:buFont typeface="+mj-lt"/>
              <a:buAutoNum type="arabicPeriod"/>
            </a:pPr>
            <a:r>
              <a:rPr lang="en-US" sz="1200" dirty="0" smtClean="0">
                <a:solidFill>
                  <a:srgbClr val="000000"/>
                </a:solidFill>
                <a:latin typeface="+mn-lt"/>
                <a:ea typeface="Times New Roman"/>
                <a:cs typeface="Calibri"/>
              </a:rPr>
              <a:t>After 6-12 months, the program has an </a:t>
            </a:r>
            <a:r>
              <a:rPr lang="en-US" sz="1200" i="1" dirty="0" smtClean="0">
                <a:solidFill>
                  <a:srgbClr val="000000"/>
                </a:solidFill>
                <a:latin typeface="+mn-lt"/>
                <a:ea typeface="Times New Roman"/>
                <a:cs typeface="Calibri"/>
              </a:rPr>
              <a:t>observable effect on institutional indicators</a:t>
            </a:r>
            <a:r>
              <a:rPr lang="en-US" sz="1200" dirty="0" smtClean="0">
                <a:solidFill>
                  <a:srgbClr val="000000"/>
                </a:solidFill>
                <a:latin typeface="+mn-lt"/>
                <a:ea typeface="Times New Roman"/>
                <a:cs typeface="Calibri"/>
              </a:rPr>
              <a:t> associated with the cost and burdens related to MEB problems.</a:t>
            </a:r>
            <a:endParaRPr lang="en-US" sz="1200" dirty="0" smtClean="0">
              <a:solidFill>
                <a:schemeClr val="tx1"/>
              </a:solidFill>
              <a:latin typeface="+mn-lt"/>
              <a:ea typeface="Times New Roman"/>
              <a:cs typeface="Times New Roman"/>
            </a:endParaRPr>
          </a:p>
          <a:p>
            <a:pPr marL="1143000" marR="0" lvl="2" indent="-228600">
              <a:lnSpc>
                <a:spcPct val="115000"/>
              </a:lnSpc>
              <a:spcBef>
                <a:spcPts val="0"/>
              </a:spcBef>
              <a:spcAft>
                <a:spcPts val="0"/>
              </a:spcAft>
              <a:buFont typeface="+mj-lt"/>
              <a:buAutoNum type="arabicPeriod"/>
            </a:pPr>
            <a:r>
              <a:rPr lang="en-US" sz="1200" dirty="0" smtClean="0">
                <a:solidFill>
                  <a:srgbClr val="000000"/>
                </a:solidFill>
                <a:latin typeface="+mn-lt"/>
                <a:ea typeface="Times New Roman"/>
                <a:cs typeface="Calibri"/>
              </a:rPr>
              <a:t>Marketing of the program must be done with a </a:t>
            </a:r>
            <a:r>
              <a:rPr lang="en-US" sz="1200" i="1" dirty="0" smtClean="0">
                <a:solidFill>
                  <a:srgbClr val="000000"/>
                </a:solidFill>
                <a:latin typeface="+mn-lt"/>
                <a:ea typeface="Times New Roman"/>
                <a:cs typeface="Calibri"/>
              </a:rPr>
              <a:t>positive relational frame</a:t>
            </a:r>
            <a:r>
              <a:rPr lang="en-US" sz="1200" dirty="0" smtClean="0">
                <a:solidFill>
                  <a:srgbClr val="000000"/>
                </a:solidFill>
                <a:latin typeface="+mn-lt"/>
                <a:ea typeface="Times New Roman"/>
                <a:cs typeface="Calibri"/>
              </a:rPr>
              <a:t>, utilizing language that positively demonstrates the program's outcomes (e.g., improved student well-being and school environment), rather than a discussion of problems (e.g., reduction in MEB disorders), which can inadvertently create stigma and introduce negative connotations to the program.</a:t>
            </a:r>
            <a:endParaRPr lang="en-US" dirty="0"/>
          </a:p>
        </p:txBody>
      </p:sp>
      <p:sp>
        <p:nvSpPr>
          <p:cNvPr id="4" name="Slide Number Placeholder 3"/>
          <p:cNvSpPr>
            <a:spLocks noGrp="1"/>
          </p:cNvSpPr>
          <p:nvPr>
            <p:ph type="sldNum" sz="quarter" idx="10"/>
          </p:nvPr>
        </p:nvSpPr>
        <p:spPr/>
        <p:txBody>
          <a:bodyPr/>
          <a:lstStyle/>
          <a:p>
            <a:fld id="{ECF3C5AF-85B7-4395-A9D6-3643E9DB815A}" type="slidenum">
              <a:rPr lang="en-US" smtClean="0"/>
              <a:pPr/>
              <a:t>33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(Mention suicides)</a:t>
            </a:r>
          </a:p>
        </p:txBody>
      </p:sp>
      <p:sp>
        <p:nvSpPr>
          <p:cNvPr id="18435" name="Slide Number Placeholder 3"/>
          <p:cNvSpPr>
            <a:spLocks noGrp="1"/>
          </p:cNvSpPr>
          <p:nvPr>
            <p:ph type="sldNum" sz="quarter" idx="5"/>
          </p:nvPr>
        </p:nvSpPr>
        <p:spPr bwMode="auto">
          <a:noFill/>
          <a:ln>
            <a:miter lim="800000"/>
            <a:headEnd/>
            <a:tailEnd/>
          </a:ln>
        </p:spPr>
        <p:txBody>
          <a:bodyPr/>
          <a:lstStyle/>
          <a:p>
            <a:fld id="{0F8F2020-7F67-43ED-9C9E-2155A97EE34F}" type="slidenum">
              <a:rPr lang="en-US"/>
              <a:pPr/>
              <a:t>36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noFill/>
          <a:ln>
            <a:solidFill>
              <a:srgbClr val="000000"/>
            </a:solidFill>
            <a:miter lim="800000"/>
            <a:headEnd/>
            <a:tailEnd/>
          </a:ln>
        </p:spPr>
      </p:sp>
      <p:sp>
        <p:nvSpPr>
          <p:cNvPr id="2253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We could demonstrate how different programs can contribute to a particular problem behavior, and explain how we were tracking effectiveness at each stage.</a:t>
            </a:r>
          </a:p>
        </p:txBody>
      </p:sp>
      <p:sp>
        <p:nvSpPr>
          <p:cNvPr id="22531" name="Slide Number Placeholder 3"/>
          <p:cNvSpPr>
            <a:spLocks noGrp="1"/>
          </p:cNvSpPr>
          <p:nvPr>
            <p:ph type="sldNum" sz="quarter" idx="5"/>
          </p:nvPr>
        </p:nvSpPr>
        <p:spPr bwMode="auto">
          <a:noFill/>
          <a:ln>
            <a:miter lim="800000"/>
            <a:headEnd/>
            <a:tailEnd/>
          </a:ln>
        </p:spPr>
        <p:txBody>
          <a:bodyPr/>
          <a:lstStyle/>
          <a:p>
            <a:fld id="{FDB8DCB2-CE06-48A5-B1B8-ED708C07E1E3}" type="slidenum">
              <a:rPr lang="en-US"/>
              <a:pPr/>
              <a:t>39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bwMode="auto">
          <a:noFill/>
          <a:ln>
            <a:solidFill>
              <a:srgbClr val="000000"/>
            </a:solidFill>
            <a:miter lim="800000"/>
            <a:headEnd/>
            <a:tailEnd/>
          </a:ln>
        </p:spPr>
      </p:sp>
      <p:sp>
        <p:nvSpPr>
          <p:cNvPr id="2457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Because we focus upstream, we can demonstrate how reduction in one risk factor contributes to a variety of problem behaviors—allowing us to seek funding for a particular program from funders focusing on different outcomes.</a:t>
            </a:r>
          </a:p>
        </p:txBody>
      </p:sp>
      <p:sp>
        <p:nvSpPr>
          <p:cNvPr id="24579" name="Slide Number Placeholder 3"/>
          <p:cNvSpPr>
            <a:spLocks noGrp="1"/>
          </p:cNvSpPr>
          <p:nvPr>
            <p:ph type="sldNum" sz="quarter" idx="5"/>
          </p:nvPr>
        </p:nvSpPr>
        <p:spPr bwMode="auto">
          <a:noFill/>
          <a:ln>
            <a:miter lim="800000"/>
            <a:headEnd/>
            <a:tailEnd/>
          </a:ln>
        </p:spPr>
        <p:txBody>
          <a:bodyPr/>
          <a:lstStyle/>
          <a:p>
            <a:fld id="{53B3C738-0CAC-418F-A303-FF8F77999E73}" type="slidenum">
              <a:rPr lang="en-US"/>
              <a:pPr/>
              <a:t>40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6627" name="Slide Number Placeholder 3"/>
          <p:cNvSpPr>
            <a:spLocks noGrp="1"/>
          </p:cNvSpPr>
          <p:nvPr>
            <p:ph type="sldNum" sz="quarter" idx="5"/>
          </p:nvPr>
        </p:nvSpPr>
        <p:spPr bwMode="auto">
          <a:noFill/>
          <a:ln>
            <a:miter lim="800000"/>
            <a:headEnd/>
            <a:tailEnd/>
          </a:ln>
        </p:spPr>
        <p:txBody>
          <a:bodyPr/>
          <a:lstStyle/>
          <a:p>
            <a:fld id="{D5444BB5-A62E-41E9-A947-18AA91E72B49}" type="slidenum">
              <a:rPr lang="en-US"/>
              <a:pPr/>
              <a:t>41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Explain some of the details, but this is to give the idea of multiple funding streams. Mention DFC funding via SAMHSA.</a:t>
            </a:r>
          </a:p>
        </p:txBody>
      </p:sp>
      <p:sp>
        <p:nvSpPr>
          <p:cNvPr id="28675" name="Slide Number Placeholder 3"/>
          <p:cNvSpPr>
            <a:spLocks noGrp="1"/>
          </p:cNvSpPr>
          <p:nvPr>
            <p:ph type="sldNum" sz="quarter" idx="5"/>
          </p:nvPr>
        </p:nvSpPr>
        <p:spPr bwMode="auto">
          <a:noFill/>
          <a:ln>
            <a:miter lim="800000"/>
            <a:headEnd/>
            <a:tailEnd/>
          </a:ln>
        </p:spPr>
        <p:txBody>
          <a:bodyPr/>
          <a:lstStyle/>
          <a:p>
            <a:fld id="{4FA217C4-2DBF-4C82-BBE7-066E024B5335}" type="slidenum">
              <a:rPr lang="en-US"/>
              <a:pPr/>
              <a:t>42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Share details about partnerships that led to joint fundraising (know we can grow the pie, rather than split it into more pieces)</a:t>
            </a:r>
          </a:p>
          <a:p>
            <a:pPr eaLnBrk="1" hangingPunct="1">
              <a:spcBef>
                <a:spcPct val="0"/>
              </a:spcBef>
            </a:pPr>
            <a:r>
              <a:rPr lang="en-US" smtClean="0"/>
              <a:t>Don</a:t>
            </a:r>
            <a:r>
              <a:rPr lang="en-US" altLang="en-US" smtClean="0"/>
              <a:t>’</a:t>
            </a:r>
            <a:r>
              <a:rPr lang="en-US" smtClean="0"/>
              <a:t>t fail to consider the value of in-kind donations (space, expertise, audience sharing).</a:t>
            </a:r>
          </a:p>
          <a:p>
            <a:pPr eaLnBrk="1" hangingPunct="1">
              <a:spcBef>
                <a:spcPct val="0"/>
              </a:spcBef>
            </a:pPr>
            <a:r>
              <a:rPr lang="en-US" smtClean="0"/>
              <a:t>In Maine, no county-level funding for prevention.</a:t>
            </a:r>
          </a:p>
          <a:p>
            <a:pPr eaLnBrk="1" hangingPunct="1">
              <a:spcBef>
                <a:spcPct val="0"/>
              </a:spcBef>
            </a:pPr>
            <a:r>
              <a:rPr lang="en-US" smtClean="0"/>
              <a:t>Modest amounts, but now have buy-in.</a:t>
            </a:r>
          </a:p>
          <a:p>
            <a:pPr eaLnBrk="1" hangingPunct="1">
              <a:spcBef>
                <a:spcPct val="0"/>
              </a:spcBef>
            </a:pPr>
            <a:r>
              <a:rPr lang="en-US" smtClean="0"/>
              <a:t>Building expertise and sharing it can be a win-win. (free services in our service area, charge outside)</a:t>
            </a:r>
          </a:p>
          <a:p>
            <a:pPr eaLnBrk="1" hangingPunct="1">
              <a:spcBef>
                <a:spcPct val="0"/>
              </a:spcBef>
            </a:pPr>
            <a:endParaRPr lang="en-US" smtClean="0"/>
          </a:p>
        </p:txBody>
      </p:sp>
      <p:sp>
        <p:nvSpPr>
          <p:cNvPr id="30723" name="Slide Number Placeholder 3"/>
          <p:cNvSpPr>
            <a:spLocks noGrp="1"/>
          </p:cNvSpPr>
          <p:nvPr>
            <p:ph type="sldNum" sz="quarter" idx="5"/>
          </p:nvPr>
        </p:nvSpPr>
        <p:spPr bwMode="auto">
          <a:noFill/>
          <a:ln>
            <a:miter lim="800000"/>
            <a:headEnd/>
            <a:tailEnd/>
          </a:ln>
        </p:spPr>
        <p:txBody>
          <a:bodyPr/>
          <a:lstStyle/>
          <a:p>
            <a:fld id="{1AA7F7F9-D8D5-4D61-8BCA-8A8DED61F2D1}" type="slidenum">
              <a:rPr lang="en-US"/>
              <a:pPr/>
              <a:t>43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2771" name="Slide Number Placeholder 3"/>
          <p:cNvSpPr>
            <a:spLocks noGrp="1"/>
          </p:cNvSpPr>
          <p:nvPr>
            <p:ph type="sldNum" sz="quarter" idx="5"/>
          </p:nvPr>
        </p:nvSpPr>
        <p:spPr bwMode="auto">
          <a:noFill/>
          <a:ln>
            <a:miter lim="800000"/>
            <a:headEnd/>
            <a:tailEnd/>
          </a:ln>
        </p:spPr>
        <p:txBody>
          <a:bodyPr/>
          <a:lstStyle/>
          <a:p>
            <a:fld id="{B0451532-2E94-4596-AED6-DF57000FD31A}" type="slidenum">
              <a:rPr lang="en-US"/>
              <a:pPr/>
              <a:t>44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8A9F499-9BFF-47D6-8EF5-CCAC4C404534}" type="datetimeFigureOut">
              <a:rPr lang="en-US" smtClean="0"/>
              <a:pPr/>
              <a:t>9/17/2014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A9F499-9BFF-47D6-8EF5-CCAC4C404534}" type="datetimeFigureOut">
              <a:rPr lang="en-US" smtClean="0"/>
              <a:pPr/>
              <a:t>9/17/2014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A8A9F499-9BFF-47D6-8EF5-CCAC4C404534}" type="datetimeFigureOut">
              <a:rPr lang="en-US" smtClean="0"/>
              <a:pPr/>
              <a:t>9/17/2014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A9F499-9BFF-47D6-8EF5-CCAC4C404534}" type="datetimeFigureOut">
              <a:rPr lang="en-US" smtClean="0"/>
              <a:pPr/>
              <a:t>9/17/2014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1B4B1-FF59-4DE1-9822-2030E6833E86}"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A9F499-9BFF-47D6-8EF5-CCAC4C404534}" type="datetimeFigureOut">
              <a:rPr lang="en-US" smtClean="0"/>
              <a:pPr/>
              <a:t>9/17/2014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A9F499-9BFF-47D6-8EF5-CCAC4C404534}" type="datetimeFigureOut">
              <a:rPr lang="en-US" smtClean="0"/>
              <a:pPr/>
              <a:t>9/17/2014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A9F499-9BFF-47D6-8EF5-CCAC4C404534}" type="datetimeFigureOut">
              <a:rPr lang="en-US" smtClean="0"/>
              <a:pPr/>
              <a:t>9/17/2014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A8A9F499-9BFF-47D6-8EF5-CCAC4C404534}" type="datetimeFigureOut">
              <a:rPr lang="en-US" smtClean="0"/>
              <a:pPr/>
              <a:t>9/17/2014</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solidFill>
                <a:srgbClr val="434342"/>
              </a:solidFill>
            </a:endParaRPr>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1D91B4B1-FF59-4DE1-9822-2030E6833E86}" type="slidenum">
              <a:rPr lang="en-US" smtClean="0">
                <a:solidFill>
                  <a:srgbClr val="434342"/>
                </a:solidFill>
              </a:rPr>
              <a:pPr/>
              <a:t>‹#›</a:t>
            </a:fld>
            <a:endParaRPr lang="en-US">
              <a:solidFill>
                <a:srgbClr val="43434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9F499-9BFF-47D6-8EF5-CCAC4C404534}" type="datetimeFigureOut">
              <a:rPr lang="en-US" smtClean="0"/>
              <a:pPr/>
              <a:t>9/17/2014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A9F499-9BFF-47D6-8EF5-CCAC4C404534}" type="datetimeFigureOut">
              <a:rPr lang="en-US" smtClean="0"/>
              <a:pPr/>
              <a:t>9/17/2014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A9F499-9BFF-47D6-8EF5-CCAC4C404534}" type="datetimeFigureOut">
              <a:rPr lang="en-US" smtClean="0"/>
              <a:pPr/>
              <a:t>9/17/2014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1B4B1-FF59-4DE1-9822-2030E6833E8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0536"/>
            <a:ext cx="9144000" cy="5084064"/>
          </a:xfrm>
          <a:prstGeom prst="rect">
            <a:avLst/>
          </a:prstGeom>
        </p:spPr>
      </p:pic>
      <p:sp>
        <p:nvSpPr>
          <p:cNvPr id="6" name="Text Placeholder 3"/>
          <p:cNvSpPr>
            <a:spLocks noGrp="1"/>
          </p:cNvSpPr>
          <p:nvPr>
            <p:ph type="body" sz="quarter" idx="10" hasCustomPrompt="1"/>
          </p:nvPr>
        </p:nvSpPr>
        <p:spPr>
          <a:xfrm>
            <a:off x="304800" y="5638800"/>
            <a:ext cx="6019800" cy="762000"/>
          </a:xfrm>
        </p:spPr>
        <p:txBody>
          <a:bodyPr anchor="t">
            <a:noAutofit/>
          </a:bodyPr>
          <a:lstStyle>
            <a:lvl1pPr marL="0" indent="0" algn="l">
              <a:buFontTx/>
              <a:buNone/>
              <a:defRPr sz="3800" b="0" i="0" baseline="0">
                <a:solidFill>
                  <a:schemeClr val="accent2"/>
                </a:solidFill>
              </a:defRPr>
            </a:lvl1pPr>
          </a:lstStyle>
          <a:p>
            <a:pPr lvl="0"/>
            <a:r>
              <a:rPr lang="en-US" dirty="0" smtClean="0"/>
              <a:t>Date or Subtitle Here</a:t>
            </a:r>
          </a:p>
        </p:txBody>
      </p:sp>
      <p:sp>
        <p:nvSpPr>
          <p:cNvPr id="2" name="Title 1"/>
          <p:cNvSpPr>
            <a:spLocks noGrp="1"/>
          </p:cNvSpPr>
          <p:nvPr>
            <p:ph type="title" hasCustomPrompt="1"/>
          </p:nvPr>
        </p:nvSpPr>
        <p:spPr>
          <a:xfrm>
            <a:off x="304800" y="457200"/>
            <a:ext cx="8595360" cy="1143000"/>
          </a:xfrm>
        </p:spPr>
        <p:txBody>
          <a:bodyPr/>
          <a:lstStyle>
            <a:lvl1pPr>
              <a:defRPr b="0" baseline="0">
                <a:solidFill>
                  <a:schemeClr val="tx2"/>
                </a:solidFill>
              </a:defRPr>
            </a:lvl1pPr>
          </a:lstStyle>
          <a:p>
            <a:r>
              <a:rPr lang="en-US" dirty="0" smtClean="0"/>
              <a:t>TITLE OF PRESENTATION GOES HERE AND APPEARS IN ALL CAPS</a:t>
            </a:r>
            <a:endParaRPr lang="en-US" dirty="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ulleted Content Slid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304800" y="394447"/>
            <a:ext cx="8595360" cy="746125"/>
          </a:xfrm>
          <a:prstGeom prst="rect">
            <a:avLst/>
          </a:prstGeom>
        </p:spPr>
        <p:txBody>
          <a:bodyPr vert="horz" lIns="91440" tIns="45720" rIns="91440" bIns="45720" rtlCol="0" anchor="ctr">
            <a:normAutofit/>
          </a:bodyPr>
          <a:lstStyle>
            <a:lvl1pPr>
              <a:defRPr b="0"/>
            </a:lvl1pPr>
          </a:lstStyle>
          <a:p>
            <a:r>
              <a:rPr lang="en-US" smtClean="0"/>
              <a:t>Click to edit Master title style</a:t>
            </a:r>
            <a:endParaRPr lang="en-US" dirty="0"/>
          </a:p>
        </p:txBody>
      </p:sp>
      <p:sp>
        <p:nvSpPr>
          <p:cNvPr id="3" name="Text Placeholder 2"/>
          <p:cNvSpPr>
            <a:spLocks noGrp="1"/>
          </p:cNvSpPr>
          <p:nvPr>
            <p:ph type="body" sz="quarter" idx="10"/>
          </p:nvPr>
        </p:nvSpPr>
        <p:spPr>
          <a:xfrm>
            <a:off x="304800" y="1369172"/>
            <a:ext cx="8610600" cy="4876800"/>
          </a:xfrm>
        </p:spPr>
        <p:txBody>
          <a:bodyPr/>
          <a:lstStyle>
            <a:lvl1pPr>
              <a:defRPr b="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4620722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Divider Slide">
    <p:spTree>
      <p:nvGrpSpPr>
        <p:cNvPr id="1" name=""/>
        <p:cNvGrpSpPr/>
        <p:nvPr/>
      </p:nvGrpSpPr>
      <p:grpSpPr>
        <a:xfrm>
          <a:off x="0" y="0"/>
          <a:ext cx="0" cy="0"/>
          <a:chOff x="0" y="0"/>
          <a:chExt cx="0" cy="0"/>
        </a:xfrm>
      </p:grpSpPr>
      <p:sp>
        <p:nvSpPr>
          <p:cNvPr id="12" name="Text Placeholder 3"/>
          <p:cNvSpPr>
            <a:spLocks noGrp="1"/>
          </p:cNvSpPr>
          <p:nvPr>
            <p:ph type="body" sz="quarter" idx="10" hasCustomPrompt="1"/>
          </p:nvPr>
        </p:nvSpPr>
        <p:spPr>
          <a:xfrm>
            <a:off x="868680" y="5867400"/>
            <a:ext cx="7315200" cy="533400"/>
          </a:xfrm>
        </p:spPr>
        <p:txBody>
          <a:bodyPr anchor="t">
            <a:noAutofit/>
          </a:bodyPr>
          <a:lstStyle>
            <a:lvl1pPr marL="0" indent="0" algn="ctr">
              <a:buFontTx/>
              <a:buNone/>
              <a:defRPr sz="3200" b="0" i="0" baseline="0">
                <a:solidFill>
                  <a:schemeClr val="accent2"/>
                </a:solidFill>
              </a:defRPr>
            </a:lvl1pPr>
          </a:lstStyle>
          <a:p>
            <a:pPr lvl="0"/>
            <a:r>
              <a:rPr lang="en-US" dirty="0" smtClean="0"/>
              <a:t>Section Subtitle Here if Needed</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25712" cy="4687824"/>
          </a:xfrm>
          <a:prstGeom prst="rect">
            <a:avLst/>
          </a:prstGeom>
        </p:spPr>
      </p:pic>
      <p:sp>
        <p:nvSpPr>
          <p:cNvPr id="3" name="Title 2"/>
          <p:cNvSpPr>
            <a:spLocks noGrp="1"/>
          </p:cNvSpPr>
          <p:nvPr>
            <p:ph type="title" hasCustomPrompt="1"/>
          </p:nvPr>
        </p:nvSpPr>
        <p:spPr>
          <a:xfrm>
            <a:off x="228600" y="5045075"/>
            <a:ext cx="8595360" cy="746125"/>
          </a:xfrm>
        </p:spPr>
        <p:txBody>
          <a:bodyPr/>
          <a:lstStyle>
            <a:lvl1pPr algn="ctr">
              <a:defRPr/>
            </a:lvl1pPr>
          </a:lstStyle>
          <a:p>
            <a:r>
              <a:rPr lang="en-US" dirty="0" smtClean="0"/>
              <a:t>CLICK TO EDIT DIVIDER TITLE STYLE</a:t>
            </a:r>
            <a:endParaRPr 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Slide With Graphic">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5943600"/>
            <a:ext cx="1609344" cy="487680"/>
          </a:xfrm>
          <a:prstGeom prst="rect">
            <a:avLst/>
          </a:prstGeom>
        </p:spPr>
      </p:pic>
      <p:sp>
        <p:nvSpPr>
          <p:cNvPr id="5" name="Text Placeholder 4"/>
          <p:cNvSpPr>
            <a:spLocks noGrp="1"/>
          </p:cNvSpPr>
          <p:nvPr>
            <p:ph type="body" sz="quarter" idx="10"/>
          </p:nvPr>
        </p:nvSpPr>
        <p:spPr>
          <a:xfrm>
            <a:off x="304800" y="1369172"/>
            <a:ext cx="52578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Placeholder 1"/>
          <p:cNvSpPr>
            <a:spLocks noGrp="1"/>
          </p:cNvSpPr>
          <p:nvPr>
            <p:ph type="title"/>
          </p:nvPr>
        </p:nvSpPr>
        <p:spPr>
          <a:xfrm>
            <a:off x="304800" y="394447"/>
            <a:ext cx="8595360" cy="74612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Rectangle 2"/>
          <p:cNvSpPr/>
          <p:nvPr/>
        </p:nvSpPr>
        <p:spPr>
          <a:xfrm>
            <a:off x="5791200" y="1369172"/>
            <a:ext cx="3048000" cy="40386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a:noFill/>
                </a:ln>
                <a:solidFill>
                  <a:schemeClr val="accent1"/>
                </a:solidFill>
              </a:rPr>
              <a:t>Placholder for image,</a:t>
            </a:r>
            <a:r>
              <a:rPr lang="en-US" baseline="0" dirty="0" smtClean="0">
                <a:ln>
                  <a:noFill/>
                </a:ln>
                <a:solidFill>
                  <a:schemeClr val="accent1"/>
                </a:solidFill>
              </a:rPr>
              <a:t> chart, graph, or other graphical element</a:t>
            </a:r>
            <a:endParaRPr lang="en-US" dirty="0">
              <a:ln>
                <a:noFill/>
              </a:ln>
              <a:solidFill>
                <a:schemeClr val="accent1"/>
              </a:solidFill>
            </a:endParaRPr>
          </a:p>
        </p:txBody>
      </p:sp>
    </p:spTree>
    <p:extLst>
      <p:ext uri="{BB962C8B-B14F-4D97-AF65-F5344CB8AC3E}">
        <p14:creationId xmlns:p14="http://schemas.microsoft.com/office/powerpoint/2010/main" val="224044068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304800" y="394447"/>
            <a:ext cx="8595360" cy="74612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extLst>
      <p:ext uri="{BB962C8B-B14F-4D97-AF65-F5344CB8AC3E}">
        <p14:creationId xmlns:p14="http://schemas.microsoft.com/office/powerpoint/2010/main" val="184522215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45758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63C25A9B-8CC5-4E25-909E-382C2952F8B0}" type="datetimeFigureOut">
              <a:rPr lang="en-US" smtClean="0"/>
              <a:pPr/>
              <a:t>9/17/2014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C837F65-CB97-4F01-B5B9-BB3A3C365D74}"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63C25A9B-8CC5-4E25-909E-382C2952F8B0}" type="datetimeFigureOut">
              <a:rPr lang="en-US" smtClean="0"/>
              <a:pPr/>
              <a:t>9/17/2014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C837F65-CB97-4F01-B5B9-BB3A3C365D74}"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63C25A9B-8CC5-4E25-909E-382C2952F8B0}" type="datetimeFigureOut">
              <a:rPr lang="en-US" smtClean="0"/>
              <a:pPr/>
              <a:t>9/17/2014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C837F65-CB97-4F01-B5B9-BB3A3C365D74}"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noChangeArrowheads="1"/>
          </p:cNvSpPr>
          <p:nvPr>
            <p:ph type="dt" sz="half" idx="10"/>
          </p:nvPr>
        </p:nvSpPr>
        <p:spPr>
          <a:xfrm>
            <a:off x="457200" y="6356350"/>
            <a:ext cx="2133600" cy="365125"/>
          </a:xfrm>
          <a:prstGeom prst="rect">
            <a:avLst/>
          </a:prstGeom>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3124200" y="6356350"/>
            <a:ext cx="2895600" cy="365125"/>
          </a:xfrm>
          <a:prstGeom prst="rect">
            <a:avLst/>
          </a:prstGeom>
          <a:ln/>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6553200" y="6356350"/>
            <a:ext cx="2133600" cy="365125"/>
          </a:xfrm>
          <a:prstGeom prst="rect">
            <a:avLst/>
          </a:prstGeom>
          <a:ln/>
        </p:spPr>
        <p:txBody>
          <a:bodyPr/>
          <a:lstStyle>
            <a:lvl1pPr>
              <a:defRPr/>
            </a:lvl1pPr>
          </a:lstStyle>
          <a:p>
            <a:fld id="{B9BAA7B2-B6E1-47DF-864B-F1FBE5192AC9}"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4.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3.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A8A9F499-9BFF-47D6-8EF5-CCAC4C404534}" type="datetimeFigureOut">
              <a:rPr lang="en-US" smtClean="0"/>
              <a:pPr/>
              <a:t>9/17/2014</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1D91B4B1-FF59-4DE1-9822-2030E6833E8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Title Placeholder 1"/>
          <p:cNvSpPr>
            <a:spLocks noGrp="1"/>
          </p:cNvSpPr>
          <p:nvPr>
            <p:ph type="title"/>
          </p:nvPr>
        </p:nvSpPr>
        <p:spPr>
          <a:xfrm>
            <a:off x="304800" y="396875"/>
            <a:ext cx="8595360" cy="74612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11" name="Text Placeholder 2"/>
          <p:cNvSpPr>
            <a:spLocks noGrp="1"/>
          </p:cNvSpPr>
          <p:nvPr>
            <p:ph type="body" idx="1"/>
          </p:nvPr>
        </p:nvSpPr>
        <p:spPr>
          <a:xfrm>
            <a:off x="304800" y="1371600"/>
            <a:ext cx="85344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6" name="Picture 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162800" y="5943600"/>
            <a:ext cx="1609344" cy="487680"/>
          </a:xfrm>
          <a:prstGeom prst="rect">
            <a:avLst/>
          </a:prstGeom>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timing>
    <p:tnLst>
      <p:par>
        <p:cTn id="1" dur="indefinite" restart="never" nodeType="tmRoot"/>
      </p:par>
    </p:tnLst>
  </p:timing>
  <p:txStyles>
    <p:titleStyle>
      <a:lvl1pPr algn="l" rtl="0" eaLnBrk="1" latinLnBrk="0" hangingPunct="1">
        <a:spcBef>
          <a:spcPct val="0"/>
        </a:spcBef>
        <a:buNone/>
        <a:defRPr sz="3800" b="0" cap="none" spc="0" baseline="0">
          <a:solidFill>
            <a:schemeClr val="tx2"/>
          </a:solidFill>
          <a:latin typeface="Calibri" pitchFamily="34" charset="0"/>
          <a:ea typeface="+mj-ea"/>
          <a:cs typeface="+mj-cs"/>
        </a:defRPr>
      </a:lvl1pPr>
      <a:extLst/>
    </p:titleStyle>
    <p:bodyStyle>
      <a:lvl1pPr marL="0" marR="0" indent="0" algn="l" rtl="0" eaLnBrk="1" latinLnBrk="0" hangingPunct="1">
        <a:lnSpc>
          <a:spcPct val="100000"/>
        </a:lnSpc>
        <a:spcBef>
          <a:spcPct val="20000"/>
        </a:spcBef>
        <a:buClr>
          <a:schemeClr val="tx1"/>
        </a:buClr>
        <a:buSzPct val="80000"/>
        <a:buFont typeface="Garamond" pitchFamily="18" charset="0"/>
        <a:buNone/>
        <a:defRPr sz="2600" b="0" baseline="0">
          <a:solidFill>
            <a:schemeClr val="accent2"/>
          </a:solidFill>
          <a:latin typeface="Calibri" pitchFamily="34" charset="0"/>
          <a:ea typeface="+mn-ea"/>
          <a:cs typeface="+mn-cs"/>
        </a:defRPr>
      </a:lvl1pPr>
      <a:lvl2pPr marL="0" indent="0" algn="l" rtl="0" eaLnBrk="1" latinLnBrk="0" hangingPunct="1">
        <a:lnSpc>
          <a:spcPct val="150000"/>
        </a:lnSpc>
        <a:spcBef>
          <a:spcPct val="20000"/>
        </a:spcBef>
        <a:buClr>
          <a:schemeClr val="tx1"/>
        </a:buClr>
        <a:buFont typeface="Arial" pitchFamily="34" charset="0"/>
        <a:buNone/>
        <a:defRPr sz="2000" b="0" baseline="0">
          <a:solidFill>
            <a:schemeClr val="accent3"/>
          </a:solidFill>
          <a:latin typeface="Calibri" pitchFamily="34" charset="0"/>
          <a:ea typeface="+mn-ea"/>
          <a:cs typeface="+mn-cs"/>
        </a:defRPr>
      </a:lvl2pPr>
      <a:lvl3pPr marL="577850" indent="-295275" algn="l" rtl="0" eaLnBrk="1" latinLnBrk="0" hangingPunct="1">
        <a:spcBef>
          <a:spcPct val="20000"/>
        </a:spcBef>
        <a:buClr>
          <a:schemeClr val="tx2"/>
        </a:buClr>
        <a:buFont typeface="Wingdings" pitchFamily="2" charset="2"/>
        <a:buChar char="§"/>
        <a:defRPr sz="2000" baseline="0">
          <a:solidFill>
            <a:schemeClr val="tx1"/>
          </a:solidFill>
          <a:latin typeface="Calibri" pitchFamily="34" charset="0"/>
          <a:ea typeface="+mn-ea"/>
          <a:cs typeface="+mn-cs"/>
        </a:defRPr>
      </a:lvl3pPr>
      <a:lvl4pPr marL="860425" indent="-282575" algn="l" rtl="0" eaLnBrk="1" latinLnBrk="0" hangingPunct="1">
        <a:spcBef>
          <a:spcPct val="20000"/>
        </a:spcBef>
        <a:buClr>
          <a:schemeClr val="tx2"/>
        </a:buClr>
        <a:buFont typeface="Century Gothic" pitchFamily="34" charset="0"/>
        <a:buChar char="−"/>
        <a:defRPr sz="1800" baseline="0">
          <a:solidFill>
            <a:schemeClr val="tx1"/>
          </a:solidFill>
          <a:latin typeface="Calibri" pitchFamily="34" charset="0"/>
          <a:ea typeface="+mn-ea"/>
          <a:cs typeface="+mn-cs"/>
        </a:defRPr>
      </a:lvl4pPr>
      <a:lvl5pPr marL="1143000" indent="-282575" algn="l" rtl="0" eaLnBrk="1" latinLnBrk="0" hangingPunct="1">
        <a:spcBef>
          <a:spcPct val="20000"/>
        </a:spcBef>
        <a:buClr>
          <a:schemeClr val="tx2"/>
        </a:buClr>
        <a:buFont typeface="Arial" pitchFamily="34" charset="0"/>
        <a:buChar char="•"/>
        <a:defRPr sz="1600" baseline="0">
          <a:solidFill>
            <a:schemeClr val="tx1"/>
          </a:solidFill>
          <a:latin typeface="Calibri" pitchFamily="34" charset="0"/>
          <a:ea typeface="+mn-ea"/>
          <a:cs typeface="+mn-cs"/>
        </a:defRPr>
      </a:lvl5pPr>
      <a:lvl6pPr marL="2514306" indent="-228573" algn="l" rtl="0" eaLnBrk="1" latinLnBrk="0" hangingPunct="1">
        <a:spcBef>
          <a:spcPct val="20000"/>
        </a:spcBef>
        <a:buChar char="•"/>
        <a:defRPr sz="2000">
          <a:solidFill>
            <a:schemeClr val="tx1"/>
          </a:solidFill>
          <a:latin typeface="+mn-lt"/>
          <a:ea typeface="+mn-ea"/>
          <a:cs typeface="+mn-cs"/>
        </a:defRPr>
      </a:lvl6pPr>
      <a:lvl7pPr marL="2971453" indent="-228573" algn="l" rtl="0" eaLnBrk="1" latinLnBrk="0" hangingPunct="1">
        <a:spcBef>
          <a:spcPct val="20000"/>
        </a:spcBef>
        <a:buChar char="•"/>
        <a:defRPr sz="2000">
          <a:solidFill>
            <a:schemeClr val="tx1"/>
          </a:solidFill>
          <a:latin typeface="+mn-lt"/>
          <a:ea typeface="+mn-ea"/>
          <a:cs typeface="+mn-cs"/>
        </a:defRPr>
      </a:lvl7pPr>
      <a:lvl8pPr marL="3428599" indent="-228573" algn="l" rtl="0" eaLnBrk="1" latinLnBrk="0" hangingPunct="1">
        <a:spcBef>
          <a:spcPct val="20000"/>
        </a:spcBef>
        <a:buChar char="•"/>
        <a:defRPr sz="2000">
          <a:solidFill>
            <a:schemeClr val="tx1"/>
          </a:solidFill>
          <a:latin typeface="+mn-lt"/>
          <a:ea typeface="+mn-ea"/>
          <a:cs typeface="+mn-cs"/>
        </a:defRPr>
      </a:lvl8pPr>
      <a:lvl9pPr marL="3885746" indent="-228573" algn="l" rtl="0" eaLnBrk="1" latinLnBrk="0" hangingPunct="1">
        <a:spcBef>
          <a:spcPct val="20000"/>
        </a:spcBef>
        <a:buChar char="•"/>
        <a:defRPr sz="2000">
          <a:solidFill>
            <a:schemeClr val="tx1"/>
          </a:solidFill>
          <a:latin typeface="+mn-lt"/>
          <a:ea typeface="+mn-ea"/>
          <a:cs typeface="+mn-cs"/>
        </a:defRPr>
      </a:lvl9pPr>
      <a:extLst/>
    </p:bodyStyle>
    <p:otherStyle>
      <a:lvl1pPr marL="0" algn="l" rtl="0" eaLnBrk="1" hangingPunct="1">
        <a:defRPr>
          <a:solidFill>
            <a:schemeClr val="tx1"/>
          </a:solidFill>
          <a:latin typeface="+mn-lt"/>
          <a:ea typeface="+mn-ea"/>
          <a:cs typeface="+mn-cs"/>
        </a:defRPr>
      </a:lvl1pPr>
      <a:lvl2pPr marL="457146" algn="l" rtl="0" eaLnBrk="1" hangingPunct="1">
        <a:defRPr>
          <a:solidFill>
            <a:schemeClr val="tx1"/>
          </a:solidFill>
          <a:latin typeface="+mn-lt"/>
          <a:ea typeface="+mn-ea"/>
          <a:cs typeface="+mn-cs"/>
        </a:defRPr>
      </a:lvl2pPr>
      <a:lvl3pPr marL="914293" algn="l" rtl="0" eaLnBrk="1" hangingPunct="1">
        <a:defRPr>
          <a:solidFill>
            <a:schemeClr val="tx1"/>
          </a:solidFill>
          <a:latin typeface="+mn-lt"/>
          <a:ea typeface="+mn-ea"/>
          <a:cs typeface="+mn-cs"/>
        </a:defRPr>
      </a:lvl3pPr>
      <a:lvl4pPr marL="1371440" algn="l" rtl="0" eaLnBrk="1" hangingPunct="1">
        <a:defRPr>
          <a:solidFill>
            <a:schemeClr val="tx1"/>
          </a:solidFill>
          <a:latin typeface="+mn-lt"/>
          <a:ea typeface="+mn-ea"/>
          <a:cs typeface="+mn-cs"/>
        </a:defRPr>
      </a:lvl4pPr>
      <a:lvl5pPr marL="1828586" algn="l" rtl="0" eaLnBrk="1" hangingPunct="1">
        <a:defRPr>
          <a:solidFill>
            <a:schemeClr val="tx1"/>
          </a:solidFill>
          <a:latin typeface="+mn-lt"/>
          <a:ea typeface="+mn-ea"/>
          <a:cs typeface="+mn-cs"/>
        </a:defRPr>
      </a:lvl5pPr>
      <a:lvl6pPr marL="2285733" algn="l" rtl="0" eaLnBrk="1" hangingPunct="1">
        <a:defRPr>
          <a:solidFill>
            <a:schemeClr val="tx1"/>
          </a:solidFill>
          <a:latin typeface="+mn-lt"/>
          <a:ea typeface="+mn-ea"/>
          <a:cs typeface="+mn-cs"/>
        </a:defRPr>
      </a:lvl6pPr>
      <a:lvl7pPr marL="2742879" algn="l" rtl="0" eaLnBrk="1" hangingPunct="1">
        <a:defRPr>
          <a:solidFill>
            <a:schemeClr val="tx1"/>
          </a:solidFill>
          <a:latin typeface="+mn-lt"/>
          <a:ea typeface="+mn-ea"/>
          <a:cs typeface="+mn-cs"/>
        </a:defRPr>
      </a:lvl7pPr>
      <a:lvl8pPr marL="3200026" algn="l" rtl="0" eaLnBrk="1" hangingPunct="1">
        <a:defRPr>
          <a:solidFill>
            <a:schemeClr val="tx1"/>
          </a:solidFill>
          <a:latin typeface="+mn-lt"/>
          <a:ea typeface="+mn-ea"/>
          <a:cs typeface="+mn-cs"/>
        </a:defRPr>
      </a:lvl8pPr>
      <a:lvl9pPr marL="3657172" algn="l" rtl="0" eaLnBrk="1" hangingPunct="1">
        <a:defRPr>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10.jpeg"/></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10.jpeg"/></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1.xml"/><Relationship Id="rId4" Type="http://schemas.openxmlformats.org/officeDocument/2006/relationships/image" Target="../media/image10.jpeg"/></Relationships>
</file>

<file path=ppt/slides/_rels/slide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04800"/>
            <a:ext cx="7772400" cy="1470025"/>
          </a:xfrm>
        </p:spPr>
        <p:txBody>
          <a:bodyPr>
            <a:normAutofit fontScale="90000"/>
          </a:bodyPr>
          <a:lstStyle/>
          <a:p>
            <a:pPr algn="ctr"/>
            <a:r>
              <a:rPr lang="en-US" dirty="0"/>
              <a:t>Prioritizing Primary Prevention - Innovative Financing Mechanisms and Successful Community Partnerships</a:t>
            </a:r>
          </a:p>
        </p:txBody>
      </p:sp>
      <p:sp>
        <p:nvSpPr>
          <p:cNvPr id="3" name="Subtitle 2"/>
          <p:cNvSpPr>
            <a:spLocks noGrp="1"/>
          </p:cNvSpPr>
          <p:nvPr>
            <p:ph type="subTitle" idx="1"/>
          </p:nvPr>
        </p:nvSpPr>
        <p:spPr>
          <a:xfrm>
            <a:off x="214647" y="1795529"/>
            <a:ext cx="8686800" cy="1981200"/>
          </a:xfrm>
        </p:spPr>
        <p:txBody>
          <a:bodyPr>
            <a:normAutofit/>
          </a:bodyPr>
          <a:lstStyle/>
          <a:p>
            <a:r>
              <a:rPr lang="en-US" dirty="0" smtClean="0">
                <a:solidFill>
                  <a:schemeClr val="tx1">
                    <a:lumMod val="50000"/>
                  </a:schemeClr>
                </a:solidFill>
              </a:rPr>
              <a:t>September 3, 2014</a:t>
            </a:r>
          </a:p>
          <a:p>
            <a:r>
              <a:rPr lang="en-US" smtClean="0">
                <a:solidFill>
                  <a:schemeClr val="tx1">
                    <a:lumMod val="50000"/>
                  </a:schemeClr>
                </a:solidFill>
              </a:rPr>
              <a:t>1:00-2:30pm EDT</a:t>
            </a:r>
            <a:endParaRPr lang="en-US" dirty="0" smtClean="0">
              <a:solidFill>
                <a:schemeClr val="tx1">
                  <a:lumMod val="50000"/>
                </a:schemeClr>
              </a:solidFill>
            </a:endParaRPr>
          </a:p>
          <a:p>
            <a:endParaRPr lang="en-US" sz="1200" dirty="0">
              <a:solidFill>
                <a:schemeClr val="tx1">
                  <a:lumMod val="50000"/>
                </a:schemeClr>
              </a:solidFill>
            </a:endParaRPr>
          </a:p>
          <a:p>
            <a:r>
              <a:rPr lang="en-US" dirty="0" smtClean="0">
                <a:solidFill>
                  <a:schemeClr val="tx1">
                    <a:lumMod val="50000"/>
                  </a:schemeClr>
                </a:solidFill>
              </a:rPr>
              <a:t>Thank you for joining us. The webinar will begin shortly.</a:t>
            </a:r>
            <a:endParaRPr lang="en-US" dirty="0">
              <a:solidFill>
                <a:schemeClr val="tx1">
                  <a:lumMod val="50000"/>
                </a:schemeClr>
              </a:solidFill>
            </a:endParaRPr>
          </a:p>
        </p:txBody>
      </p:sp>
      <p:sp>
        <p:nvSpPr>
          <p:cNvPr id="4" name="TextBox 3"/>
          <p:cNvSpPr txBox="1"/>
          <p:nvPr/>
        </p:nvSpPr>
        <p:spPr>
          <a:xfrm>
            <a:off x="5400542" y="4029922"/>
            <a:ext cx="3810000" cy="1685077"/>
          </a:xfrm>
          <a:prstGeom prst="rect">
            <a:avLst/>
          </a:prstGeom>
          <a:noFill/>
        </p:spPr>
        <p:txBody>
          <a:bodyPr wrap="square" rtlCol="0">
            <a:spAutoFit/>
          </a:bodyPr>
          <a:lstStyle/>
          <a:p>
            <a:pPr algn="ctr"/>
            <a:r>
              <a:rPr lang="en-US" b="1" dirty="0" smtClean="0"/>
              <a:t>Join us in Atlanta for our </a:t>
            </a:r>
          </a:p>
          <a:p>
            <a:pPr algn="ctr"/>
            <a:r>
              <a:rPr lang="en-US" b="1" dirty="0" smtClean="0"/>
              <a:t>Annual Conference </a:t>
            </a:r>
          </a:p>
          <a:p>
            <a:pPr algn="ctr"/>
            <a:r>
              <a:rPr lang="en-US" b="1" dirty="0" smtClean="0"/>
              <a:t>Sept 10-12, 2014.</a:t>
            </a:r>
          </a:p>
          <a:p>
            <a:pPr algn="ctr"/>
            <a:endParaRPr lang="en-US" b="1" dirty="0" smtClean="0"/>
          </a:p>
          <a:p>
            <a:pPr algn="ctr"/>
            <a:r>
              <a:rPr lang="en-US" b="1" dirty="0" smtClean="0"/>
              <a:t>Register today at</a:t>
            </a:r>
            <a:endParaRPr lang="en-US" b="1" dirty="0"/>
          </a:p>
          <a:p>
            <a:pPr algn="ctr"/>
            <a:r>
              <a:rPr lang="en-US" sz="1400" b="1" dirty="0"/>
              <a:t>m</a:t>
            </a:r>
            <a:r>
              <a:rPr lang="en-US" sz="1400" b="1" dirty="0" smtClean="0"/>
              <a:t>entalhealthamerica.net/</a:t>
            </a:r>
            <a:r>
              <a:rPr lang="en-US" sz="1400" b="1" dirty="0" err="1" smtClean="0"/>
              <a:t>AnnualConference</a:t>
            </a:r>
            <a:endParaRPr lang="en-US" sz="1400" b="1" dirty="0"/>
          </a:p>
        </p:txBody>
      </p:sp>
      <p:pic>
        <p:nvPicPr>
          <p:cNvPr id="1028" name="Picture 4" descr="https://www.regonline.com/custImages/350000/359846/20104conf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810000"/>
            <a:ext cx="5424685" cy="2252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0927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Prioritizing Primary Prevention - Innovative Financing Mechanisms and Successful Community Partnerships</a:t>
            </a:r>
          </a:p>
        </p:txBody>
      </p:sp>
      <p:sp>
        <p:nvSpPr>
          <p:cNvPr id="3" name="Subtitle 2"/>
          <p:cNvSpPr>
            <a:spLocks noGrp="1"/>
          </p:cNvSpPr>
          <p:nvPr>
            <p:ph type="subTitle" idx="1"/>
          </p:nvPr>
        </p:nvSpPr>
        <p:spPr/>
        <p:txBody>
          <a:bodyPr/>
          <a:lstStyle/>
          <a:p>
            <a:endParaRPr lang="en-US" dirty="0" smtClean="0"/>
          </a:p>
          <a:p>
            <a:r>
              <a:rPr lang="en-US" dirty="0" smtClean="0"/>
              <a:t>September 3, 2014</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468562"/>
          </a:xfrm>
        </p:spPr>
        <p:txBody>
          <a:bodyPr>
            <a:noAutofit/>
          </a:bodyPr>
          <a:lstStyle/>
          <a:p>
            <a:r>
              <a:rPr lang="en-US" sz="5400" dirty="0" smtClean="0"/>
              <a:t>Financing and Implementation of Primary Prevention: An Overview</a:t>
            </a:r>
            <a:endParaRPr lang="en-US" sz="5400" dirty="0"/>
          </a:p>
        </p:txBody>
      </p:sp>
      <p:sp>
        <p:nvSpPr>
          <p:cNvPr id="3" name="Content Placeholder 2"/>
          <p:cNvSpPr>
            <a:spLocks noGrp="1"/>
          </p:cNvSpPr>
          <p:nvPr>
            <p:ph idx="1"/>
          </p:nvPr>
        </p:nvSpPr>
        <p:spPr>
          <a:xfrm>
            <a:off x="457200" y="3505200"/>
            <a:ext cx="8229600" cy="2620963"/>
          </a:xfrm>
        </p:spPr>
        <p:txBody>
          <a:bodyPr>
            <a:normAutofit/>
          </a:bodyPr>
          <a:lstStyle/>
          <a:p>
            <a:pPr algn="ctr">
              <a:buNone/>
            </a:pPr>
            <a:r>
              <a:rPr lang="en-US" sz="4000" dirty="0"/>
              <a:t>Sarah M. Steverman, Ph.D., </a:t>
            </a:r>
            <a:r>
              <a:rPr lang="en-US" sz="4000" dirty="0" smtClean="0"/>
              <a:t>M.S.W</a:t>
            </a:r>
          </a:p>
          <a:p>
            <a:pPr algn="ctr">
              <a:buNone/>
            </a:pPr>
            <a:r>
              <a:rPr lang="en-US" sz="4000" dirty="0" smtClean="0"/>
              <a:t>&amp; </a:t>
            </a:r>
          </a:p>
          <a:p>
            <a:pPr algn="ctr">
              <a:buNone/>
            </a:pPr>
            <a:r>
              <a:rPr lang="en-US" sz="4000" dirty="0" smtClean="0"/>
              <a:t>David L. Shern, Ph.D.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Presentation Overview</a:t>
            </a:r>
            <a:endParaRPr lang="en-US" dirty="0"/>
          </a:p>
        </p:txBody>
      </p:sp>
      <p:sp>
        <p:nvSpPr>
          <p:cNvPr id="3" name="Content Placeholder 2"/>
          <p:cNvSpPr>
            <a:spLocks noGrp="1"/>
          </p:cNvSpPr>
          <p:nvPr>
            <p:ph idx="1"/>
          </p:nvPr>
        </p:nvSpPr>
        <p:spPr/>
        <p:txBody>
          <a:bodyPr>
            <a:normAutofit/>
          </a:bodyPr>
          <a:lstStyle/>
          <a:p>
            <a:r>
              <a:rPr lang="en-US" dirty="0" smtClean="0"/>
              <a:t>Challenges and opportunities</a:t>
            </a:r>
          </a:p>
          <a:p>
            <a:r>
              <a:rPr lang="en-US" dirty="0" smtClean="0"/>
              <a:t>Federal financing</a:t>
            </a:r>
          </a:p>
          <a:p>
            <a:r>
              <a:rPr lang="en-US" dirty="0" smtClean="0"/>
              <a:t>ACA related prevention financing</a:t>
            </a:r>
          </a:p>
          <a:p>
            <a:r>
              <a:rPr lang="en-US" dirty="0" smtClean="0"/>
              <a:t>Insurance financing for prevention</a:t>
            </a:r>
          </a:p>
          <a:p>
            <a:r>
              <a:rPr lang="en-US" dirty="0" smtClean="0"/>
              <a:t>Private financing of prevention</a:t>
            </a:r>
          </a:p>
          <a:p>
            <a:r>
              <a:rPr lang="en-US" dirty="0" smtClean="0"/>
              <a:t>Implementation strategies</a:t>
            </a:r>
          </a:p>
          <a:p>
            <a:r>
              <a:rPr lang="en-US" dirty="0" smtClean="0"/>
              <a:t>Example – 5 Town CTC</a:t>
            </a:r>
          </a:p>
          <a:p>
            <a:r>
              <a:rPr lang="en-US" dirty="0" smtClean="0"/>
              <a:t>Example – MHA of OK</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a:t>
            </a:r>
            <a:endParaRPr lang="en-US" dirty="0"/>
          </a:p>
        </p:txBody>
      </p:sp>
      <p:sp>
        <p:nvSpPr>
          <p:cNvPr id="3" name="Content Placeholder 2"/>
          <p:cNvSpPr>
            <a:spLocks noGrp="1"/>
          </p:cNvSpPr>
          <p:nvPr>
            <p:ph idx="1"/>
          </p:nvPr>
        </p:nvSpPr>
        <p:spPr/>
        <p:txBody>
          <a:bodyPr>
            <a:normAutofit/>
          </a:bodyPr>
          <a:lstStyle/>
          <a:p>
            <a:r>
              <a:rPr lang="en-US" dirty="0" smtClean="0"/>
              <a:t>U.S. trails other developed nations on many indicators of health and wellbeing</a:t>
            </a:r>
          </a:p>
          <a:p>
            <a:pPr lvl="1">
              <a:buFont typeface="Wingdings" pitchFamily="2" charset="2"/>
              <a:buChar char="§"/>
            </a:pPr>
            <a:r>
              <a:rPr lang="en-US" dirty="0" smtClean="0"/>
              <a:t>Highest rates of mental illness in the world</a:t>
            </a:r>
          </a:p>
          <a:p>
            <a:pPr lvl="1">
              <a:buFont typeface="Wingdings" pitchFamily="2" charset="2"/>
              <a:buChar char="§"/>
            </a:pPr>
            <a:r>
              <a:rPr lang="en-US" dirty="0" smtClean="0"/>
              <a:t>Lowest performing health care system of 16 comparable nations</a:t>
            </a:r>
          </a:p>
          <a:p>
            <a:pPr lvl="1">
              <a:buFont typeface="Wingdings" pitchFamily="2" charset="2"/>
              <a:buChar char="§"/>
            </a:pPr>
            <a:r>
              <a:rPr lang="en-US" dirty="0" smtClean="0"/>
              <a:t>Highest rates of incarceration in the world</a:t>
            </a:r>
          </a:p>
          <a:p>
            <a:pPr lvl="1">
              <a:buFont typeface="Wingdings" pitchFamily="2" charset="2"/>
              <a:buChar char="§"/>
            </a:pPr>
            <a:r>
              <a:rPr lang="en-US" dirty="0" smtClean="0"/>
              <a:t>Lagging academic achievement</a:t>
            </a:r>
          </a:p>
          <a:p>
            <a:r>
              <a:rPr lang="en-US" dirty="0" smtClean="0"/>
              <a:t>These are significant threats to our competitiveness/quality of life</a:t>
            </a:r>
          </a:p>
          <a:p>
            <a:pPr marL="457200" lvl="1" indent="0">
              <a:buNone/>
            </a:pPr>
            <a:endParaRPr lang="en-US" dirty="0" smtClean="0"/>
          </a:p>
          <a:p>
            <a:pPr lvl="2"/>
            <a:endParaRPr lang="en-US" dirty="0"/>
          </a:p>
        </p:txBody>
      </p:sp>
    </p:spTree>
    <p:extLst>
      <p:ext uri="{BB962C8B-B14F-4D97-AF65-F5344CB8AC3E}">
        <p14:creationId xmlns:p14="http://schemas.microsoft.com/office/powerpoint/2010/main" val="10141612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Opportunities</a:t>
            </a:r>
            <a:endParaRPr lang="en-US" dirty="0"/>
          </a:p>
        </p:txBody>
      </p:sp>
      <p:sp>
        <p:nvSpPr>
          <p:cNvPr id="3" name="Content Placeholder 2"/>
          <p:cNvSpPr>
            <a:spLocks noGrp="1"/>
          </p:cNvSpPr>
          <p:nvPr>
            <p:ph idx="1"/>
          </p:nvPr>
        </p:nvSpPr>
        <p:spPr/>
        <p:txBody>
          <a:bodyPr>
            <a:normAutofit/>
          </a:bodyPr>
          <a:lstStyle/>
          <a:p>
            <a:r>
              <a:rPr lang="en-US" dirty="0" smtClean="0"/>
              <a:t>Behavioral health is a key factor for addressing these challenges</a:t>
            </a:r>
          </a:p>
          <a:p>
            <a:r>
              <a:rPr lang="en-US" dirty="0" smtClean="0"/>
              <a:t>We have well studied interventions that can impact most of these areas</a:t>
            </a:r>
          </a:p>
          <a:p>
            <a:r>
              <a:rPr lang="en-US" dirty="0" smtClean="0"/>
              <a:t>Financing for these interventions is spread across </a:t>
            </a:r>
          </a:p>
          <a:p>
            <a:pPr lvl="2">
              <a:buFont typeface="Wingdings" pitchFamily="2" charset="2"/>
              <a:buChar char="§"/>
            </a:pPr>
            <a:r>
              <a:rPr lang="en-US" dirty="0" smtClean="0"/>
              <a:t>Levels of government</a:t>
            </a:r>
          </a:p>
          <a:p>
            <a:pPr lvl="2">
              <a:buFont typeface="Wingdings" pitchFamily="2" charset="2"/>
              <a:buChar char="§"/>
            </a:pPr>
            <a:r>
              <a:rPr lang="en-US" dirty="0" smtClean="0"/>
              <a:t>Sectors of interest</a:t>
            </a:r>
          </a:p>
          <a:p>
            <a:pPr lvl="2">
              <a:buFont typeface="Wingdings" pitchFamily="2" charset="2"/>
              <a:buChar char="§"/>
            </a:pPr>
            <a:r>
              <a:rPr lang="en-US" dirty="0" smtClean="0"/>
              <a:t>Private, public and philanthropic sources</a:t>
            </a:r>
          </a:p>
          <a:p>
            <a:endParaRPr lang="en-US" dirty="0"/>
          </a:p>
        </p:txBody>
      </p:sp>
    </p:spTree>
    <p:extLst>
      <p:ext uri="{BB962C8B-B14F-4D97-AF65-F5344CB8AC3E}">
        <p14:creationId xmlns:p14="http://schemas.microsoft.com/office/powerpoint/2010/main" val="9775570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Schematic Representation of Prevention Financing</a:t>
            </a:r>
            <a:endParaRPr lang="en-US" dirty="0"/>
          </a:p>
        </p:txBody>
      </p:sp>
      <p:pic>
        <p:nvPicPr>
          <p:cNvPr id="3" name="Picture 4" descr="C:\Users\Sarah\Documents\Prev Financing 2\rubix cube.jpg"/>
          <p:cNvPicPr>
            <a:picLocks noChangeAspect="1" noChangeArrowheads="1"/>
          </p:cNvPicPr>
          <p:nvPr/>
        </p:nvPicPr>
        <p:blipFill>
          <a:blip r:embed="rId2" cstate="print"/>
          <a:srcRect l="26638" t="18753" r="24993" b="21777"/>
          <a:stretch>
            <a:fillRect/>
          </a:stretch>
        </p:blipFill>
        <p:spPr bwMode="auto">
          <a:xfrm>
            <a:off x="1905000" y="1828800"/>
            <a:ext cx="5257800" cy="44958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 for Stakeholders</a:t>
            </a:r>
            <a:endParaRPr lang="en-US" dirty="0"/>
          </a:p>
        </p:txBody>
      </p:sp>
      <p:sp>
        <p:nvSpPr>
          <p:cNvPr id="3" name="Content Placeholder 2"/>
          <p:cNvSpPr>
            <a:spLocks noGrp="1"/>
          </p:cNvSpPr>
          <p:nvPr>
            <p:ph idx="1"/>
          </p:nvPr>
        </p:nvSpPr>
        <p:spPr/>
        <p:txBody>
          <a:bodyPr>
            <a:normAutofit/>
          </a:bodyPr>
          <a:lstStyle/>
          <a:p>
            <a:r>
              <a:rPr lang="en-US" dirty="0" smtClean="0"/>
              <a:t>How best to understand and coordinate these diverse sources of funding</a:t>
            </a:r>
          </a:p>
          <a:p>
            <a:r>
              <a:rPr lang="en-US" dirty="0" smtClean="0"/>
              <a:t>Develop funding in areas that are not well supported</a:t>
            </a:r>
          </a:p>
          <a:p>
            <a:r>
              <a:rPr lang="en-US" dirty="0" smtClean="0"/>
              <a:t>Understand the overall yield of our investment</a:t>
            </a:r>
          </a:p>
          <a:p>
            <a:r>
              <a:rPr lang="en-US" dirty="0" smtClean="0"/>
              <a:t>Ensure sustainability of prevention funding</a:t>
            </a:r>
          </a:p>
          <a:p>
            <a:r>
              <a:rPr lang="en-US" dirty="0" smtClean="0"/>
              <a:t>Community based organizations can be the drivers of these activities</a:t>
            </a:r>
            <a:endParaRPr lang="en-US" dirty="0"/>
          </a:p>
        </p:txBody>
      </p:sp>
    </p:spTree>
    <p:extLst>
      <p:ext uri="{BB962C8B-B14F-4D97-AF65-F5344CB8AC3E}">
        <p14:creationId xmlns:p14="http://schemas.microsoft.com/office/powerpoint/2010/main" val="33036789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Opportunities</a:t>
            </a:r>
            <a:endParaRPr lang="en-US" dirty="0"/>
          </a:p>
        </p:txBody>
      </p:sp>
      <p:sp>
        <p:nvSpPr>
          <p:cNvPr id="3" name="Content Placeholder 2"/>
          <p:cNvSpPr>
            <a:spLocks noGrp="1"/>
          </p:cNvSpPr>
          <p:nvPr>
            <p:ph idx="1"/>
          </p:nvPr>
        </p:nvSpPr>
        <p:spPr/>
        <p:txBody>
          <a:bodyPr>
            <a:normAutofit/>
          </a:bodyPr>
          <a:lstStyle/>
          <a:p>
            <a:r>
              <a:rPr lang="en-US" dirty="0" smtClean="0"/>
              <a:t>General health and behavioral health can be promoted, and health and social problems can be prevented.</a:t>
            </a:r>
          </a:p>
          <a:p>
            <a:r>
              <a:rPr lang="en-US" dirty="0" smtClean="0"/>
              <a:t>General health, behavioral health, and social outcomes share a common set of predictors that are of concern to many different human service sectors</a:t>
            </a:r>
          </a:p>
          <a:p>
            <a:r>
              <a:rPr lang="en-US" dirty="0" smtClean="0"/>
              <a:t>Sectors have shared overall goals of healthy development, but different financing, interventions, and indicators</a:t>
            </a:r>
          </a:p>
          <a:p>
            <a:r>
              <a:rPr lang="en-US" dirty="0" smtClean="0"/>
              <a:t>Federal, state, and local stakeholders are invested in individual, family, and community wellbeing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Opportunities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sz="2800" dirty="0" smtClean="0"/>
              <a:t>A substantial science base exists that demonstrates the value of primary prevention interventions on</a:t>
            </a:r>
          </a:p>
          <a:p>
            <a:pPr lvl="1">
              <a:buFont typeface="Arial" pitchFamily="34" charset="0"/>
              <a:buChar char="•"/>
            </a:pPr>
            <a:r>
              <a:rPr lang="en-US" sz="2800" dirty="0" smtClean="0"/>
              <a:t>Pro-social behaviors</a:t>
            </a:r>
          </a:p>
          <a:p>
            <a:pPr lvl="1">
              <a:buFont typeface="Arial" pitchFamily="34" charset="0"/>
              <a:buChar char="•"/>
            </a:pPr>
            <a:r>
              <a:rPr lang="en-US" sz="2800" dirty="0" smtClean="0"/>
              <a:t>Reduction of risk factors</a:t>
            </a:r>
          </a:p>
          <a:p>
            <a:pPr lvl="1">
              <a:buFont typeface="Arial" pitchFamily="34" charset="0"/>
              <a:buChar char="•"/>
            </a:pPr>
            <a:r>
              <a:rPr lang="en-US" sz="2800" dirty="0" smtClean="0"/>
              <a:t>Educational and occupational achievement</a:t>
            </a:r>
          </a:p>
          <a:p>
            <a:pPr lvl="1">
              <a:buFont typeface="Arial" pitchFamily="34" charset="0"/>
              <a:buChar char="•"/>
            </a:pPr>
            <a:r>
              <a:rPr lang="en-US" sz="2800" dirty="0" smtClean="0"/>
              <a:t>Psychosocial and interpersonal functioning </a:t>
            </a:r>
          </a:p>
          <a:p>
            <a:pPr lvl="1">
              <a:buFont typeface="Arial" pitchFamily="34" charset="0"/>
              <a:buChar char="•"/>
            </a:pPr>
            <a:r>
              <a:rPr lang="en-US" sz="2800" dirty="0" smtClean="0"/>
              <a:t>Prevention of mental health and substance abuse conditions</a:t>
            </a:r>
          </a:p>
          <a:p>
            <a:pPr lvl="1">
              <a:buNone/>
            </a:pPr>
            <a:r>
              <a:rPr lang="en-US" sz="2800" dirty="0" smtClean="0"/>
              <a:t>Over the lifetime</a:t>
            </a:r>
          </a:p>
          <a:p>
            <a:pPr marL="457200" lvl="1" indent="0">
              <a:buNone/>
            </a:pPr>
            <a:endParaRPr lang="en-US" dirty="0" smtClean="0"/>
          </a:p>
          <a:p>
            <a:pPr marL="57150" indent="0">
              <a:buNone/>
            </a:pPr>
            <a:endParaRPr lang="en-US" dirty="0" smtClean="0"/>
          </a:p>
          <a:p>
            <a:pPr lvl="1"/>
            <a:endParaRPr lang="en-US" dirty="0"/>
          </a:p>
        </p:txBody>
      </p:sp>
    </p:spTree>
    <p:extLst>
      <p:ext uri="{BB962C8B-B14F-4D97-AF65-F5344CB8AC3E}">
        <p14:creationId xmlns:p14="http://schemas.microsoft.com/office/powerpoint/2010/main" val="23570782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Opportunities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This value is reflected in improved human capital with savings in both direct and indirect public expenditures in</a:t>
            </a:r>
          </a:p>
          <a:p>
            <a:pPr lvl="1">
              <a:buFont typeface="Wingdings" pitchFamily="2" charset="2"/>
              <a:buChar char="§"/>
            </a:pPr>
            <a:r>
              <a:rPr lang="en-US" dirty="0" smtClean="0"/>
              <a:t>Education</a:t>
            </a:r>
          </a:p>
          <a:p>
            <a:pPr lvl="1">
              <a:buFont typeface="Wingdings" pitchFamily="2" charset="2"/>
              <a:buChar char="§"/>
            </a:pPr>
            <a:r>
              <a:rPr lang="en-US" dirty="0" smtClean="0"/>
              <a:t>Health</a:t>
            </a:r>
          </a:p>
          <a:p>
            <a:pPr lvl="1">
              <a:buFont typeface="Wingdings" pitchFamily="2" charset="2"/>
              <a:buChar char="§"/>
            </a:pPr>
            <a:r>
              <a:rPr lang="en-US" dirty="0" smtClean="0"/>
              <a:t>Criminal Justice</a:t>
            </a:r>
          </a:p>
          <a:p>
            <a:pPr lvl="1">
              <a:buFont typeface="Wingdings" pitchFamily="2" charset="2"/>
              <a:buChar char="§"/>
            </a:pPr>
            <a:r>
              <a:rPr lang="en-US" dirty="0" smtClean="0"/>
              <a:t>Child Welfare</a:t>
            </a:r>
          </a:p>
          <a:p>
            <a:pPr lvl="1">
              <a:buFont typeface="Wingdings" pitchFamily="2" charset="2"/>
              <a:buChar char="§"/>
            </a:pPr>
            <a:r>
              <a:rPr lang="en-US" dirty="0" smtClean="0"/>
              <a:t>Social Welfare Programs</a:t>
            </a:r>
          </a:p>
          <a:p>
            <a:r>
              <a:rPr lang="en-US" dirty="0" smtClean="0"/>
              <a:t>As well as improved human capital contributing to increased productivity and broadly distributed societal  good. </a:t>
            </a:r>
            <a:endParaRPr lang="en-US" dirty="0" smtClean="0">
              <a:solidFill>
                <a:srgbClr val="FF0000"/>
              </a:solidFill>
            </a:endParaRPr>
          </a:p>
          <a:p>
            <a:pPr lvl="1">
              <a:buFont typeface="Wingdings" pitchFamily="2" charset="2"/>
              <a:buChar char="§"/>
            </a:pPr>
            <a:r>
              <a:rPr lang="en-US" dirty="0" smtClean="0"/>
              <a:t>Business and employer benefits</a:t>
            </a:r>
          </a:p>
          <a:p>
            <a:pPr lvl="1">
              <a:buFont typeface="Wingdings" pitchFamily="2" charset="2"/>
              <a:buChar char="§"/>
            </a:pPr>
            <a:r>
              <a:rPr lang="en-US" dirty="0" smtClean="0"/>
              <a:t>Increased community and civic engagement</a:t>
            </a:r>
          </a:p>
          <a:p>
            <a:pPr lvl="1">
              <a:buFont typeface="Wingdings" pitchFamily="2" charset="2"/>
              <a:buChar char="§"/>
            </a:pPr>
            <a:r>
              <a:rPr lang="en-US" dirty="0" smtClean="0"/>
              <a:t>Improved family and individual health and well-being</a:t>
            </a:r>
          </a:p>
        </p:txBody>
      </p:sp>
    </p:spTree>
    <p:extLst>
      <p:ext uri="{BB962C8B-B14F-4D97-AF65-F5344CB8AC3E}">
        <p14:creationId xmlns:p14="http://schemas.microsoft.com/office/powerpoint/2010/main" val="40631234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Intervention Costs and Benefits</a:t>
            </a:r>
            <a:endParaRPr lang="en-US" dirty="0"/>
          </a:p>
        </p:txBody>
      </p:sp>
      <p:graphicFrame>
        <p:nvGraphicFramePr>
          <p:cNvPr id="4" name="Content Placeholder 3"/>
          <p:cNvGraphicFramePr>
            <a:graphicFrameLocks noGrp="1"/>
          </p:cNvGraphicFramePr>
          <p:nvPr>
            <p:ph idx="1"/>
          </p:nvPr>
        </p:nvGraphicFramePr>
        <p:xfrm>
          <a:off x="533400" y="2133600"/>
          <a:ext cx="8229600" cy="3770878"/>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20873">
                <a:tc>
                  <a:txBody>
                    <a:bodyPr/>
                    <a:lstStyle/>
                    <a:p>
                      <a:pPr marL="0" marR="0" algn="ctr">
                        <a:lnSpc>
                          <a:spcPct val="115000"/>
                        </a:lnSpc>
                        <a:spcBef>
                          <a:spcPts val="0"/>
                        </a:spcBef>
                        <a:spcAft>
                          <a:spcPts val="0"/>
                        </a:spcAft>
                      </a:pPr>
                      <a:r>
                        <a:rPr lang="en-US" sz="1500" dirty="0">
                          <a:latin typeface="Calibri"/>
                          <a:ea typeface="Calibri"/>
                          <a:cs typeface="Times New Roman"/>
                        </a:rPr>
                        <a:t>Intervention</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Total Benefit</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Taxpayer Benefit</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Cost</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Net Value</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Benefit to Cost Ratio</a:t>
                      </a:r>
                    </a:p>
                  </a:txBody>
                  <a:tcPr marL="68580" marR="68580" marT="0" marB="0" anchor="ctr"/>
                </a:tc>
              </a:tr>
              <a:tr h="815132">
                <a:tc>
                  <a:txBody>
                    <a:bodyPr/>
                    <a:lstStyle/>
                    <a:p>
                      <a:pPr marL="0" marR="0">
                        <a:lnSpc>
                          <a:spcPct val="115000"/>
                        </a:lnSpc>
                        <a:spcBef>
                          <a:spcPts val="0"/>
                        </a:spcBef>
                        <a:spcAft>
                          <a:spcPts val="0"/>
                        </a:spcAft>
                      </a:pPr>
                      <a:r>
                        <a:rPr lang="en-US" sz="1500" dirty="0">
                          <a:latin typeface="Calibri"/>
                          <a:ea typeface="Calibri"/>
                          <a:cs typeface="Times New Roman"/>
                        </a:rPr>
                        <a:t>Seattle Social Development</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$15,238</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$4,591</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$3,081</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$12,157</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$4.94</a:t>
                      </a:r>
                    </a:p>
                  </a:txBody>
                  <a:tcPr marL="68580" marR="68580" marT="0" marB="0" anchor="ctr"/>
                </a:tc>
              </a:tr>
              <a:tr h="815132">
                <a:tc>
                  <a:txBody>
                    <a:bodyPr/>
                    <a:lstStyle/>
                    <a:p>
                      <a:pPr marL="0" marR="0">
                        <a:lnSpc>
                          <a:spcPct val="115000"/>
                        </a:lnSpc>
                        <a:spcBef>
                          <a:spcPts val="0"/>
                        </a:spcBef>
                        <a:spcAft>
                          <a:spcPts val="0"/>
                        </a:spcAft>
                      </a:pPr>
                      <a:r>
                        <a:rPr lang="en-US" sz="1500" dirty="0">
                          <a:latin typeface="Calibri"/>
                          <a:ea typeface="Calibri"/>
                          <a:cs typeface="Times New Roman"/>
                        </a:rPr>
                        <a:t>Good Behavior Game</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$8,890</a:t>
                      </a:r>
                    </a:p>
                  </a:txBody>
                  <a:tcPr marL="68580" marR="68580" marT="0" marB="0" anchor="ctr"/>
                </a:tc>
                <a:tc>
                  <a:txBody>
                    <a:bodyPr/>
                    <a:lstStyle/>
                    <a:p>
                      <a:pPr marL="0" marR="0" algn="ctr">
                        <a:lnSpc>
                          <a:spcPct val="115000"/>
                        </a:lnSpc>
                        <a:spcBef>
                          <a:spcPts val="0"/>
                        </a:spcBef>
                        <a:spcAft>
                          <a:spcPts val="0"/>
                        </a:spcAft>
                      </a:pPr>
                      <a:r>
                        <a:rPr lang="en-US" sz="1500">
                          <a:latin typeface="Calibri"/>
                          <a:ea typeface="Calibri"/>
                          <a:cs typeface="Times New Roman"/>
                        </a:rPr>
                        <a:t>$2,655</a:t>
                      </a:r>
                    </a:p>
                  </a:txBody>
                  <a:tcPr marL="68580" marR="68580" marT="0" marB="0" anchor="ctr"/>
                </a:tc>
                <a:tc>
                  <a:txBody>
                    <a:bodyPr/>
                    <a:lstStyle/>
                    <a:p>
                      <a:pPr marL="0" marR="0" algn="ctr">
                        <a:lnSpc>
                          <a:spcPct val="115000"/>
                        </a:lnSpc>
                        <a:spcBef>
                          <a:spcPts val="0"/>
                        </a:spcBef>
                        <a:spcAft>
                          <a:spcPts val="0"/>
                        </a:spcAft>
                      </a:pPr>
                      <a:r>
                        <a:rPr lang="en-US" sz="1500">
                          <a:latin typeface="Calibri"/>
                          <a:ea typeface="Calibri"/>
                          <a:cs typeface="Times New Roman"/>
                        </a:rPr>
                        <a:t>$158</a:t>
                      </a:r>
                    </a:p>
                  </a:txBody>
                  <a:tcPr marL="68580" marR="68580" marT="0" marB="0" anchor="ctr"/>
                </a:tc>
                <a:tc>
                  <a:txBody>
                    <a:bodyPr/>
                    <a:lstStyle/>
                    <a:p>
                      <a:pPr marL="0" marR="0" algn="ctr">
                        <a:lnSpc>
                          <a:spcPct val="115000"/>
                        </a:lnSpc>
                        <a:spcBef>
                          <a:spcPts val="0"/>
                        </a:spcBef>
                        <a:spcAft>
                          <a:spcPts val="0"/>
                        </a:spcAft>
                      </a:pPr>
                      <a:r>
                        <a:rPr lang="en-US" sz="1500">
                          <a:latin typeface="Calibri"/>
                          <a:ea typeface="Calibri"/>
                          <a:cs typeface="Times New Roman"/>
                        </a:rPr>
                        <a:t>$8,732</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$56.34</a:t>
                      </a:r>
                    </a:p>
                  </a:txBody>
                  <a:tcPr marL="68580" marR="68580" marT="0" marB="0" anchor="ctr"/>
                </a:tc>
              </a:tr>
              <a:tr h="815132">
                <a:tc>
                  <a:txBody>
                    <a:bodyPr/>
                    <a:lstStyle/>
                    <a:p>
                      <a:pPr marL="0" marR="0">
                        <a:lnSpc>
                          <a:spcPct val="115000"/>
                        </a:lnSpc>
                        <a:spcBef>
                          <a:spcPts val="0"/>
                        </a:spcBef>
                        <a:spcAft>
                          <a:spcPts val="0"/>
                        </a:spcAft>
                      </a:pPr>
                      <a:r>
                        <a:rPr lang="en-US" sz="1500" dirty="0">
                          <a:latin typeface="Calibri"/>
                          <a:ea typeface="Calibri"/>
                          <a:cs typeface="Times New Roman"/>
                        </a:rPr>
                        <a:t>Strengthening Families (10-14)</a:t>
                      </a:r>
                    </a:p>
                  </a:txBody>
                  <a:tcPr marL="68580" marR="68580" marT="0" marB="0" anchor="ctr"/>
                </a:tc>
                <a:tc>
                  <a:txBody>
                    <a:bodyPr/>
                    <a:lstStyle/>
                    <a:p>
                      <a:pPr marL="0" marR="0" algn="ctr">
                        <a:lnSpc>
                          <a:spcPct val="115000"/>
                        </a:lnSpc>
                        <a:spcBef>
                          <a:spcPts val="0"/>
                        </a:spcBef>
                        <a:spcAft>
                          <a:spcPts val="0"/>
                        </a:spcAft>
                      </a:pPr>
                      <a:r>
                        <a:rPr lang="en-US" sz="1500">
                          <a:latin typeface="Calibri"/>
                          <a:ea typeface="Calibri"/>
                          <a:cs typeface="Times New Roman"/>
                        </a:rPr>
                        <a:t>$4,259</a:t>
                      </a:r>
                    </a:p>
                  </a:txBody>
                  <a:tcPr marL="68580" marR="68580" marT="0" marB="0" anchor="ctr"/>
                </a:tc>
                <a:tc>
                  <a:txBody>
                    <a:bodyPr/>
                    <a:lstStyle/>
                    <a:p>
                      <a:pPr marL="0" marR="0" algn="ctr">
                        <a:lnSpc>
                          <a:spcPct val="115000"/>
                        </a:lnSpc>
                        <a:spcBef>
                          <a:spcPts val="0"/>
                        </a:spcBef>
                        <a:spcAft>
                          <a:spcPts val="0"/>
                        </a:spcAft>
                      </a:pPr>
                      <a:r>
                        <a:rPr lang="en-US" sz="1500">
                          <a:latin typeface="Calibri"/>
                          <a:ea typeface="Calibri"/>
                          <a:cs typeface="Times New Roman"/>
                        </a:rPr>
                        <a:t>$1,061</a:t>
                      </a:r>
                    </a:p>
                  </a:txBody>
                  <a:tcPr marL="68580" marR="68580" marT="0" marB="0" anchor="ctr"/>
                </a:tc>
                <a:tc>
                  <a:txBody>
                    <a:bodyPr/>
                    <a:lstStyle/>
                    <a:p>
                      <a:pPr marL="0" marR="0" algn="ctr">
                        <a:lnSpc>
                          <a:spcPct val="115000"/>
                        </a:lnSpc>
                        <a:spcBef>
                          <a:spcPts val="0"/>
                        </a:spcBef>
                        <a:spcAft>
                          <a:spcPts val="0"/>
                        </a:spcAft>
                      </a:pPr>
                      <a:r>
                        <a:rPr lang="en-US" sz="1500">
                          <a:latin typeface="Calibri"/>
                          <a:ea typeface="Calibri"/>
                          <a:cs typeface="Times New Roman"/>
                        </a:rPr>
                        <a:t>$1,098</a:t>
                      </a:r>
                    </a:p>
                  </a:txBody>
                  <a:tcPr marL="68580" marR="68580" marT="0" marB="0" anchor="ctr"/>
                </a:tc>
                <a:tc>
                  <a:txBody>
                    <a:bodyPr/>
                    <a:lstStyle/>
                    <a:p>
                      <a:pPr marL="0" marR="0" algn="ctr">
                        <a:lnSpc>
                          <a:spcPct val="115000"/>
                        </a:lnSpc>
                        <a:spcBef>
                          <a:spcPts val="0"/>
                        </a:spcBef>
                        <a:spcAft>
                          <a:spcPts val="0"/>
                        </a:spcAft>
                      </a:pPr>
                      <a:r>
                        <a:rPr lang="en-US" sz="1500">
                          <a:latin typeface="Calibri"/>
                          <a:ea typeface="Calibri"/>
                          <a:cs typeface="Times New Roman"/>
                        </a:rPr>
                        <a:t>$3,160</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$3.89</a:t>
                      </a:r>
                    </a:p>
                  </a:txBody>
                  <a:tcPr marL="68580" marR="68580" marT="0" marB="0" anchor="ctr"/>
                </a:tc>
              </a:tr>
              <a:tr h="815132">
                <a:tc>
                  <a:txBody>
                    <a:bodyPr/>
                    <a:lstStyle/>
                    <a:p>
                      <a:pPr marL="0" marR="0">
                        <a:lnSpc>
                          <a:spcPct val="115000"/>
                        </a:lnSpc>
                        <a:spcBef>
                          <a:spcPts val="0"/>
                        </a:spcBef>
                        <a:spcAft>
                          <a:spcPts val="0"/>
                        </a:spcAft>
                      </a:pPr>
                      <a:r>
                        <a:rPr lang="en-US" sz="1500" dirty="0">
                          <a:latin typeface="Calibri"/>
                          <a:ea typeface="Calibri"/>
                          <a:cs typeface="Times New Roman"/>
                        </a:rPr>
                        <a:t>Communities that Care</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$2,079</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$626</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$574</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$1,505</a:t>
                      </a:r>
                    </a:p>
                  </a:txBody>
                  <a:tcPr marL="68580" marR="68580" marT="0" marB="0" anchor="ctr"/>
                </a:tc>
                <a:tc>
                  <a:txBody>
                    <a:bodyPr/>
                    <a:lstStyle/>
                    <a:p>
                      <a:pPr marL="0" marR="0" algn="ctr">
                        <a:lnSpc>
                          <a:spcPct val="115000"/>
                        </a:lnSpc>
                        <a:spcBef>
                          <a:spcPts val="0"/>
                        </a:spcBef>
                        <a:spcAft>
                          <a:spcPts val="0"/>
                        </a:spcAft>
                      </a:pPr>
                      <a:r>
                        <a:rPr lang="en-US" sz="1500" dirty="0">
                          <a:latin typeface="Calibri"/>
                          <a:ea typeface="Calibri"/>
                          <a:cs typeface="Times New Roman"/>
                        </a:rPr>
                        <a:t>$3.70</a:t>
                      </a:r>
                    </a:p>
                  </a:txBody>
                  <a:tcPr marL="68580" marR="68580" marT="0" marB="0" anchor="ctr"/>
                </a:tc>
              </a:tr>
            </a:tbl>
          </a:graphicData>
        </a:graphic>
      </p:graphicFrame>
      <p:sp>
        <p:nvSpPr>
          <p:cNvPr id="5" name="Footer Placeholder 4"/>
          <p:cNvSpPr>
            <a:spLocks noGrp="1"/>
          </p:cNvSpPr>
          <p:nvPr>
            <p:ph type="ftr" sz="quarter" idx="11"/>
          </p:nvPr>
        </p:nvSpPr>
        <p:spPr>
          <a:xfrm>
            <a:off x="609600" y="6096000"/>
            <a:ext cx="8153400" cy="517525"/>
          </a:xfrm>
        </p:spPr>
        <p:txBody>
          <a:bodyPr/>
          <a:lstStyle/>
          <a:p>
            <a:r>
              <a:rPr lang="en-US" dirty="0" smtClean="0"/>
              <a:t>WSIPP. (2014). Benefit-Cost Results - General Prevention. http://www.wsipp.wa.gov/BenefitCost?topicId=6</a:t>
            </a:r>
            <a:endParaRPr lang="en-US" dirty="0"/>
          </a:p>
        </p:txBody>
      </p:sp>
    </p:spTree>
    <p:extLst>
      <p:ext uri="{BB962C8B-B14F-4D97-AF65-F5344CB8AC3E}">
        <p14:creationId xmlns:p14="http://schemas.microsoft.com/office/powerpoint/2010/main" val="523971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Overarching Goals</a:t>
            </a:r>
            <a:endParaRPr lang="en-US" dirty="0"/>
          </a:p>
        </p:txBody>
      </p:sp>
      <p:sp>
        <p:nvSpPr>
          <p:cNvPr id="3" name="Content Placeholder 2"/>
          <p:cNvSpPr>
            <a:spLocks noGrp="1"/>
          </p:cNvSpPr>
          <p:nvPr>
            <p:ph idx="1"/>
          </p:nvPr>
        </p:nvSpPr>
        <p:spPr>
          <a:xfrm>
            <a:off x="457200" y="1905000"/>
            <a:ext cx="8229600" cy="4525963"/>
          </a:xfrm>
        </p:spPr>
        <p:txBody>
          <a:bodyPr>
            <a:normAutofit/>
          </a:bodyPr>
          <a:lstStyle/>
          <a:p>
            <a:r>
              <a:rPr lang="en-US" dirty="0"/>
              <a:t>Every </a:t>
            </a:r>
            <a:r>
              <a:rPr lang="en-US" dirty="0" smtClean="0"/>
              <a:t>individual </a:t>
            </a:r>
            <a:r>
              <a:rPr lang="en-US" dirty="0"/>
              <a:t>should have </a:t>
            </a:r>
            <a:r>
              <a:rPr lang="en-US" dirty="0" smtClean="0"/>
              <a:t>the opportunity </a:t>
            </a:r>
            <a:r>
              <a:rPr lang="en-US" dirty="0"/>
              <a:t>to live, learn, work and play in safe, nurturing and caring environments that support healthy development</a:t>
            </a:r>
            <a:r>
              <a:rPr lang="en-US" dirty="0" smtClean="0"/>
              <a:t>.</a:t>
            </a:r>
          </a:p>
          <a:p>
            <a:pPr marL="0" indent="0">
              <a:buNone/>
            </a:pPr>
            <a:endParaRPr lang="en-US" dirty="0" smtClean="0"/>
          </a:p>
          <a:p>
            <a:r>
              <a:rPr lang="en-US" dirty="0" smtClean="0"/>
              <a:t>Every individual should have access to evidence-based primary prevention and promotion programs, just as they have access to preventive vaccinations and other public health goods and services.</a:t>
            </a:r>
          </a:p>
          <a:p>
            <a:pPr marL="0" indent="0">
              <a:buNone/>
            </a:pPr>
            <a:endParaRPr lang="en-US" dirty="0"/>
          </a:p>
        </p:txBody>
      </p:sp>
    </p:spTree>
    <p:extLst>
      <p:ext uri="{BB962C8B-B14F-4D97-AF65-F5344CB8AC3E}">
        <p14:creationId xmlns:p14="http://schemas.microsoft.com/office/powerpoint/2010/main" val="7564683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Opportunities for Prevention </a:t>
            </a:r>
            <a:endParaRPr lang="en-US" dirty="0"/>
          </a:p>
        </p:txBody>
      </p:sp>
      <p:sp>
        <p:nvSpPr>
          <p:cNvPr id="3" name="Content Placeholder 2"/>
          <p:cNvSpPr>
            <a:spLocks noGrp="1"/>
          </p:cNvSpPr>
          <p:nvPr>
            <p:ph idx="1"/>
          </p:nvPr>
        </p:nvSpPr>
        <p:spPr/>
        <p:txBody>
          <a:bodyPr>
            <a:normAutofit/>
          </a:bodyPr>
          <a:lstStyle/>
          <a:p>
            <a:r>
              <a:rPr lang="en-US" dirty="0" smtClean="0"/>
              <a:t>Building evidence of the effectiveness of prevention</a:t>
            </a:r>
          </a:p>
          <a:p>
            <a:r>
              <a:rPr lang="en-US" dirty="0" smtClean="0"/>
              <a:t>Increasing recognition of the need to get ahead of problems and the interconnectedness of health and social problems</a:t>
            </a:r>
          </a:p>
          <a:p>
            <a:r>
              <a:rPr lang="en-US" dirty="0" smtClean="0"/>
              <a:t>ACA presents new opportunities and incentives for prevention </a:t>
            </a:r>
          </a:p>
          <a:p>
            <a:r>
              <a:rPr lang="en-US" dirty="0" smtClean="0"/>
              <a:t>New interest by business in prevention</a:t>
            </a:r>
          </a:p>
          <a:p>
            <a:r>
              <a:rPr lang="en-US" dirty="0" smtClean="0"/>
              <a:t>Recognition of shared interest by sectors</a:t>
            </a:r>
          </a:p>
          <a:p>
            <a:r>
              <a:rPr lang="en-US" dirty="0" smtClean="0"/>
              <a:t>Success of coalitions and community partnerships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Constraints on Prevention Financing and Implementation</a:t>
            </a:r>
            <a:endParaRPr lang="en-US" dirty="0"/>
          </a:p>
        </p:txBody>
      </p:sp>
      <p:sp>
        <p:nvSpPr>
          <p:cNvPr id="3" name="Content Placeholder 2"/>
          <p:cNvSpPr>
            <a:spLocks noGrp="1"/>
          </p:cNvSpPr>
          <p:nvPr>
            <p:ph idx="1"/>
          </p:nvPr>
        </p:nvSpPr>
        <p:spPr/>
        <p:txBody>
          <a:bodyPr>
            <a:normAutofit/>
          </a:bodyPr>
          <a:lstStyle/>
          <a:p>
            <a:r>
              <a:rPr lang="en-US" dirty="0" smtClean="0"/>
              <a:t>Miniscule proportion of health care expenditures related to prevention (3%)</a:t>
            </a:r>
          </a:p>
          <a:p>
            <a:r>
              <a:rPr lang="en-US" dirty="0" smtClean="0"/>
              <a:t>Medical  care system focused on treatment rather than prevention of problems</a:t>
            </a:r>
          </a:p>
          <a:p>
            <a:pPr lvl="1">
              <a:buFont typeface="Wingdings" pitchFamily="2" charset="2"/>
              <a:buChar char="§"/>
            </a:pPr>
            <a:r>
              <a:rPr lang="en-US" dirty="0" smtClean="0"/>
              <a:t>Medical necessity criteria</a:t>
            </a:r>
          </a:p>
          <a:p>
            <a:pPr lvl="1">
              <a:buFont typeface="Wingdings" pitchFamily="2" charset="2"/>
              <a:buChar char="§"/>
            </a:pPr>
            <a:r>
              <a:rPr lang="en-US" dirty="0" smtClean="0"/>
              <a:t>Fee for service incentivizes treatment</a:t>
            </a:r>
          </a:p>
          <a:p>
            <a:pPr lvl="1">
              <a:buFont typeface="Wingdings" pitchFamily="2" charset="2"/>
              <a:buChar char="§"/>
            </a:pPr>
            <a:r>
              <a:rPr lang="en-US" dirty="0" smtClean="0"/>
              <a:t>Mobility of beneficiaries between insurers</a:t>
            </a:r>
          </a:p>
          <a:p>
            <a:pPr lvl="1">
              <a:buFont typeface="Wingdings" pitchFamily="2" charset="2"/>
              <a:buChar char="§"/>
            </a:pPr>
            <a:r>
              <a:rPr lang="en-US" dirty="0" smtClean="0"/>
              <a:t>Individual beneficiary v. family or population health</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Federal Financing</a:t>
            </a:r>
            <a:endParaRPr lang="en-US" dirty="0"/>
          </a:p>
        </p:txBody>
      </p:sp>
      <p:sp>
        <p:nvSpPr>
          <p:cNvPr id="3" name="Content Placeholder 2"/>
          <p:cNvSpPr>
            <a:spLocks noGrp="1"/>
          </p:cNvSpPr>
          <p:nvPr>
            <p:ph idx="1"/>
          </p:nvPr>
        </p:nvSpPr>
        <p:spPr/>
        <p:txBody>
          <a:bodyPr>
            <a:normAutofit lnSpcReduction="10000"/>
          </a:bodyPr>
          <a:lstStyle/>
          <a:p>
            <a:r>
              <a:rPr lang="en-US" dirty="0" smtClean="0"/>
              <a:t>SAMHSA</a:t>
            </a:r>
          </a:p>
          <a:p>
            <a:pPr lvl="1">
              <a:buFont typeface="Wingdings" pitchFamily="2" charset="2"/>
              <a:buChar char="§"/>
            </a:pPr>
            <a:r>
              <a:rPr lang="en-US" dirty="0" smtClean="0"/>
              <a:t>Substance Abuse Prevention and Treatment Block Grant</a:t>
            </a:r>
          </a:p>
          <a:p>
            <a:pPr lvl="1">
              <a:buFont typeface="Wingdings" pitchFamily="2" charset="2"/>
              <a:buChar char="§"/>
            </a:pPr>
            <a:r>
              <a:rPr lang="en-US" dirty="0"/>
              <a:t>SAMHSA Discretionary Programs</a:t>
            </a:r>
          </a:p>
          <a:p>
            <a:r>
              <a:rPr lang="en-US" dirty="0" smtClean="0"/>
              <a:t>Federal Block Grants</a:t>
            </a:r>
          </a:p>
          <a:p>
            <a:pPr lvl="1">
              <a:buFont typeface="Wingdings" pitchFamily="2" charset="2"/>
              <a:buChar char="§"/>
            </a:pPr>
            <a:r>
              <a:rPr lang="en-US" sz="2400" dirty="0" smtClean="0"/>
              <a:t>HRSA		 ▪ ACF</a:t>
            </a:r>
          </a:p>
          <a:p>
            <a:pPr lvl="1">
              <a:buFont typeface="Wingdings" pitchFamily="2" charset="2"/>
              <a:buChar char="§"/>
            </a:pPr>
            <a:r>
              <a:rPr lang="en-US" sz="2400" dirty="0" smtClean="0"/>
              <a:t>CDC		 ▪ </a:t>
            </a:r>
            <a:r>
              <a:rPr lang="en-US" sz="2400" dirty="0" err="1" smtClean="0"/>
              <a:t>AoA</a:t>
            </a:r>
            <a:endParaRPr lang="en-US" sz="2400" dirty="0" smtClean="0"/>
          </a:p>
          <a:p>
            <a:pPr lvl="1">
              <a:buFont typeface="Wingdings" pitchFamily="2" charset="2"/>
              <a:buChar char="§"/>
            </a:pPr>
            <a:r>
              <a:rPr lang="en-US" sz="2400" dirty="0" smtClean="0"/>
              <a:t>ED		 ▪ OJJDP</a:t>
            </a:r>
          </a:p>
          <a:p>
            <a:pPr lvl="1">
              <a:buFont typeface="Wingdings" pitchFamily="2" charset="2"/>
              <a:buChar char="§"/>
            </a:pPr>
            <a:r>
              <a:rPr lang="en-US" sz="2400" dirty="0" smtClean="0"/>
              <a:t>HUD</a:t>
            </a:r>
          </a:p>
          <a:p>
            <a:r>
              <a:rPr lang="en-US" dirty="0" smtClean="0"/>
              <a:t>Affordable Care Act/CMS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Prevention in the ACA</a:t>
            </a:r>
            <a:endParaRPr lang="en-US" dirty="0"/>
          </a:p>
        </p:txBody>
      </p:sp>
      <p:sp>
        <p:nvSpPr>
          <p:cNvPr id="3" name="Content Placeholder 2"/>
          <p:cNvSpPr>
            <a:spLocks noGrp="1"/>
          </p:cNvSpPr>
          <p:nvPr>
            <p:ph idx="1"/>
          </p:nvPr>
        </p:nvSpPr>
        <p:spPr/>
        <p:txBody>
          <a:bodyPr>
            <a:normAutofit/>
          </a:bodyPr>
          <a:lstStyle/>
          <a:p>
            <a:r>
              <a:rPr lang="en-US" dirty="0" smtClean="0"/>
              <a:t>Explicit Recognition of the Critical Nature of Prevention</a:t>
            </a:r>
          </a:p>
          <a:p>
            <a:r>
              <a:rPr lang="en-US" dirty="0" smtClean="0"/>
              <a:t>Grant funds - Prevention and Public Health Fund</a:t>
            </a:r>
          </a:p>
          <a:p>
            <a:r>
              <a:rPr lang="en-US" dirty="0" smtClean="0"/>
              <a:t>USPSTF requirements – Essential Benefits</a:t>
            </a:r>
          </a:p>
          <a:p>
            <a:r>
              <a:rPr lang="en-US" dirty="0" smtClean="0"/>
              <a:t>Universal coverage </a:t>
            </a:r>
          </a:p>
          <a:p>
            <a:r>
              <a:rPr lang="en-US" dirty="0" smtClean="0"/>
              <a:t>Risk-based financing – Oregon CCO model</a:t>
            </a:r>
          </a:p>
          <a:p>
            <a:r>
              <a:rPr lang="en-US" dirty="0" smtClean="0"/>
              <a:t>Community benefits requirements – nonprofit hospitals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Medicaid Waivers</a:t>
            </a:r>
            <a:endParaRPr lang="en-US" dirty="0"/>
          </a:p>
        </p:txBody>
      </p:sp>
      <p:sp>
        <p:nvSpPr>
          <p:cNvPr id="3" name="Content Placeholder 2"/>
          <p:cNvSpPr>
            <a:spLocks noGrp="1"/>
          </p:cNvSpPr>
          <p:nvPr>
            <p:ph idx="1"/>
          </p:nvPr>
        </p:nvSpPr>
        <p:spPr/>
        <p:txBody>
          <a:bodyPr/>
          <a:lstStyle/>
          <a:p>
            <a:r>
              <a:rPr lang="en-US" dirty="0" smtClean="0"/>
              <a:t>Provide incentives for prevention in the Medicaid population</a:t>
            </a:r>
          </a:p>
          <a:p>
            <a:r>
              <a:rPr lang="en-US" dirty="0" smtClean="0"/>
              <a:t>Primary prevention in clinical settings - Washington Triple P</a:t>
            </a:r>
          </a:p>
          <a:p>
            <a:r>
              <a:rPr lang="en-US" dirty="0" smtClean="0"/>
              <a:t>New York 1115 Waiver - </a:t>
            </a:r>
            <a:r>
              <a:rPr lang="en-US" dirty="0"/>
              <a:t>Delivery System Reform Incentive Payment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Sources</a:t>
            </a:r>
            <a:endParaRPr lang="en-US" dirty="0"/>
          </a:p>
        </p:txBody>
      </p:sp>
      <p:sp>
        <p:nvSpPr>
          <p:cNvPr id="3" name="Content Placeholder 2"/>
          <p:cNvSpPr>
            <a:spLocks noGrp="1"/>
          </p:cNvSpPr>
          <p:nvPr>
            <p:ph idx="1"/>
          </p:nvPr>
        </p:nvSpPr>
        <p:spPr/>
        <p:txBody>
          <a:bodyPr/>
          <a:lstStyle/>
          <a:p>
            <a:r>
              <a:rPr lang="en-US" dirty="0" smtClean="0"/>
              <a:t>Special taxes/levies</a:t>
            </a:r>
          </a:p>
          <a:p>
            <a:r>
              <a:rPr lang="en-US" dirty="0" smtClean="0"/>
              <a:t>Foundations</a:t>
            </a:r>
          </a:p>
          <a:p>
            <a:pPr lvl="1">
              <a:buFont typeface="Wingdings" pitchFamily="2" charset="2"/>
              <a:buChar char="§"/>
            </a:pPr>
            <a:r>
              <a:rPr lang="en-US" dirty="0" smtClean="0"/>
              <a:t>Health Conversion Foundations</a:t>
            </a:r>
          </a:p>
          <a:p>
            <a:r>
              <a:rPr lang="en-US" dirty="0" smtClean="0"/>
              <a:t>Wellness Trusts</a:t>
            </a:r>
          </a:p>
          <a:p>
            <a:r>
              <a:rPr lang="en-US" dirty="0" smtClean="0"/>
              <a:t>Reinvestment compacts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Pay for Success Financing in Mental Healthcare</a:t>
            </a:r>
            <a:endParaRPr lang="en-US" dirty="0"/>
          </a:p>
        </p:txBody>
      </p:sp>
      <p:sp>
        <p:nvSpPr>
          <p:cNvPr id="3" name="Subtitle 2"/>
          <p:cNvSpPr>
            <a:spLocks noGrp="1"/>
          </p:cNvSpPr>
          <p:nvPr>
            <p:ph type="subTitle" idx="1"/>
          </p:nvPr>
        </p:nvSpPr>
        <p:spPr/>
        <p:txBody>
          <a:bodyPr>
            <a:normAutofit fontScale="47500" lnSpcReduction="20000"/>
          </a:bodyPr>
          <a:lstStyle/>
          <a:p>
            <a:r>
              <a:rPr lang="en-US" dirty="0" smtClean="0"/>
              <a:t>Max Crowley PhD</a:t>
            </a:r>
          </a:p>
          <a:p>
            <a:r>
              <a:rPr lang="en-US" dirty="0" smtClean="0"/>
              <a:t>Duke University</a:t>
            </a:r>
            <a:endParaRPr lang="en-US" dirty="0"/>
          </a:p>
        </p:txBody>
      </p:sp>
    </p:spTree>
    <p:extLst>
      <p:ext uri="{BB962C8B-B14F-4D97-AF65-F5344CB8AC3E}">
        <p14:creationId xmlns:p14="http://schemas.microsoft.com/office/powerpoint/2010/main" val="4122055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Pay For Success</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New financial Instruments allow public sector or nonprofits to leverage private capital</a:t>
            </a:r>
          </a:p>
          <a:p>
            <a:pPr>
              <a:buFont typeface="Arial" panose="020B0604020202020204" pitchFamily="34" charset="0"/>
              <a:buChar char="•"/>
            </a:pPr>
            <a:r>
              <a:rPr lang="en-US" dirty="0"/>
              <a:t>Private investors finance the delivery of a preventive program known to reduce service utilization in the future</a:t>
            </a:r>
          </a:p>
          <a:p>
            <a:pPr>
              <a:buFont typeface="Arial" panose="020B0604020202020204" pitchFamily="34" charset="0"/>
              <a:buChar char="•"/>
            </a:pPr>
            <a:r>
              <a:rPr lang="en-US" dirty="0"/>
              <a:t>If the program achieves the expected reductions in service utilization then the investors receive a return on their investment</a:t>
            </a:r>
          </a:p>
          <a:p>
            <a:pPr>
              <a:buFont typeface="Arial" panose="020B0604020202020204" pitchFamily="34" charset="0"/>
              <a:buChar char="•"/>
            </a:pPr>
            <a:r>
              <a:rPr lang="en-US" dirty="0"/>
              <a:t>But if the program fails to achieve the agreed upon cost aversion, then the investors lose some or all of their </a:t>
            </a:r>
            <a:r>
              <a:rPr lang="en-US" dirty="0" smtClean="0"/>
              <a:t>investment</a:t>
            </a:r>
            <a:endParaRPr lang="en-US" dirty="0"/>
          </a:p>
        </p:txBody>
      </p:sp>
    </p:spTree>
    <p:extLst>
      <p:ext uri="{BB962C8B-B14F-4D97-AF65-F5344CB8AC3E}">
        <p14:creationId xmlns:p14="http://schemas.microsoft.com/office/powerpoint/2010/main" val="1592790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5006340"/>
            <a:ext cx="9144000" cy="18516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Pay For Success: Activity in the US</a:t>
            </a:r>
            <a:endParaRPr lang="en-US"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40307" y="875479"/>
            <a:ext cx="8172080" cy="5852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0" y="6427113"/>
            <a:ext cx="4754880" cy="338554"/>
          </a:xfrm>
          <a:prstGeom prst="rect">
            <a:avLst/>
          </a:prstGeom>
          <a:noFill/>
        </p:spPr>
        <p:txBody>
          <a:bodyPr wrap="square" rtlCol="0">
            <a:spAutoFit/>
          </a:bodyPr>
          <a:lstStyle/>
          <a:p>
            <a:r>
              <a:rPr lang="en-US" sz="800" dirty="0" smtClean="0"/>
              <a:t>Social Finance (2014) State and Local Activity: A Snapshot. http://www.socialfinanceus.org/social-impact-financing/social-impact-bonds/history-sib-market/united-states</a:t>
            </a:r>
            <a:endParaRPr lang="en-US" sz="800" dirty="0"/>
          </a:p>
        </p:txBody>
      </p:sp>
    </p:spTree>
    <p:extLst>
      <p:ext uri="{BB962C8B-B14F-4D97-AF65-F5344CB8AC3E}">
        <p14:creationId xmlns:p14="http://schemas.microsoft.com/office/powerpoint/2010/main" val="179239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0" y="5006340"/>
            <a:ext cx="9144000" cy="18516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dirty="0"/>
              <a:t>Pay for </a:t>
            </a:r>
            <a:r>
              <a:rPr lang="en-US" dirty="0" smtClean="0"/>
              <a:t>Success: Structure</a:t>
            </a:r>
            <a:endParaRPr lang="en-US" dirty="0"/>
          </a:p>
        </p:txBody>
      </p:sp>
      <p:sp>
        <p:nvSpPr>
          <p:cNvPr id="3" name="Rounded Rectangle 2"/>
          <p:cNvSpPr/>
          <p:nvPr/>
        </p:nvSpPr>
        <p:spPr>
          <a:xfrm>
            <a:off x="6324600" y="450342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Investors</a:t>
            </a:r>
            <a:endParaRPr lang="en-US" dirty="0"/>
          </a:p>
        </p:txBody>
      </p:sp>
      <p:sp>
        <p:nvSpPr>
          <p:cNvPr id="15" name="Rounded Rectangle 14"/>
          <p:cNvSpPr/>
          <p:nvPr/>
        </p:nvSpPr>
        <p:spPr>
          <a:xfrm>
            <a:off x="3308738" y="450342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Intermediary</a:t>
            </a:r>
            <a:endParaRPr lang="en-US" dirty="0"/>
          </a:p>
        </p:txBody>
      </p:sp>
      <p:sp>
        <p:nvSpPr>
          <p:cNvPr id="16" name="Rounded Rectangle 15"/>
          <p:cNvSpPr/>
          <p:nvPr/>
        </p:nvSpPr>
        <p:spPr>
          <a:xfrm>
            <a:off x="323850" y="450342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Government</a:t>
            </a:r>
            <a:endParaRPr lang="en-US" dirty="0"/>
          </a:p>
        </p:txBody>
      </p:sp>
      <p:cxnSp>
        <p:nvCxnSpPr>
          <p:cNvPr id="25" name="Straight Arrow Connector 24"/>
          <p:cNvCxnSpPr>
            <a:stCxn id="16" idx="3"/>
            <a:endCxn id="15" idx="1"/>
          </p:cNvCxnSpPr>
          <p:nvPr/>
        </p:nvCxnSpPr>
        <p:spPr>
          <a:xfrm>
            <a:off x="2914650" y="4770120"/>
            <a:ext cx="3940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5" idx="3"/>
            <a:endCxn id="3" idx="1"/>
          </p:cNvCxnSpPr>
          <p:nvPr/>
        </p:nvCxnSpPr>
        <p:spPr>
          <a:xfrm>
            <a:off x="5960498" y="4770120"/>
            <a:ext cx="364102" cy="0"/>
          </a:xfrm>
          <a:prstGeom prst="straightConnector1">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6216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0" y="5006340"/>
            <a:ext cx="9144000" cy="18516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dirty="0"/>
              <a:t>Pay for </a:t>
            </a:r>
            <a:r>
              <a:rPr lang="en-US" dirty="0" smtClean="0"/>
              <a:t>Success: Structure</a:t>
            </a:r>
            <a:endParaRPr lang="en-US" dirty="0"/>
          </a:p>
        </p:txBody>
      </p:sp>
      <p:grpSp>
        <p:nvGrpSpPr>
          <p:cNvPr id="8" name="Group 30"/>
          <p:cNvGrpSpPr/>
          <p:nvPr/>
        </p:nvGrpSpPr>
        <p:grpSpPr>
          <a:xfrm>
            <a:off x="6324600" y="4503420"/>
            <a:ext cx="2590800" cy="990600"/>
            <a:chOff x="6324600" y="3886200"/>
            <a:chExt cx="2590800" cy="990600"/>
          </a:xfrm>
        </p:grpSpPr>
        <p:sp>
          <p:nvSpPr>
            <p:cNvPr id="3" name="Rounded Rectangle 2"/>
            <p:cNvSpPr/>
            <p:nvPr/>
          </p:nvSpPr>
          <p:spPr>
            <a:xfrm>
              <a:off x="6324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Investors</a:t>
              </a:r>
              <a:endParaRPr lang="en-US" dirty="0"/>
            </a:p>
          </p:txBody>
        </p:sp>
        <p:sp>
          <p:nvSpPr>
            <p:cNvPr id="23" name="Rectangle 22"/>
            <p:cNvSpPr/>
            <p:nvPr/>
          </p:nvSpPr>
          <p:spPr>
            <a:xfrm>
              <a:off x="6324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Goldman Sachs</a:t>
              </a:r>
              <a:endParaRPr lang="en-US" dirty="0">
                <a:solidFill>
                  <a:schemeClr val="tx1"/>
                </a:solidFill>
              </a:endParaRPr>
            </a:p>
          </p:txBody>
        </p:sp>
      </p:grpSp>
      <p:grpSp>
        <p:nvGrpSpPr>
          <p:cNvPr id="9" name="Group 28"/>
          <p:cNvGrpSpPr/>
          <p:nvPr/>
        </p:nvGrpSpPr>
        <p:grpSpPr>
          <a:xfrm>
            <a:off x="3308738" y="4503420"/>
            <a:ext cx="2651760" cy="990600"/>
            <a:chOff x="3289935" y="3886200"/>
            <a:chExt cx="2651760" cy="990600"/>
          </a:xfrm>
        </p:grpSpPr>
        <p:sp>
          <p:nvSpPr>
            <p:cNvPr id="15" name="Rounded Rectangle 14"/>
            <p:cNvSpPr/>
            <p:nvPr/>
          </p:nvSpPr>
          <p:spPr>
            <a:xfrm>
              <a:off x="3289935" y="388620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Intermediary</a:t>
              </a:r>
              <a:endParaRPr lang="en-US" dirty="0"/>
            </a:p>
          </p:txBody>
        </p:sp>
        <p:sp>
          <p:nvSpPr>
            <p:cNvPr id="22" name="Rectangle 21"/>
            <p:cNvSpPr/>
            <p:nvPr/>
          </p:nvSpPr>
          <p:spPr>
            <a:xfrm>
              <a:off x="3289935" y="4343400"/>
              <a:ext cx="265176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MDRC</a:t>
              </a:r>
              <a:endParaRPr lang="en-US" dirty="0">
                <a:solidFill>
                  <a:schemeClr val="tx1"/>
                </a:solidFill>
              </a:endParaRPr>
            </a:p>
          </p:txBody>
        </p:sp>
      </p:grpSp>
      <p:grpSp>
        <p:nvGrpSpPr>
          <p:cNvPr id="10" name="Group 29"/>
          <p:cNvGrpSpPr/>
          <p:nvPr/>
        </p:nvGrpSpPr>
        <p:grpSpPr>
          <a:xfrm>
            <a:off x="323850" y="4503420"/>
            <a:ext cx="2590800" cy="990600"/>
            <a:chOff x="228600" y="3886200"/>
            <a:chExt cx="2590800" cy="990600"/>
          </a:xfrm>
        </p:grpSpPr>
        <p:sp>
          <p:nvSpPr>
            <p:cNvPr id="16" name="Rounded Rectangle 15"/>
            <p:cNvSpPr/>
            <p:nvPr/>
          </p:nvSpPr>
          <p:spPr>
            <a:xfrm>
              <a:off x="228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Government</a:t>
              </a:r>
              <a:endParaRPr lang="en-US" dirty="0"/>
            </a:p>
          </p:txBody>
        </p:sp>
        <p:sp>
          <p:nvSpPr>
            <p:cNvPr id="7" name="Rectangle 6"/>
            <p:cNvSpPr/>
            <p:nvPr/>
          </p:nvSpPr>
          <p:spPr>
            <a:xfrm>
              <a:off x="228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City of New York</a:t>
              </a:r>
              <a:endParaRPr lang="en-US" dirty="0">
                <a:solidFill>
                  <a:schemeClr val="tx1"/>
                </a:solidFill>
              </a:endParaRPr>
            </a:p>
          </p:txBody>
        </p:sp>
      </p:grpSp>
      <p:cxnSp>
        <p:nvCxnSpPr>
          <p:cNvPr id="25" name="Straight Arrow Connector 24"/>
          <p:cNvCxnSpPr>
            <a:stCxn id="16" idx="3"/>
            <a:endCxn id="15" idx="1"/>
          </p:cNvCxnSpPr>
          <p:nvPr/>
        </p:nvCxnSpPr>
        <p:spPr>
          <a:xfrm>
            <a:off x="2914650" y="4770120"/>
            <a:ext cx="3940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5" idx="3"/>
            <a:endCxn id="3" idx="1"/>
          </p:cNvCxnSpPr>
          <p:nvPr/>
        </p:nvCxnSpPr>
        <p:spPr>
          <a:xfrm>
            <a:off x="5960498" y="4770120"/>
            <a:ext cx="364102" cy="0"/>
          </a:xfrm>
          <a:prstGeom prst="straightConnector1">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6686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0" y="5006340"/>
            <a:ext cx="9144000" cy="18516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dirty="0"/>
              <a:t>Pay for </a:t>
            </a:r>
            <a:r>
              <a:rPr lang="en-US" dirty="0" smtClean="0"/>
              <a:t>Success: Structure</a:t>
            </a:r>
            <a:endParaRPr lang="en-US" dirty="0"/>
          </a:p>
        </p:txBody>
      </p:sp>
      <p:grpSp>
        <p:nvGrpSpPr>
          <p:cNvPr id="8" name="Group 30"/>
          <p:cNvGrpSpPr/>
          <p:nvPr/>
        </p:nvGrpSpPr>
        <p:grpSpPr>
          <a:xfrm>
            <a:off x="6324600" y="4503420"/>
            <a:ext cx="2590800" cy="990600"/>
            <a:chOff x="6324600" y="3886200"/>
            <a:chExt cx="2590800" cy="990600"/>
          </a:xfrm>
        </p:grpSpPr>
        <p:sp>
          <p:nvSpPr>
            <p:cNvPr id="3" name="Rounded Rectangle 2"/>
            <p:cNvSpPr/>
            <p:nvPr/>
          </p:nvSpPr>
          <p:spPr>
            <a:xfrm>
              <a:off x="6324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Investors</a:t>
              </a:r>
              <a:endParaRPr lang="en-US" dirty="0"/>
            </a:p>
          </p:txBody>
        </p:sp>
        <p:sp>
          <p:nvSpPr>
            <p:cNvPr id="23" name="Rectangle 22"/>
            <p:cNvSpPr/>
            <p:nvPr/>
          </p:nvSpPr>
          <p:spPr>
            <a:xfrm>
              <a:off x="6324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Goldman Sachs</a:t>
              </a:r>
              <a:endParaRPr lang="en-US" dirty="0">
                <a:solidFill>
                  <a:schemeClr val="tx1"/>
                </a:solidFill>
              </a:endParaRPr>
            </a:p>
          </p:txBody>
        </p:sp>
      </p:grpSp>
      <p:grpSp>
        <p:nvGrpSpPr>
          <p:cNvPr id="9" name="Group 28"/>
          <p:cNvGrpSpPr/>
          <p:nvPr/>
        </p:nvGrpSpPr>
        <p:grpSpPr>
          <a:xfrm>
            <a:off x="3308738" y="4503420"/>
            <a:ext cx="2651760" cy="990600"/>
            <a:chOff x="3289935" y="3886200"/>
            <a:chExt cx="2651760" cy="990600"/>
          </a:xfrm>
        </p:grpSpPr>
        <p:sp>
          <p:nvSpPr>
            <p:cNvPr id="15" name="Rounded Rectangle 14"/>
            <p:cNvSpPr/>
            <p:nvPr/>
          </p:nvSpPr>
          <p:spPr>
            <a:xfrm>
              <a:off x="3289935" y="388620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Intermediary</a:t>
              </a:r>
              <a:endParaRPr lang="en-US" dirty="0"/>
            </a:p>
          </p:txBody>
        </p:sp>
        <p:sp>
          <p:nvSpPr>
            <p:cNvPr id="22" name="Rectangle 21"/>
            <p:cNvSpPr/>
            <p:nvPr/>
          </p:nvSpPr>
          <p:spPr>
            <a:xfrm>
              <a:off x="3289935" y="4343400"/>
              <a:ext cx="265176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MDRC</a:t>
              </a:r>
              <a:endParaRPr lang="en-US" dirty="0">
                <a:solidFill>
                  <a:schemeClr val="tx1"/>
                </a:solidFill>
              </a:endParaRPr>
            </a:p>
          </p:txBody>
        </p:sp>
      </p:grpSp>
      <p:grpSp>
        <p:nvGrpSpPr>
          <p:cNvPr id="10" name="Group 29"/>
          <p:cNvGrpSpPr/>
          <p:nvPr/>
        </p:nvGrpSpPr>
        <p:grpSpPr>
          <a:xfrm>
            <a:off x="323850" y="4503420"/>
            <a:ext cx="2590800" cy="990600"/>
            <a:chOff x="228600" y="3886200"/>
            <a:chExt cx="2590800" cy="990600"/>
          </a:xfrm>
        </p:grpSpPr>
        <p:sp>
          <p:nvSpPr>
            <p:cNvPr id="16" name="Rounded Rectangle 15"/>
            <p:cNvSpPr/>
            <p:nvPr/>
          </p:nvSpPr>
          <p:spPr>
            <a:xfrm>
              <a:off x="228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Government</a:t>
              </a:r>
              <a:endParaRPr lang="en-US" dirty="0"/>
            </a:p>
          </p:txBody>
        </p:sp>
        <p:sp>
          <p:nvSpPr>
            <p:cNvPr id="7" name="Rectangle 6"/>
            <p:cNvSpPr/>
            <p:nvPr/>
          </p:nvSpPr>
          <p:spPr>
            <a:xfrm>
              <a:off x="228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City of New York</a:t>
              </a:r>
              <a:endParaRPr lang="en-US" dirty="0">
                <a:solidFill>
                  <a:schemeClr val="tx1"/>
                </a:solidFill>
              </a:endParaRPr>
            </a:p>
          </p:txBody>
        </p:sp>
      </p:grpSp>
      <p:cxnSp>
        <p:nvCxnSpPr>
          <p:cNvPr id="25" name="Straight Arrow Connector 24"/>
          <p:cNvCxnSpPr>
            <a:stCxn id="16" idx="3"/>
            <a:endCxn id="15" idx="1"/>
          </p:cNvCxnSpPr>
          <p:nvPr/>
        </p:nvCxnSpPr>
        <p:spPr>
          <a:xfrm>
            <a:off x="2914650" y="4770120"/>
            <a:ext cx="3940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5" idx="3"/>
            <a:endCxn id="3" idx="1"/>
          </p:cNvCxnSpPr>
          <p:nvPr/>
        </p:nvCxnSpPr>
        <p:spPr>
          <a:xfrm>
            <a:off x="5960498" y="4770120"/>
            <a:ext cx="364102" cy="0"/>
          </a:xfrm>
          <a:prstGeom prst="straightConnector1">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41"/>
          <p:cNvGrpSpPr/>
          <p:nvPr/>
        </p:nvGrpSpPr>
        <p:grpSpPr>
          <a:xfrm>
            <a:off x="3308738" y="2769869"/>
            <a:ext cx="2651760" cy="1362859"/>
            <a:chOff x="3332797" y="3764280"/>
            <a:chExt cx="2651760" cy="967740"/>
          </a:xfrm>
        </p:grpSpPr>
        <p:sp>
          <p:nvSpPr>
            <p:cNvPr id="19" name="Rounded Rectangle 18"/>
            <p:cNvSpPr/>
            <p:nvPr/>
          </p:nvSpPr>
          <p:spPr>
            <a:xfrm>
              <a:off x="3332797" y="376428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Service Provider</a:t>
              </a:r>
              <a:endParaRPr lang="en-US" dirty="0"/>
            </a:p>
          </p:txBody>
        </p:sp>
        <p:sp>
          <p:nvSpPr>
            <p:cNvPr id="34" name="Rectangle 33"/>
            <p:cNvSpPr/>
            <p:nvPr/>
          </p:nvSpPr>
          <p:spPr>
            <a:xfrm>
              <a:off x="3332797" y="4140014"/>
              <a:ext cx="2651760" cy="59200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Osborne Assoc. &amp; Friends of Island Academy</a:t>
              </a:r>
              <a:endParaRPr lang="en-US" dirty="0">
                <a:solidFill>
                  <a:schemeClr val="tx1"/>
                </a:solidFill>
              </a:endParaRPr>
            </a:p>
          </p:txBody>
        </p:sp>
      </p:grpSp>
      <p:grpSp>
        <p:nvGrpSpPr>
          <p:cNvPr id="12" name="Group 43"/>
          <p:cNvGrpSpPr/>
          <p:nvPr/>
        </p:nvGrpSpPr>
        <p:grpSpPr>
          <a:xfrm>
            <a:off x="3334456" y="1075765"/>
            <a:ext cx="2600325" cy="1267384"/>
            <a:chOff x="3377565" y="1383030"/>
            <a:chExt cx="2600325" cy="963929"/>
          </a:xfrm>
        </p:grpSpPr>
        <p:sp>
          <p:nvSpPr>
            <p:cNvPr id="21" name="Rounded Rectangle 20"/>
            <p:cNvSpPr/>
            <p:nvPr/>
          </p:nvSpPr>
          <p:spPr>
            <a:xfrm>
              <a:off x="3383280" y="138303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Mental Health Program</a:t>
              </a:r>
              <a:endParaRPr lang="en-US" dirty="0"/>
            </a:p>
          </p:txBody>
        </p:sp>
        <p:sp>
          <p:nvSpPr>
            <p:cNvPr id="35" name="Rectangle 34"/>
            <p:cNvSpPr/>
            <p:nvPr/>
          </p:nvSpPr>
          <p:spPr>
            <a:xfrm>
              <a:off x="3377565" y="1867125"/>
              <a:ext cx="2600325" cy="47983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Cognitive Behavioral Therapy</a:t>
              </a:r>
              <a:endParaRPr lang="en-US" dirty="0">
                <a:solidFill>
                  <a:schemeClr val="tx1"/>
                </a:solidFill>
              </a:endParaRPr>
            </a:p>
          </p:txBody>
        </p:sp>
      </p:grpSp>
      <p:cxnSp>
        <p:nvCxnSpPr>
          <p:cNvPr id="40" name="Straight Arrow Connector 39"/>
          <p:cNvCxnSpPr>
            <a:stCxn id="19" idx="0"/>
            <a:endCxn id="35" idx="2"/>
          </p:cNvCxnSpPr>
          <p:nvPr/>
        </p:nvCxnSpPr>
        <p:spPr>
          <a:xfrm flipV="1">
            <a:off x="4634618" y="2343149"/>
            <a:ext cx="1" cy="42672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3" idx="0"/>
            <a:endCxn id="19" idx="3"/>
          </p:cNvCxnSpPr>
          <p:nvPr/>
        </p:nvCxnSpPr>
        <p:spPr>
          <a:xfrm rot="16200000" flipV="1">
            <a:off x="6111269" y="2994689"/>
            <a:ext cx="1357960" cy="1659502"/>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9065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0" y="5006340"/>
            <a:ext cx="9144000" cy="18516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dirty="0"/>
              <a:t>Pay for </a:t>
            </a:r>
            <a:r>
              <a:rPr lang="en-US" dirty="0" smtClean="0"/>
              <a:t>Success: Structure</a:t>
            </a:r>
            <a:endParaRPr lang="en-US" dirty="0"/>
          </a:p>
        </p:txBody>
      </p:sp>
      <p:grpSp>
        <p:nvGrpSpPr>
          <p:cNvPr id="8" name="Group 30"/>
          <p:cNvGrpSpPr/>
          <p:nvPr/>
        </p:nvGrpSpPr>
        <p:grpSpPr>
          <a:xfrm>
            <a:off x="6324600" y="4503420"/>
            <a:ext cx="2590800" cy="990600"/>
            <a:chOff x="6324600" y="3886200"/>
            <a:chExt cx="2590800" cy="990600"/>
          </a:xfrm>
        </p:grpSpPr>
        <p:sp>
          <p:nvSpPr>
            <p:cNvPr id="3" name="Rounded Rectangle 2"/>
            <p:cNvSpPr/>
            <p:nvPr/>
          </p:nvSpPr>
          <p:spPr>
            <a:xfrm>
              <a:off x="6324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Investors</a:t>
              </a:r>
              <a:endParaRPr lang="en-US" dirty="0"/>
            </a:p>
          </p:txBody>
        </p:sp>
        <p:sp>
          <p:nvSpPr>
            <p:cNvPr id="23" name="Rectangle 22"/>
            <p:cNvSpPr/>
            <p:nvPr/>
          </p:nvSpPr>
          <p:spPr>
            <a:xfrm>
              <a:off x="6324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Goldman Sachs</a:t>
              </a:r>
              <a:endParaRPr lang="en-US" dirty="0">
                <a:solidFill>
                  <a:schemeClr val="tx1"/>
                </a:solidFill>
              </a:endParaRPr>
            </a:p>
          </p:txBody>
        </p:sp>
      </p:grpSp>
      <p:grpSp>
        <p:nvGrpSpPr>
          <p:cNvPr id="9" name="Group 28"/>
          <p:cNvGrpSpPr/>
          <p:nvPr/>
        </p:nvGrpSpPr>
        <p:grpSpPr>
          <a:xfrm>
            <a:off x="3308738" y="4503420"/>
            <a:ext cx="2651760" cy="990600"/>
            <a:chOff x="3289935" y="3886200"/>
            <a:chExt cx="2651760" cy="990600"/>
          </a:xfrm>
        </p:grpSpPr>
        <p:sp>
          <p:nvSpPr>
            <p:cNvPr id="15" name="Rounded Rectangle 14"/>
            <p:cNvSpPr/>
            <p:nvPr/>
          </p:nvSpPr>
          <p:spPr>
            <a:xfrm>
              <a:off x="3289935" y="388620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Intermediary</a:t>
              </a:r>
              <a:endParaRPr lang="en-US" dirty="0"/>
            </a:p>
          </p:txBody>
        </p:sp>
        <p:sp>
          <p:nvSpPr>
            <p:cNvPr id="22" name="Rectangle 21"/>
            <p:cNvSpPr/>
            <p:nvPr/>
          </p:nvSpPr>
          <p:spPr>
            <a:xfrm>
              <a:off x="3289935" y="4343400"/>
              <a:ext cx="265176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MDRC</a:t>
              </a:r>
              <a:endParaRPr lang="en-US" dirty="0">
                <a:solidFill>
                  <a:schemeClr val="tx1"/>
                </a:solidFill>
              </a:endParaRPr>
            </a:p>
          </p:txBody>
        </p:sp>
      </p:grpSp>
      <p:grpSp>
        <p:nvGrpSpPr>
          <p:cNvPr id="10" name="Group 29"/>
          <p:cNvGrpSpPr/>
          <p:nvPr/>
        </p:nvGrpSpPr>
        <p:grpSpPr>
          <a:xfrm>
            <a:off x="323850" y="4503420"/>
            <a:ext cx="2590800" cy="990600"/>
            <a:chOff x="228600" y="3886200"/>
            <a:chExt cx="2590800" cy="990600"/>
          </a:xfrm>
        </p:grpSpPr>
        <p:sp>
          <p:nvSpPr>
            <p:cNvPr id="16" name="Rounded Rectangle 15"/>
            <p:cNvSpPr/>
            <p:nvPr/>
          </p:nvSpPr>
          <p:spPr>
            <a:xfrm>
              <a:off x="228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Government</a:t>
              </a:r>
              <a:endParaRPr lang="en-US" dirty="0"/>
            </a:p>
          </p:txBody>
        </p:sp>
        <p:sp>
          <p:nvSpPr>
            <p:cNvPr id="7" name="Rectangle 6"/>
            <p:cNvSpPr/>
            <p:nvPr/>
          </p:nvSpPr>
          <p:spPr>
            <a:xfrm>
              <a:off x="228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City of New York</a:t>
              </a:r>
              <a:endParaRPr lang="en-US" dirty="0">
                <a:solidFill>
                  <a:schemeClr val="tx1"/>
                </a:solidFill>
              </a:endParaRPr>
            </a:p>
          </p:txBody>
        </p:sp>
      </p:grpSp>
      <p:cxnSp>
        <p:nvCxnSpPr>
          <p:cNvPr id="25" name="Straight Arrow Connector 24"/>
          <p:cNvCxnSpPr>
            <a:stCxn id="16" idx="3"/>
            <a:endCxn id="15" idx="1"/>
          </p:cNvCxnSpPr>
          <p:nvPr/>
        </p:nvCxnSpPr>
        <p:spPr>
          <a:xfrm>
            <a:off x="2914650" y="4770120"/>
            <a:ext cx="3940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5" idx="3"/>
            <a:endCxn id="3" idx="1"/>
          </p:cNvCxnSpPr>
          <p:nvPr/>
        </p:nvCxnSpPr>
        <p:spPr>
          <a:xfrm>
            <a:off x="5960498" y="4770120"/>
            <a:ext cx="364102" cy="0"/>
          </a:xfrm>
          <a:prstGeom prst="straightConnector1">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41"/>
          <p:cNvGrpSpPr/>
          <p:nvPr/>
        </p:nvGrpSpPr>
        <p:grpSpPr>
          <a:xfrm>
            <a:off x="3308738" y="2823881"/>
            <a:ext cx="2651760" cy="1308847"/>
            <a:chOff x="3332797" y="3764280"/>
            <a:chExt cx="2651760" cy="967740"/>
          </a:xfrm>
        </p:grpSpPr>
        <p:sp>
          <p:nvSpPr>
            <p:cNvPr id="19" name="Rounded Rectangle 18"/>
            <p:cNvSpPr/>
            <p:nvPr/>
          </p:nvSpPr>
          <p:spPr>
            <a:xfrm>
              <a:off x="3332797" y="376428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Service Provider</a:t>
              </a:r>
              <a:endParaRPr lang="en-US" dirty="0"/>
            </a:p>
          </p:txBody>
        </p:sp>
        <p:sp>
          <p:nvSpPr>
            <p:cNvPr id="34" name="Rectangle 33"/>
            <p:cNvSpPr/>
            <p:nvPr/>
          </p:nvSpPr>
          <p:spPr>
            <a:xfrm>
              <a:off x="3332797" y="4132399"/>
              <a:ext cx="2651760" cy="59962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Osborne Assoc. &amp; Friends of Island Academy</a:t>
              </a:r>
              <a:endParaRPr lang="en-US" dirty="0">
                <a:solidFill>
                  <a:schemeClr val="tx1"/>
                </a:solidFill>
              </a:endParaRPr>
            </a:p>
          </p:txBody>
        </p:sp>
      </p:grpSp>
      <p:grpSp>
        <p:nvGrpSpPr>
          <p:cNvPr id="12" name="Group 43"/>
          <p:cNvGrpSpPr/>
          <p:nvPr/>
        </p:nvGrpSpPr>
        <p:grpSpPr>
          <a:xfrm>
            <a:off x="3334456" y="1192307"/>
            <a:ext cx="2600325" cy="1362634"/>
            <a:chOff x="3377565" y="1383030"/>
            <a:chExt cx="2600325" cy="963930"/>
          </a:xfrm>
        </p:grpSpPr>
        <p:sp>
          <p:nvSpPr>
            <p:cNvPr id="21" name="Rounded Rectangle 20"/>
            <p:cNvSpPr/>
            <p:nvPr/>
          </p:nvSpPr>
          <p:spPr>
            <a:xfrm>
              <a:off x="3383280" y="138303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Mental Health Program</a:t>
              </a:r>
              <a:endParaRPr lang="en-US" dirty="0"/>
            </a:p>
          </p:txBody>
        </p:sp>
        <p:sp>
          <p:nvSpPr>
            <p:cNvPr id="35" name="Rectangle 34"/>
            <p:cNvSpPr/>
            <p:nvPr/>
          </p:nvSpPr>
          <p:spPr>
            <a:xfrm>
              <a:off x="3377565" y="1852311"/>
              <a:ext cx="2600325" cy="49464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Cognitive Behavioral Therapy</a:t>
              </a:r>
              <a:endParaRPr lang="en-US" dirty="0">
                <a:solidFill>
                  <a:schemeClr val="tx1"/>
                </a:solidFill>
              </a:endParaRPr>
            </a:p>
          </p:txBody>
        </p:sp>
      </p:grpSp>
      <p:cxnSp>
        <p:nvCxnSpPr>
          <p:cNvPr id="40" name="Straight Arrow Connector 39"/>
          <p:cNvCxnSpPr>
            <a:stCxn id="19" idx="0"/>
            <a:endCxn id="35" idx="2"/>
          </p:cNvCxnSpPr>
          <p:nvPr/>
        </p:nvCxnSpPr>
        <p:spPr>
          <a:xfrm flipV="1">
            <a:off x="4634618" y="2554941"/>
            <a:ext cx="1" cy="26894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 name="Group 42"/>
          <p:cNvGrpSpPr/>
          <p:nvPr/>
        </p:nvGrpSpPr>
        <p:grpSpPr>
          <a:xfrm>
            <a:off x="290512" y="1379220"/>
            <a:ext cx="2657476" cy="963930"/>
            <a:chOff x="3529964" y="1112520"/>
            <a:chExt cx="2657476" cy="963930"/>
          </a:xfrm>
        </p:grpSpPr>
        <p:sp>
          <p:nvSpPr>
            <p:cNvPr id="38" name="Rounded Rectangle 37"/>
            <p:cNvSpPr/>
            <p:nvPr/>
          </p:nvSpPr>
          <p:spPr>
            <a:xfrm>
              <a:off x="3535680" y="111252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Target Population</a:t>
              </a:r>
              <a:endParaRPr lang="en-US" dirty="0"/>
            </a:p>
          </p:txBody>
        </p:sp>
        <p:sp>
          <p:nvSpPr>
            <p:cNvPr id="39" name="Rectangle 38"/>
            <p:cNvSpPr/>
            <p:nvPr/>
          </p:nvSpPr>
          <p:spPr>
            <a:xfrm>
              <a:off x="3529964" y="1543050"/>
              <a:ext cx="265176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Juvenile </a:t>
              </a:r>
              <a:r>
                <a:rPr lang="en-US" dirty="0">
                  <a:solidFill>
                    <a:schemeClr val="tx1"/>
                  </a:solidFill>
                </a:rPr>
                <a:t>O</a:t>
              </a:r>
              <a:r>
                <a:rPr lang="en-US" dirty="0" smtClean="0">
                  <a:solidFill>
                    <a:schemeClr val="tx1"/>
                  </a:solidFill>
                </a:rPr>
                <a:t>ffenders</a:t>
              </a:r>
              <a:endParaRPr lang="en-US" dirty="0">
                <a:solidFill>
                  <a:schemeClr val="tx1"/>
                </a:solidFill>
              </a:endParaRPr>
            </a:p>
          </p:txBody>
        </p:sp>
      </p:grpSp>
      <p:cxnSp>
        <p:nvCxnSpPr>
          <p:cNvPr id="50" name="Straight Arrow Connector 49"/>
          <p:cNvCxnSpPr>
            <a:stCxn id="21" idx="1"/>
            <a:endCxn id="38" idx="3"/>
          </p:cNvCxnSpPr>
          <p:nvPr/>
        </p:nvCxnSpPr>
        <p:spPr>
          <a:xfrm flipH="1">
            <a:off x="2947988" y="1569321"/>
            <a:ext cx="392183" cy="7659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9" idx="2"/>
            <a:endCxn id="16" idx="0"/>
          </p:cNvCxnSpPr>
          <p:nvPr/>
        </p:nvCxnSpPr>
        <p:spPr>
          <a:xfrm>
            <a:off x="1616392" y="2343150"/>
            <a:ext cx="2858" cy="216027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3" idx="0"/>
            <a:endCxn id="19" idx="3"/>
          </p:cNvCxnSpPr>
          <p:nvPr/>
        </p:nvCxnSpPr>
        <p:spPr>
          <a:xfrm rot="16200000" flipV="1">
            <a:off x="6130833" y="3014253"/>
            <a:ext cx="1318833" cy="1659502"/>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9065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0" y="5006340"/>
            <a:ext cx="9144000" cy="18516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MSEhUUEhQVFhUXFRYWFxgXFhgcFxgYGx4ZHRgYGBoYHCggGhwlHRweITEjJikrLi4uFx8zODMsNygtLisBCgoKDg0OFg8QFCwcHhwrKy8sLSssLCw3LCw3MC0sKy4vNywtLDctODUwLCwsKzEvLC4sLDQ3LC4tLyw4LCssLP/AABEIANcA6gMBIgACEQEDEQH/xAAbAAEAAgMBAQAAAAAAAAAAAAAABAUBAwYCB//EAEsQAAEDAgMDBgcLCwMFAQAAAAEAAhEDIQQSMQVBUQYTIjJhcRQVQoGRk6EjMzRSVHOSsdHT8CRDU2JkcrKzweHiB4LxFjVjdKKU/8QAGAEBAAMBAAAAAAAAAAAAAAAAAAECAwT/xAAlEQEAAgIBBQABBQEAAAAAAAAAAQIDERIEEyExQfBRgZHB8RT/2gAMAwEAAhEDEQA/APuKIiDTWxLGEBzmtJ0kgTcN3/rOaO9wG9aWbUoG4rUj3VGnj2/qu+ieCoOWjsPnpDEUnVAQ67T1Gh9J7jGp6omNwKpKOKw73srVcPiM+ekS7MXEECm4l+VoaQxoDSRIjMDGa4d03atA6VqXWyddvX+Lr1uxZobTovjJVpukZhle0yOIg3HauNZzJBq825w5is5x54E81TyVDQIDI6z2yJkHMJIF4+HxGHDGhtOq6GmgGtqNDy052SIY0upxIDzHScB1rgO68Z0YB52nDmCo052wWG4eL3bG/RZZtKiSAKtMkgEAPbJB0IE6H+q4eli8K4ZgyqG0G52kVJe1jSyoHOaW5obzpLWmQebMiQF48LoGm4czXaHElzOdhxqkObUdAaSYdTcxzhYGC0dJB3+HxTKgmm9rxAMtcCIIDmmRuIII7CFuXEbF2sykXilSqi4GR7xBcebblplzcxIzNbBIiWzEkt7YIMoiICL53y8djfCW81z3N5W83zWaM2+cvlTx3Qu6wL3iiw1oD+baanAOgZuzWUGrEbZw9OoKb61NrzHRLgDfTulT18e25sZ78TULKlF7alRzg/nqcAOM9KXSImNN1l9X2a5vNMDXipDQ3MCCHEAAmQglIvmbH7Q8Y/nvfr9bmuazfRy5fxK+mBAREQEREBERAREQEREBERARFFx1VwDQzrOe1slrnNA1dmy6WBAJtJCCSkKEzZ5ETVqmMmrhfK4uvAi8weIACDZ3/lq7vL4Oz8P9v7tkE2EhQjs//wAtXf5fF2bhu6o/Vssu2fM+61ROfR+mYg2tuiBwBKCZCQob9nzPutUTn0fpnjS1ssdHhJR+AmfdKonPo/TMALW3RI4ElBMhZUM4C885V1J69rty8N3WH610GAv75V1B6/6uXh/u/eugmLDtFDbgIj3SqYy6v1ytLb23zJ4kArDdnxHutUxk1frlnW18034wEHxCpWcSSXOJJJJJMkrqtj1XHZOMBcSBUYBfQE05A7Cua2lgX0KrqVQQ5pvBB1EgyOIIPnXYbJ2RWGysR0STVLKjGi5LRkMwOwG2tlI4ZddyfqFuzMblJHSboY1yg+kWXJERqu45L7Jq1NnYljWEGq4GnmtmjKbTuMWOiIcRnPE+kr7NyPqF2CoFxJOTUmTYkBfGm0iXZY6ROWO2Yj0r6zsTk49lCm19auxwbdrKoytPAWSUulRU/iL9pxXrf8U8RftOK9b/AIqBcIqfxF+04r1v+KeIv2nFet/xQXCKn8RftOK9b/iniL9pxXrf8UFwip/EX7TivW/4p4i/acV63/FBcIqfxF+04r1v+KxsurUp134eo81AKbatN7gM+UktLXwACQRYxcHsQXKIiAomOo5jTPRhlTMc08HDowRe++RrbRV+3sWZFJokmJ49gHaobGUmMcyvVDHuIsTcAG3pP9FEzERuZ0mKzadRG3TArxiK7WNLnGGjUrnWuqYZwvmpnhoR2cCrXbD6RoE1Gl7HZei3V0kZYuN8HzKUJrarToR6V58KZJGYSBJ7O9czVGEBvh6smdxvmBcY6V7GeN+wx6fTwt2+D1rOJMZokax09LbuHcg6ljgQCNDdZWug+WtMESAYIgidxG4rYgIiICIiD5Vy52TXdjaj2UajmuDCC1jnAwxoNwOIK+icnaDmYWgx4hzaTAQdQYEgqfUqBoJcQANSdFH8Y0f0jN/lDdE/WPSg+I7T9+q/O1P4ivs/Jz4Jh/mKX8DVV4nYeznvc97WFznEu6bgC65Ng6NxPmKuGY6gxoAewNAsJAAa0CY7AI7kHyejsPE+EgcxV9+F8jssZpnNERG+V9lWulWa7qkGDBg6EahbEBERB5qPDQSTAAJJ4AaleKWJa4BzXAg6Fa9pFgpP5wEsyOzAakRcDv0XP1n4XrOw9QWBHRjyhA60C4iODY0iQ6SpiWtiXASYHaYJgeYH0L214OhXL02YVpAGHrT0SLHhbV3A3Hb3q42JhaTWZqTCzNAOacxy9ETJPf2zO9BZIiICrauGy13Vy5oHM83B4hxdJPC6jbSrVnv5umCBx48ZI0A4Kvp4KkX5DiGZ5iBrPAGdVEzEe5TFZn1CXsnF1KlfM6SIIsDlG8d2i6BQ8KynSimCJO46k8SpilDn6ojGCRrBH0YHtXNbQzU6uJbUF6gOU5ZLukC3KeEfUu62jhy5hyEh4FiDBMbpG5UlCriWeS50wRmBdHdwWGfB3YjzrTo6bqOzMzre/wDWqjgqgwlIOnM2TkOuUm1uIB9quqLH0qLbF7hFt47B3aKFg9n1ajxUrEiLgb+62gVltQjJcvAkdTrdwWtK8KxX9GN7c7TafstPhrz+YdbiR7LL0zG1CfeXDXU8ATaBxt+IVY40ydcVII0OkzA7ND6e1bnMa8tH5RBga2tDel6JVlUzw6puoO9P9lJwddz2y5pYZIg/WqZ72QPhJIAFiRPffsWKT2NcHflJIykg3HnnWJ9iDokWGmRKygIiINdeiHtLTofT2KA/YVEkEgkjMZLiesCDrqDJ14qzRBBOyqfA6R1jwcPqcVp8RUbWNs0XPlNyuvvkcVaIg0YbDNZmy+U4uN9517lvREBERBqxDiGkgZiBpxUI42pHvDuOo/EqXjuo6c2nk9bzdqoy1hv+VSLHjFzYi/16oLJ+OfeKLj5/tCzSxtQ60XDXfrYkbuyPOq5rmGB+U6kydYOWxPCQLLBa1oHwgy57SDebRJ9OqCxOPqfoH+kfj/nzKXVc7JLR0osDuPb3Kv2XlL5HPyAevOXcIvr/AMq2Qczsp9RzKzGm5Y4i9w8ggH8di518upNogP51pADAHgh2ZxcXAnJvsdfMuqx2zqlN/OUe+BqONt4Xqpi61SkQKZDictgRAi5v6Fz5+n7s+9fHT0/U9qJ8b87R8ZPhFIauHNhx7Zv7F0apdi4A5jUqA5gbA/X2q7XQ5hRMdVc00ss9KoGuhma0ONzIyCQOlfhF1LVftVoLqEiYrAjoOdHRfeQRk/eMi8RdBYIiIMLKIgIiICIiAiIgIiICIiAiIgIiINGNdDHdLLbrATHbCpfCW/Kn6foz6dFeYphcwhpAMWJEiVXnCV5nPT4dTttNv6oNHPh2XLiHAlxHvZ1MECDp3n7VqOLaBfEuJkfmzMdKQLRvHo7lO8Hr26bJkScuggzAi94/Gu/CUagJ5wsItED+yCqp1g4hoxLyTlEZCLmNSBb071dYOi5ohzy8zMkAcLWW0UxwHoXpAVU3HP8ADTRtkGGbV0vmL3N14QFaqhZ/3N3/AKTP5r0F8iIgKFtEMzUczcx53o3IyuyPOa2tgRHapq+f8s+VNNtekxgzmhUD3kOI6QIlg4mJBPbHFB9ARRNm7Qp16balJ2ZrtD9YI3EKjxm3Kjqz6dJzGZDHSaXFxuSTcZWCLlZ5MkU1v61xYrZJnXx06Kj2ftZ1fDio0sY/NlOYw2Rex7bH0rb4VWmM+H3RczfTerUtF6xaPUqXpNLTW3uFuiqRiaty59CBOhPAxM6XhYdiK8np4ewNpOsjX2qyq3RVBxNYghr6GbMRqdD1bcZR2JrWipQ0EydTLuG6I9qC3RU78TW3Pw8cZOvDep2DNW/OZNBGWY3zr2R6SglIqnlPtY4WgarWh0OaIJiQTBvuUXYnKyjiGF59yh2WHlt3RJDDPSgXNkHQIuZ/66webKXPAzZc+Q5D2gi8eZTdpcpKFKiarXNqgAHLTe0uIJAnXQTdBcoub5I8pXY11WaYYGZI6RJObNMmBwXSINdeu1glxAExJWgbTo/pGfSCztC7YGQukWfpG/2Sqsh4gZMMJMAWvwhBaM2hSOj2+kI3aFImBUZMxGYaquc0gAsZh56UmQBNwNOwkX4nzuacJPN4eYtoOlI3/i8ILF20aQ1e3dvG/RPGNL47RpqY1AI17Cq12HdE83h8xOhAgi0e2fxdYPOTHNYewjUWgAAaz2fZvC8BWVz229rVKdRlGkGhxbmc5wkNb3DuP4K3bA2s6q6rSqAZ6bokCA4SRMbtPase/Xnw/N+2/wDz34c/nv8Ab1tdqhZ/3N3/AKTP5r1725yhZRwzq9LLVh2QQejmmLkcFxf/AF673wUKfPxkL5dl5sGQ2JnUnetmD6eiqNk7dZVw9KtULafOHIA46vktygnWSDCtpQRtqV3U6NV7RLm03uA4kAkD2L5bzLp6+rhJt8fLPvfDpdy+h8rqWfCvaGuf0qXRa0uJAewmA0TpK4VuzRInDV4ls+4VtM1KfJ4B6kdFyCqvmqw3aQ2p3OMtIs0DRg9IVrjtg5nvdTeGc5GcOpteHRoRm0XOcjsEWYlhNGqz3NwLn0qjROSgNXCJzCp6TxC79Z3x1v4lemS1J3WVSzZraNEU6bA+DJzGJJmTPFaH0HOucMwmMt3jQCwVtisK2oMrhImfOo3ielEQYnN1jMxGv43q1axWNR8VtabTMzO5lFq4dwkNw7Y/fAFja3nK1nDvIJOGYScxJLxcnzngN6mt2NSBkA7t53XXrxTSgiDBIOp3afWpQiOwxblc3Dsn94AtI0g79Ny8vwhhuXDiYPl7zP0t1+3sUo7EpcHfSP4CVNjUz8bvB9iCMygZAOHAacoPSuBm1twgFXTRCg0dk02uzAGQZ1P4hT0HMf6jj8hf+9TP/wBBfPsXgq1MsY1pBYwAjoyS+7pYdQT0NL5B2L7OQqnbWwKeIh3VeCHB7QJLmhwZntLg0mYkKR8hNasH5XFwMDokWy/uRGWLxCmYLDNNRkQ0VDzcgk03B4ynK43a685XcNdy6atyLxAaWtNN7WGmGAuLTABzuaR1HF5nfpvXSbB5MU8OS9x5yoZBeREtkFuZswXCOtqmxQf6WUHNOJzNIvTFwYkc5IB3wu4xVVzRLG5zwmPatqOEiFApqjXVHA1MNpAnP59OEgLUyiWkEYU2Ej3S8zK3YrZrGAOHPO3QwkmIKiigwke54jquN5AsCYOtyfrneg20cNEnwaDBNqmp4ehYGHMmcJqZnnN97+1ecjSZLMQCXGACdBF4gQLr1hg2CQyvo4dLhfq9tvb2oPbsNcjwbojMAec1Aki27MT7VqGG1jCQbR7p6RbQ6rzDAI5vEAS25GuUHfw6XnPnWHUWa81idPx3d3sQS9r7F58te17qdRojMOHA3ErdsjZQol7i4vqPMucRE9gG4Kxp6DuC9LPtU589eWvevw4b8OE5JuoPw5wdbWrzjwNAekbNd8dpbMbrKtpf6f1fCSxzvcB0ucGpHxQNz/Zv7Fa8tuTr4NXDNJLntc5jQSQ/9LTy3a7c7jY6hTcRjMYdmhwY/wAJIDSAw5x0oLssWOW/nlaskHlNWoxRw1D8xXoEgdUS7IGTvf0s0cGu4LuFxvIjk8WsZWxDSHtLsjC0gtJJmo8HWodAdzQF2agU2Iw+KzOLHtiXlsm36gPR00B85Wp+DxkGKombE77kibcIHn9N8iCgbhMZLpqiOllvpMwdLxMb9ApTMPieacBUaKpLCHOBe0dFmcRbU5o7x3K1RBReCY/5TQ9Q77xPBNofKKHqHfeK9RBQ+CbQ+UUPUO+8UbZbsfXo06or0Gh7Q6OYJid0510xVVyS+BYf5pv1INHgmP8AlND1DvvE8E2h8ooeod94r1EFF4JtD5RQ9Q77xPBNofKKHqHfeK9RBVYfD4oNfzlWm9xy5MjCyL9KZJmQowwmLyj3QF0QTNvzsGI7aZ8x898iChbhcWHiaoLbWm5s0HdxBOvlHVPBsZAHON3yZveI8m8R2aptX4fgv3cT/CxXyCpdhsVzcMqsD88kvZnGWOqAC3fvWjwTaHyih6h33ivUQUXgm0PlFD1DvvFjwTH/ACih6h33ivklBQ+B4/5RQ9Q77xPA8f8AKKHqHfeK+RBy2zHY+szOK9AdOoyOYJ6j3Mnr74nzqZ4JtD5RQ9Q77xbOSnvB+fxP86orlBReCbQ+UUPUO+8UjAYfFh4NatSeyDLW0i0zuuXlWqIKXF4fFF7y2oAwwWXEtt0p6Om/vd2KKDXj4TTzE2Ac2NBfTfJMRoB3iXjtsta57HMdHSBduPRBOtvKHZfzKozUNCKpkb3t1LWSBa5y5SB2iIQWdLnZGauyMzbB4mJpiO2YeN1z6Lxcnha9GacCoJLCOk2J0vLZNiAY9mp6xEMoiIkRRcZj2UiA8kSCRAJ0idO9aPHdH4x+g/7EFiirxtmjE5jFvJdv03XWBtuh8f8A+XfYgsCqrkl8Cw/zTfqUnF7UpU6YqOJh0ZYBzOnQAaqv5I4pvg9OiZFSnTaHNIIPCROo7VTnXlx35X7duPLXheoiK6giIgLBWVgoOBdjKlXNXJe2pTFR1MiMrQC0FoEXtrJG7VdEMdno0qj6hpFzCTlBIJteOG/zqFtXZlPwygyCGVuedUaHENc5gaWmAeJurjaJyBrWvYwQR0gIgRYWhcuDFkpaZtO/z26+ozY71iKV1/Ufor2YkGfyipYX6B0kNB9JXurim5oOIeJJ0YewgacD/wALYMUb+70+qLWgG03jSzjHaNFl1R8kGvSkfqiR+LLqcjR4cwADwh3WJJLHaGDF+7t6y30XBz2gVnw4khpDoMGSJ3RpC8sxDrDn6RJygWE753XvHoKYes95htanc2AaJ3kmIsfsJ3oLxFowjXge6EEybjgsY3GspNL6hho9JO4AbyomYiNymImZ1Cu5J+8H5/E/zqiuVz/JbFtDTRdLametUyuBBLX1HuBE62KsH7YpAw4kGSOqdxImw0soraLRuJ2m1ZrOpjSwRV9LbNFxgOMzHVd9nYvPjyh8Y/Rd9n4hWVWMJlChP2vSES43APVdvgjd2j0rOH2rSe4NaTJ3ZXdu+I8koJmULKIg8vcACToLlVOLxmZ3uddjWxpAN54/0UzH06hgMyZSCHh83BjSOyVWsa8TPgoMGG2s6wvbzHzIPZxDvlNKw4Dh9Sy6uR+fpg3BsAJzOvBHCB2wV4fTNvgsmSTAuJgEWvvleSxzjrhSZ85du3XMH2oPRrPsfCKcEWlovx17/YvfOPzZRXpkyRGUE9sx3Fa3ElxDfBREwDE5dZsvRzh3Wws6zvtqe+T7UEDlJs+pXpUalMl5aCbWJDoIc0W0hY5NYZ9SucRcUsmWmXG7m2g91p7yulwg9zbOU9EdXq/7exV/JL4Fh/mm/UueemrOTubdMdVaMXa1H2P59rdERdDmEREBERBQ7V+H4L93E/wsVhtQOgZW03GDZ8dlhP40VftX4fgv3cT/AAsU3atLMW+5c5Z3lQBp6SdEEMU3AnMzD3sLC5JAj6M/3W2k1+pZQDjMkRe2vb0gPMo4wpn4IBJv7pHdosuwxiPBREZQBUEAXJ9pQbKFJwcCWYYXBkATG+O0XKywVGkkNw7YaYIgQRx9i1HB7hhpAtJqXcAT9Zv51mphyXScKCTJJ5wdvtugvQqflLg31GMdTGY06jamX4wG7vVphqjnNlzcpvaQYva47L+dbVS9IvWayvjvNLRaPjjth4Z1bEMrNaWsp5wSQ0FzpeC3K21iYJ/VvdW1bEODiOfpASZkCR2dp/HavXJT3g/P4n+dUXh1M5jJw2XM60CbnV0jrce5VxYoxxMb3tbNlnJMTrWmaeJcTlFelMiDAk2Ggj6v7LyMQ+D7vS1MWH2d6wwHKDmw026QjQwJ01mPYsGmRlB8EnSI48PMd/Fasm6tWJ6QxDAM0Czcuh6Pabj0KXRx9KADUYSNSDvgT9ftVfTa4CHHDaSNIkCzj/YaLIoudZvgpcdw4DuE8EF6ihURXzdI08smYmYvHn09qmoMSqjF4SXn3FhaSJcXQTJuYnUXUvEbLpvdmcDPeR9S1nYtLgfpHt7e1BFZQcYDsMyI+MLC5j0k+krLKLgbYdujTIeLGxO/c70wpXielEQYFx0jwA/pPfJWTsilMwdANToAALTwCCGzDugxhqYtYBwgzEjdGpv2LJouJM0GTcg5hqBIkTxhSvFFKIgxIMSdwgLHiWjM5T9I/agl4cQwS3LbQblX8kvgWH+ab9SsqVMNaGjQAAdw0VbyS+BYf5pv1ILZERAREQFguA1QlfNuVtXG4t2RtF7aINmy2XH4z+l6BuQdpjcLnxOHqhzMtJtYOBdc5w0CN269wpOLoU6hBc7qzo4DWJB7LL5pg9jOpUzGEc+qW6vFIhjuzM5wc23xQbm/Cvw/J97XTXZlFyGZmgvi5uDDKYF3POg0uU0PrOC2axhDg5zjGpMyp6reTceDUoiMtsrMjYkxlabhsaTciCVZICIiAiIgpuSfvB+fxP8AOqLy/DPk/kzHDMTJeL3N4M7vr3L1yT94Pz+J/nVFcoKZuFcAQKDOqPK1JLcw1tETPYsDDvJ6WHp8D0twV0iCjq4V5BAw7NAAc+kADiCPNwlWGCwjWgO5sNdF4vFo17lMRAREQUo2/JeGYfEPDHuYXNFPKS0wYmoDr2LFXb7mtLnYXEgNBJOWlYC5PviqKeKyNf02tnE4rrYgUZ6fa05v6edbsXWz0SZa48xiDaq6roCJBaAzszG4mPKQdRhqwexrxo5ocJ1giRK2KlobOdVpUSK9anFGmIplgBsLnMw3+xZ8SP8AlmK+lS+7QXKKm8Rv+WYr6VL7tPEb/lmK+lS+7QW9RwAJNgBJVXyT+B4f5pn1LW/k9mEVcRiKjDqxz2hrhwdkYCR2SrhjQAABAAgAaAcAg9IiICIiDDhIXHv5NUWnKamFB0g4TDA7t0do9K7FV2L2NSquLngyZuHEatynTs9oBQc6OT9D9Nhf/wAuG4xw4271twmwsMHDNWouaYOSnSo0xUM9EPyXe0HydJA4K+ZsimDMHWdbdcP3frBeW7EpAgw6RF8x4z9aCxCyiICIiAiIgpuSh9xcN4r4kHsPOvsfSrlVWJ2G1z3Pp1KtFz+vzTgA46SWuaRMbwJWvxI/5ZivpUvu0FyipvEj/lmK+lS+7TxI/wCWYr6VL7tBN2rtOnh2Z6hOoa0AS5zjo1o3kqrHKbIQcRh61BjiAKjw0tBOmfKSWedaNtgUK2CqVXF1KmajHPfFnuaAx74AG4id0qdyoxtJuFqB5DucY5jGgyXucIaGgamY0QXIRQ9jU3Nw9Fr7ubSYHd4aJUxByeDzkVMj6rfynEzzbqA8u2bnmn2dql4yq8Yao1xze5Vszqj6Zf1TAApANM/0UXF0KJquzYGk4lzpeaYJcZvfJqf6rS3CUIB8X0II/Rs1yl0dXsj+9kHTbJ94pfNM/hClrn2bYqAQ2gQGiGtuNGEgaWuA20qz2binVAS5mTSAZm4BvI7Y8yCaiIgIiICIiAiIgIiICIiAiIgIiICIiAiIgIiIPFak17S1wDmkQQRII4EFVeH5M4RhJZQY0kESAZANjlM9HzQvFflA1hILDZzxY/EcGuOnaDHArL9vtBaInNl0ItJAM90n6BQVFHEO2Y8UqpLsG4xTqHWiT5D+LeBXXNdNxoqHF7cYWHnKOYQxxbZ1nZXTBF8sye0Dir1hkA8QgqK+DxJc4ioACXkDM4QCAGiw7J/3O7CvPgWK/SNm/lvjrSN1hFj3Wi5JEEjZ+ErtfNSoHNyREk9Ketf8CY0CtERAREQEREBERAREQEREBERAREQEREBERAREQEREHl2llR06WNgS5syJ6sEaEjo67/QsogwaWMg9ITeOpx32ta2/jbRXaIg//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dirty="0"/>
              <a:t>Pay for </a:t>
            </a:r>
            <a:r>
              <a:rPr lang="en-US" dirty="0" smtClean="0"/>
              <a:t>Success: Structure</a:t>
            </a:r>
            <a:endParaRPr lang="en-US" dirty="0"/>
          </a:p>
        </p:txBody>
      </p:sp>
      <p:grpSp>
        <p:nvGrpSpPr>
          <p:cNvPr id="8" name="Group 30"/>
          <p:cNvGrpSpPr/>
          <p:nvPr/>
        </p:nvGrpSpPr>
        <p:grpSpPr>
          <a:xfrm>
            <a:off x="6324600" y="4503420"/>
            <a:ext cx="2590800" cy="990600"/>
            <a:chOff x="6324600" y="3886200"/>
            <a:chExt cx="2590800" cy="990600"/>
          </a:xfrm>
        </p:grpSpPr>
        <p:sp>
          <p:nvSpPr>
            <p:cNvPr id="3" name="Rounded Rectangle 2"/>
            <p:cNvSpPr/>
            <p:nvPr/>
          </p:nvSpPr>
          <p:spPr>
            <a:xfrm>
              <a:off x="6324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Investors</a:t>
              </a:r>
              <a:endParaRPr lang="en-US" dirty="0"/>
            </a:p>
          </p:txBody>
        </p:sp>
        <p:sp>
          <p:nvSpPr>
            <p:cNvPr id="23" name="Rectangle 22"/>
            <p:cNvSpPr/>
            <p:nvPr/>
          </p:nvSpPr>
          <p:spPr>
            <a:xfrm>
              <a:off x="6324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Goldman Sachs</a:t>
              </a:r>
              <a:endParaRPr lang="en-US" dirty="0">
                <a:solidFill>
                  <a:schemeClr val="tx1"/>
                </a:solidFill>
              </a:endParaRPr>
            </a:p>
          </p:txBody>
        </p:sp>
      </p:grpSp>
      <p:grpSp>
        <p:nvGrpSpPr>
          <p:cNvPr id="9" name="Group 28"/>
          <p:cNvGrpSpPr/>
          <p:nvPr/>
        </p:nvGrpSpPr>
        <p:grpSpPr>
          <a:xfrm>
            <a:off x="3308738" y="4503420"/>
            <a:ext cx="2651760" cy="990600"/>
            <a:chOff x="3289935" y="3886200"/>
            <a:chExt cx="2651760" cy="990600"/>
          </a:xfrm>
        </p:grpSpPr>
        <p:sp>
          <p:nvSpPr>
            <p:cNvPr id="15" name="Rounded Rectangle 14"/>
            <p:cNvSpPr/>
            <p:nvPr/>
          </p:nvSpPr>
          <p:spPr>
            <a:xfrm>
              <a:off x="3289935" y="388620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Intermediary</a:t>
              </a:r>
              <a:endParaRPr lang="en-US" dirty="0"/>
            </a:p>
          </p:txBody>
        </p:sp>
        <p:sp>
          <p:nvSpPr>
            <p:cNvPr id="22" name="Rectangle 21"/>
            <p:cNvSpPr/>
            <p:nvPr/>
          </p:nvSpPr>
          <p:spPr>
            <a:xfrm>
              <a:off x="3289935" y="4343400"/>
              <a:ext cx="265176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MDRC</a:t>
              </a:r>
              <a:endParaRPr lang="en-US" dirty="0">
                <a:solidFill>
                  <a:schemeClr val="tx1"/>
                </a:solidFill>
              </a:endParaRPr>
            </a:p>
          </p:txBody>
        </p:sp>
      </p:grpSp>
      <p:grpSp>
        <p:nvGrpSpPr>
          <p:cNvPr id="10" name="Group 29"/>
          <p:cNvGrpSpPr/>
          <p:nvPr/>
        </p:nvGrpSpPr>
        <p:grpSpPr>
          <a:xfrm>
            <a:off x="323850" y="4503420"/>
            <a:ext cx="2590800" cy="990600"/>
            <a:chOff x="228600" y="3886200"/>
            <a:chExt cx="2590800" cy="990600"/>
          </a:xfrm>
        </p:grpSpPr>
        <p:sp>
          <p:nvSpPr>
            <p:cNvPr id="16" name="Rounded Rectangle 15"/>
            <p:cNvSpPr/>
            <p:nvPr/>
          </p:nvSpPr>
          <p:spPr>
            <a:xfrm>
              <a:off x="228600" y="388620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Government</a:t>
              </a:r>
              <a:endParaRPr lang="en-US" dirty="0"/>
            </a:p>
          </p:txBody>
        </p:sp>
        <p:sp>
          <p:nvSpPr>
            <p:cNvPr id="7" name="Rectangle 6"/>
            <p:cNvSpPr/>
            <p:nvPr/>
          </p:nvSpPr>
          <p:spPr>
            <a:xfrm>
              <a:off x="228600" y="4343400"/>
              <a:ext cx="25908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City of New York</a:t>
              </a:r>
              <a:endParaRPr lang="en-US" dirty="0">
                <a:solidFill>
                  <a:schemeClr val="tx1"/>
                </a:solidFill>
              </a:endParaRPr>
            </a:p>
          </p:txBody>
        </p:sp>
      </p:grpSp>
      <p:cxnSp>
        <p:nvCxnSpPr>
          <p:cNvPr id="25" name="Straight Arrow Connector 24"/>
          <p:cNvCxnSpPr>
            <a:stCxn id="16" idx="3"/>
            <a:endCxn id="15" idx="1"/>
          </p:cNvCxnSpPr>
          <p:nvPr/>
        </p:nvCxnSpPr>
        <p:spPr>
          <a:xfrm>
            <a:off x="2914650" y="4770120"/>
            <a:ext cx="3940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5" idx="3"/>
            <a:endCxn id="3" idx="1"/>
          </p:cNvCxnSpPr>
          <p:nvPr/>
        </p:nvCxnSpPr>
        <p:spPr>
          <a:xfrm>
            <a:off x="5960498" y="4770120"/>
            <a:ext cx="364102" cy="0"/>
          </a:xfrm>
          <a:prstGeom prst="straightConnector1">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41"/>
          <p:cNvGrpSpPr/>
          <p:nvPr/>
        </p:nvGrpSpPr>
        <p:grpSpPr>
          <a:xfrm>
            <a:off x="3308738" y="2769869"/>
            <a:ext cx="2651760" cy="1264250"/>
            <a:chOff x="3332797" y="3764280"/>
            <a:chExt cx="2651760" cy="1033712"/>
          </a:xfrm>
        </p:grpSpPr>
        <p:sp>
          <p:nvSpPr>
            <p:cNvPr id="19" name="Rounded Rectangle 18"/>
            <p:cNvSpPr/>
            <p:nvPr/>
          </p:nvSpPr>
          <p:spPr>
            <a:xfrm>
              <a:off x="3332797" y="376428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Service Provider</a:t>
              </a:r>
              <a:endParaRPr lang="en-US" dirty="0"/>
            </a:p>
          </p:txBody>
        </p:sp>
        <p:sp>
          <p:nvSpPr>
            <p:cNvPr id="34" name="Rectangle 33"/>
            <p:cNvSpPr/>
            <p:nvPr/>
          </p:nvSpPr>
          <p:spPr>
            <a:xfrm>
              <a:off x="3332797" y="4138294"/>
              <a:ext cx="2651760" cy="65969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Osborne Assoc. &amp; Friends of Island Academy</a:t>
              </a:r>
              <a:endParaRPr lang="en-US" dirty="0">
                <a:solidFill>
                  <a:schemeClr val="tx1"/>
                </a:solidFill>
              </a:endParaRPr>
            </a:p>
          </p:txBody>
        </p:sp>
      </p:grpSp>
      <p:grpSp>
        <p:nvGrpSpPr>
          <p:cNvPr id="12" name="Group 43"/>
          <p:cNvGrpSpPr/>
          <p:nvPr/>
        </p:nvGrpSpPr>
        <p:grpSpPr>
          <a:xfrm>
            <a:off x="3334456" y="1228165"/>
            <a:ext cx="2600325" cy="1290917"/>
            <a:chOff x="3377565" y="1383030"/>
            <a:chExt cx="2600325" cy="963930"/>
          </a:xfrm>
        </p:grpSpPr>
        <p:sp>
          <p:nvSpPr>
            <p:cNvPr id="21" name="Rounded Rectangle 20"/>
            <p:cNvSpPr/>
            <p:nvPr/>
          </p:nvSpPr>
          <p:spPr>
            <a:xfrm>
              <a:off x="3383280" y="1383030"/>
              <a:ext cx="2590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Mental Health Program</a:t>
              </a:r>
              <a:endParaRPr lang="en-US" dirty="0"/>
            </a:p>
          </p:txBody>
        </p:sp>
        <p:sp>
          <p:nvSpPr>
            <p:cNvPr id="35" name="Rectangle 34"/>
            <p:cNvSpPr/>
            <p:nvPr/>
          </p:nvSpPr>
          <p:spPr>
            <a:xfrm>
              <a:off x="3377565" y="1864995"/>
              <a:ext cx="2600325" cy="4819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Cognitive Behavioral Therapy</a:t>
              </a:r>
              <a:endParaRPr lang="en-US" dirty="0">
                <a:solidFill>
                  <a:schemeClr val="tx1"/>
                </a:solidFill>
              </a:endParaRPr>
            </a:p>
          </p:txBody>
        </p:sp>
      </p:grpSp>
      <p:cxnSp>
        <p:nvCxnSpPr>
          <p:cNvPr id="40" name="Straight Arrow Connector 39"/>
          <p:cNvCxnSpPr>
            <a:stCxn id="19" idx="0"/>
            <a:endCxn id="35" idx="2"/>
          </p:cNvCxnSpPr>
          <p:nvPr/>
        </p:nvCxnSpPr>
        <p:spPr>
          <a:xfrm flipV="1">
            <a:off x="4634618" y="2519082"/>
            <a:ext cx="1" cy="250787"/>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 name="Group 42"/>
          <p:cNvGrpSpPr/>
          <p:nvPr/>
        </p:nvGrpSpPr>
        <p:grpSpPr>
          <a:xfrm>
            <a:off x="290512" y="1379220"/>
            <a:ext cx="2657476" cy="963930"/>
            <a:chOff x="3529964" y="1112520"/>
            <a:chExt cx="2657476" cy="963930"/>
          </a:xfrm>
        </p:grpSpPr>
        <p:sp>
          <p:nvSpPr>
            <p:cNvPr id="38" name="Rounded Rectangle 37"/>
            <p:cNvSpPr/>
            <p:nvPr/>
          </p:nvSpPr>
          <p:spPr>
            <a:xfrm>
              <a:off x="3535680" y="111252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Target Population</a:t>
              </a:r>
              <a:endParaRPr lang="en-US" dirty="0"/>
            </a:p>
          </p:txBody>
        </p:sp>
        <p:sp>
          <p:nvSpPr>
            <p:cNvPr id="39" name="Rectangle 38"/>
            <p:cNvSpPr/>
            <p:nvPr/>
          </p:nvSpPr>
          <p:spPr>
            <a:xfrm>
              <a:off x="3529964" y="1543050"/>
              <a:ext cx="265176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Juvenile </a:t>
              </a:r>
              <a:r>
                <a:rPr lang="en-US" dirty="0">
                  <a:solidFill>
                    <a:schemeClr val="tx1"/>
                  </a:solidFill>
                </a:rPr>
                <a:t>O</a:t>
              </a:r>
              <a:r>
                <a:rPr lang="en-US" dirty="0" smtClean="0">
                  <a:solidFill>
                    <a:schemeClr val="tx1"/>
                  </a:solidFill>
                </a:rPr>
                <a:t>ffenders</a:t>
              </a:r>
              <a:endParaRPr lang="en-US" dirty="0">
                <a:solidFill>
                  <a:schemeClr val="tx1"/>
                </a:solidFill>
              </a:endParaRPr>
            </a:p>
          </p:txBody>
        </p:sp>
      </p:grpSp>
      <p:grpSp>
        <p:nvGrpSpPr>
          <p:cNvPr id="14" name="Group 45"/>
          <p:cNvGrpSpPr/>
          <p:nvPr/>
        </p:nvGrpSpPr>
        <p:grpSpPr>
          <a:xfrm>
            <a:off x="3308738" y="5680579"/>
            <a:ext cx="2651760" cy="990600"/>
            <a:chOff x="3289935" y="3886200"/>
            <a:chExt cx="2651760" cy="990600"/>
          </a:xfrm>
        </p:grpSpPr>
        <p:sp>
          <p:nvSpPr>
            <p:cNvPr id="47" name="Rounded Rectangle 46"/>
            <p:cNvSpPr/>
            <p:nvPr/>
          </p:nvSpPr>
          <p:spPr>
            <a:xfrm>
              <a:off x="3289935" y="3886200"/>
              <a:ext cx="265176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Independent Evaluator</a:t>
              </a:r>
              <a:endParaRPr lang="en-US" dirty="0"/>
            </a:p>
          </p:txBody>
        </p:sp>
        <p:sp>
          <p:nvSpPr>
            <p:cNvPr id="48" name="Rectangle 47"/>
            <p:cNvSpPr/>
            <p:nvPr/>
          </p:nvSpPr>
          <p:spPr>
            <a:xfrm>
              <a:off x="3289935" y="4343400"/>
              <a:ext cx="265176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tx1"/>
                  </a:solidFill>
                </a:rPr>
                <a:t>Vera Institute of Justice</a:t>
              </a:r>
              <a:endParaRPr lang="en-US" dirty="0">
                <a:solidFill>
                  <a:schemeClr val="tx1"/>
                </a:solidFill>
              </a:endParaRPr>
            </a:p>
          </p:txBody>
        </p:sp>
      </p:grpSp>
      <p:cxnSp>
        <p:nvCxnSpPr>
          <p:cNvPr id="50" name="Straight Arrow Connector 49"/>
          <p:cNvCxnSpPr>
            <a:stCxn id="21" idx="1"/>
            <a:endCxn id="38" idx="3"/>
          </p:cNvCxnSpPr>
          <p:nvPr/>
        </p:nvCxnSpPr>
        <p:spPr>
          <a:xfrm flipH="1">
            <a:off x="2947988" y="1585336"/>
            <a:ext cx="392183" cy="60584"/>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9" idx="2"/>
            <a:endCxn id="16" idx="0"/>
          </p:cNvCxnSpPr>
          <p:nvPr/>
        </p:nvCxnSpPr>
        <p:spPr>
          <a:xfrm>
            <a:off x="1616392" y="2343150"/>
            <a:ext cx="2858" cy="216027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3" idx="0"/>
            <a:endCxn id="19" idx="3"/>
          </p:cNvCxnSpPr>
          <p:nvPr/>
        </p:nvCxnSpPr>
        <p:spPr>
          <a:xfrm rot="16200000" flipV="1">
            <a:off x="6086564" y="2969984"/>
            <a:ext cx="1407371" cy="1659502"/>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4" name="Elbow Connector 63"/>
          <p:cNvCxnSpPr>
            <a:stCxn id="7" idx="2"/>
            <a:endCxn id="47" idx="1"/>
          </p:cNvCxnSpPr>
          <p:nvPr/>
        </p:nvCxnSpPr>
        <p:spPr>
          <a:xfrm rot="16200000" flipH="1">
            <a:off x="2237365" y="4875905"/>
            <a:ext cx="453259" cy="1689488"/>
          </a:xfrm>
          <a:prstGeom prst="bentConnector2">
            <a:avLst/>
          </a:prstGeom>
          <a:ln w="38100">
            <a:prstDash val="dash"/>
            <a:tailEnd type="arrow"/>
          </a:ln>
        </p:spPr>
        <p:style>
          <a:lnRef idx="1">
            <a:schemeClr val="accent1"/>
          </a:lnRef>
          <a:fillRef idx="0">
            <a:schemeClr val="accent1"/>
          </a:fillRef>
          <a:effectRef idx="0">
            <a:schemeClr val="accent1"/>
          </a:effectRef>
          <a:fontRef idx="minor">
            <a:schemeClr val="tx1"/>
          </a:fontRef>
        </p:style>
      </p:cxnSp>
      <p:cxnSp>
        <p:nvCxnSpPr>
          <p:cNvPr id="67" name="Elbow Connector 66"/>
          <p:cNvCxnSpPr>
            <a:stCxn id="47" idx="3"/>
            <a:endCxn id="23" idx="2"/>
          </p:cNvCxnSpPr>
          <p:nvPr/>
        </p:nvCxnSpPr>
        <p:spPr>
          <a:xfrm flipV="1">
            <a:off x="5960498" y="5494020"/>
            <a:ext cx="1659502" cy="453259"/>
          </a:xfrm>
          <a:prstGeom prst="bentConnector2">
            <a:avLst/>
          </a:prstGeom>
          <a:ln w="38100">
            <a:prstDash val="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9685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Pay for Success: Key Points</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smtClean="0"/>
              <a:t>Pay For Success Financing is a Rapidly Growing Area </a:t>
            </a:r>
          </a:p>
          <a:p>
            <a:pPr>
              <a:buFont typeface="Arial" panose="020B0604020202020204" pitchFamily="34" charset="0"/>
              <a:buChar char="•"/>
            </a:pPr>
            <a:r>
              <a:rPr lang="en-US" dirty="0" smtClean="0"/>
              <a:t>Tremendous Appetite Among Private Investors</a:t>
            </a:r>
          </a:p>
          <a:p>
            <a:pPr>
              <a:buFont typeface="Arial" panose="020B0604020202020204" pitchFamily="34" charset="0"/>
              <a:buChar char="•"/>
            </a:pPr>
            <a:r>
              <a:rPr lang="en-US" dirty="0" smtClean="0"/>
              <a:t>Already Bringing Substantial Investments in Mental Health Services</a:t>
            </a:r>
          </a:p>
          <a:p>
            <a:pPr>
              <a:buFont typeface="Arial" panose="020B0604020202020204" pitchFamily="34" charset="0"/>
              <a:buChar char="•"/>
            </a:pPr>
            <a:r>
              <a:rPr lang="en-US" dirty="0" smtClean="0"/>
              <a:t>Savings Often Outside of Mental Health</a:t>
            </a:r>
          </a:p>
          <a:p>
            <a:pPr>
              <a:buFont typeface="Arial" panose="020B0604020202020204" pitchFamily="34" charset="0"/>
              <a:buChar char="•"/>
            </a:pPr>
            <a:r>
              <a:rPr lang="en-US" dirty="0" smtClean="0"/>
              <a:t>Need to Ensure Programs Have High Quality Evidence of Public Savings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2557929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r>
              <a:rPr lang="en-US" sz="9600" dirty="0" smtClean="0"/>
              <a:t>Q &amp; 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Elements of Implementation</a:t>
            </a:r>
            <a:endParaRPr lang="en-US" dirty="0"/>
          </a:p>
        </p:txBody>
      </p:sp>
      <p:sp>
        <p:nvSpPr>
          <p:cNvPr id="3" name="Content Placeholder 2"/>
          <p:cNvSpPr>
            <a:spLocks noGrp="1"/>
          </p:cNvSpPr>
          <p:nvPr>
            <p:ph idx="1"/>
          </p:nvPr>
        </p:nvSpPr>
        <p:spPr/>
        <p:txBody>
          <a:bodyPr/>
          <a:lstStyle/>
          <a:p>
            <a:r>
              <a:rPr lang="en-US" dirty="0" smtClean="0"/>
              <a:t>Emphasis on measurement</a:t>
            </a:r>
          </a:p>
          <a:p>
            <a:r>
              <a:rPr lang="en-US" dirty="0" smtClean="0"/>
              <a:t>Application/use of prevention research</a:t>
            </a:r>
          </a:p>
          <a:p>
            <a:r>
              <a:rPr lang="en-US" dirty="0" smtClean="0"/>
              <a:t>Blending/diversification and sustainability of funding</a:t>
            </a:r>
          </a:p>
          <a:p>
            <a:r>
              <a:rPr lang="en-US" dirty="0" smtClean="0"/>
              <a:t>Promotion of understanding across sectors</a:t>
            </a:r>
          </a:p>
          <a:p>
            <a:r>
              <a:rPr lang="en-US" dirty="0" smtClean="0"/>
              <a:t>Development of social capital – importance of relationships</a:t>
            </a:r>
          </a:p>
          <a:p>
            <a:r>
              <a:rPr lang="en-US" dirty="0" smtClean="0"/>
              <a:t>Implementation infrastructure</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Community Coalitions – Increase Coordination and Strategic Direction</a:t>
            </a:r>
            <a:endParaRPr lang="en-US" dirty="0"/>
          </a:p>
        </p:txBody>
      </p:sp>
      <p:sp>
        <p:nvSpPr>
          <p:cNvPr id="3" name="Content Placeholder 2"/>
          <p:cNvSpPr>
            <a:spLocks noGrp="1"/>
          </p:cNvSpPr>
          <p:nvPr>
            <p:ph idx="1"/>
          </p:nvPr>
        </p:nvSpPr>
        <p:spPr/>
        <p:txBody>
          <a:bodyPr>
            <a:normAutofit/>
          </a:bodyPr>
          <a:lstStyle/>
          <a:p>
            <a:endParaRPr lang="en-US" sz="1050" dirty="0" smtClean="0"/>
          </a:p>
          <a:p>
            <a:r>
              <a:rPr lang="en-US" dirty="0" smtClean="0"/>
              <a:t>Close to the heart of the problems</a:t>
            </a:r>
          </a:p>
          <a:p>
            <a:pPr lvl="0"/>
            <a:r>
              <a:rPr lang="en-US" dirty="0">
                <a:solidFill>
                  <a:prstClr val="black"/>
                </a:solidFill>
              </a:rPr>
              <a:t>Key representatives from broad stakeholder groups</a:t>
            </a:r>
          </a:p>
          <a:p>
            <a:r>
              <a:rPr lang="en-US" dirty="0" smtClean="0">
                <a:solidFill>
                  <a:prstClr val="black"/>
                </a:solidFill>
              </a:rPr>
              <a:t>Engage </a:t>
            </a:r>
            <a:r>
              <a:rPr lang="en-US" dirty="0">
                <a:solidFill>
                  <a:prstClr val="black"/>
                </a:solidFill>
              </a:rPr>
              <a:t>community leaders</a:t>
            </a:r>
          </a:p>
          <a:p>
            <a:r>
              <a:rPr lang="en-US" dirty="0" smtClean="0">
                <a:solidFill>
                  <a:prstClr val="black"/>
                </a:solidFill>
              </a:rPr>
              <a:t>Member </a:t>
            </a:r>
            <a:r>
              <a:rPr lang="en-US" dirty="0">
                <a:solidFill>
                  <a:prstClr val="black"/>
                </a:solidFill>
              </a:rPr>
              <a:t>buy-in and </a:t>
            </a:r>
            <a:r>
              <a:rPr lang="en-US" dirty="0" smtClean="0">
                <a:solidFill>
                  <a:prstClr val="black"/>
                </a:solidFill>
              </a:rPr>
              <a:t>commitment</a:t>
            </a:r>
            <a:endParaRPr lang="en-US" dirty="0"/>
          </a:p>
          <a:p>
            <a:pPr lvl="0"/>
            <a:r>
              <a:rPr lang="en-US" dirty="0" smtClean="0">
                <a:solidFill>
                  <a:prstClr val="black"/>
                </a:solidFill>
              </a:rPr>
              <a:t>Integration </a:t>
            </a:r>
            <a:r>
              <a:rPr lang="en-US" dirty="0">
                <a:solidFill>
                  <a:prstClr val="black"/>
                </a:solidFill>
              </a:rPr>
              <a:t>of new </a:t>
            </a:r>
            <a:r>
              <a:rPr lang="en-US" dirty="0" smtClean="0">
                <a:solidFill>
                  <a:prstClr val="black"/>
                </a:solidFill>
              </a:rPr>
              <a:t>members</a:t>
            </a:r>
            <a:endParaRPr lang="en-US" dirty="0">
              <a:solidFill>
                <a:prstClr val="black"/>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Community Coalition Strategies</a:t>
            </a:r>
            <a:endParaRPr lang="en-US" dirty="0"/>
          </a:p>
        </p:txBody>
      </p:sp>
      <p:sp>
        <p:nvSpPr>
          <p:cNvPr id="3" name="Content Placeholder 2"/>
          <p:cNvSpPr>
            <a:spLocks noGrp="1"/>
          </p:cNvSpPr>
          <p:nvPr>
            <p:ph idx="1"/>
          </p:nvPr>
        </p:nvSpPr>
        <p:spPr/>
        <p:txBody>
          <a:bodyPr>
            <a:normAutofit/>
          </a:bodyPr>
          <a:lstStyle/>
          <a:p>
            <a:r>
              <a:rPr lang="en-US" dirty="0" smtClean="0"/>
              <a:t>Strategic Prevention Framework</a:t>
            </a:r>
          </a:p>
          <a:p>
            <a:pPr lvl="1">
              <a:buFont typeface="Wingdings" pitchFamily="2" charset="2"/>
              <a:buChar char="§"/>
            </a:pPr>
            <a:r>
              <a:rPr lang="en-US" dirty="0" smtClean="0"/>
              <a:t>Needs assessment</a:t>
            </a:r>
          </a:p>
          <a:p>
            <a:pPr lvl="1">
              <a:buFont typeface="Wingdings" pitchFamily="2" charset="2"/>
              <a:buChar char="§"/>
            </a:pPr>
            <a:r>
              <a:rPr lang="en-US" dirty="0" smtClean="0"/>
              <a:t>Enhance capacity</a:t>
            </a:r>
          </a:p>
          <a:p>
            <a:pPr lvl="1">
              <a:buFont typeface="Wingdings" pitchFamily="2" charset="2"/>
              <a:buChar char="§"/>
            </a:pPr>
            <a:r>
              <a:rPr lang="en-US" dirty="0" smtClean="0"/>
              <a:t>Plan based on needs and capacity</a:t>
            </a:r>
          </a:p>
          <a:p>
            <a:pPr lvl="1">
              <a:buFont typeface="Wingdings" pitchFamily="2" charset="2"/>
              <a:buChar char="§"/>
            </a:pPr>
            <a:r>
              <a:rPr lang="en-US" dirty="0" smtClean="0"/>
              <a:t>Implement interventions</a:t>
            </a:r>
          </a:p>
          <a:p>
            <a:pPr lvl="1">
              <a:buFont typeface="Wingdings" pitchFamily="2" charset="2"/>
              <a:buChar char="§"/>
            </a:pPr>
            <a:r>
              <a:rPr lang="en-US" dirty="0" smtClean="0"/>
              <a:t>Evaluate success</a:t>
            </a:r>
          </a:p>
          <a:p>
            <a:pPr lvl="2"/>
            <a:r>
              <a:rPr lang="en-US" dirty="0" smtClean="0"/>
              <a:t>Develop Data</a:t>
            </a:r>
          </a:p>
          <a:p>
            <a:r>
              <a:rPr lang="en-US" dirty="0" smtClean="0"/>
              <a:t>Very structurally similar to Communities that Care and PROSPER models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Gaining Funding and Political Buy-in</a:t>
            </a:r>
            <a:endParaRPr lang="en-US" dirty="0"/>
          </a:p>
        </p:txBody>
      </p:sp>
      <p:sp>
        <p:nvSpPr>
          <p:cNvPr id="3" name="Content Placeholder 2"/>
          <p:cNvSpPr>
            <a:spLocks noGrp="1"/>
          </p:cNvSpPr>
          <p:nvPr>
            <p:ph idx="1"/>
          </p:nvPr>
        </p:nvSpPr>
        <p:spPr/>
        <p:txBody>
          <a:bodyPr>
            <a:normAutofit/>
          </a:bodyPr>
          <a:lstStyle/>
          <a:p>
            <a:r>
              <a:rPr lang="en-US" dirty="0" smtClean="0"/>
              <a:t>Demonstrate observable and measurable “early wins”</a:t>
            </a:r>
          </a:p>
          <a:p>
            <a:r>
              <a:rPr lang="en-US" dirty="0" smtClean="0"/>
              <a:t>Tie intervention success to positive behaviors</a:t>
            </a:r>
          </a:p>
          <a:p>
            <a:r>
              <a:rPr lang="en-US" dirty="0" smtClean="0"/>
              <a:t>Observable changes promote current well-being</a:t>
            </a:r>
          </a:p>
          <a:p>
            <a:r>
              <a:rPr lang="en-US" dirty="0" smtClean="0"/>
              <a:t>First person accounts and testimonials</a:t>
            </a:r>
          </a:p>
          <a:p>
            <a:r>
              <a:rPr lang="en-US" dirty="0" smtClean="0"/>
              <a:t>Demonstrate observable effects on institutional indicators</a:t>
            </a:r>
          </a:p>
          <a:p>
            <a:r>
              <a:rPr lang="en-US" dirty="0" smtClean="0"/>
              <a:t>Promote implementation, sustainability and scaling of intervention using a positive relational frame</a:t>
            </a:r>
          </a:p>
          <a:p>
            <a:endParaRPr lang="en-US" dirty="0" smtClean="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Community Examples</a:t>
            </a:r>
            <a:endParaRPr lang="en-US" dirty="0"/>
          </a:p>
        </p:txBody>
      </p:sp>
      <p:sp>
        <p:nvSpPr>
          <p:cNvPr id="3" name="Content Placeholder 2"/>
          <p:cNvSpPr>
            <a:spLocks noGrp="1"/>
          </p:cNvSpPr>
          <p:nvPr>
            <p:ph idx="1"/>
          </p:nvPr>
        </p:nvSpPr>
        <p:spPr/>
        <p:txBody>
          <a:bodyPr/>
          <a:lstStyle/>
          <a:p>
            <a:r>
              <a:rPr lang="en-US" dirty="0" smtClean="0"/>
              <a:t>Five Town Communities that Care – prevention coalition</a:t>
            </a:r>
          </a:p>
          <a:p>
            <a:r>
              <a:rPr lang="en-US" dirty="0" smtClean="0"/>
              <a:t>MHA of Oklahoma – school and housing partnerships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TClogowithTagSMALL.jpg                                        000C062FMacintosh HD                   C3E30A56:"/>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981200"/>
            <a:ext cx="4038600" cy="242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
        <p:nvSpPr>
          <p:cNvPr id="4" name="Content Placeholder 3"/>
          <p:cNvSpPr>
            <a:spLocks noGrp="1"/>
          </p:cNvSpPr>
          <p:nvPr>
            <p:ph sz="half" idx="2"/>
          </p:nvPr>
        </p:nvSpPr>
        <p:spPr>
          <a:xfrm>
            <a:off x="4724400" y="1600200"/>
            <a:ext cx="3962400" cy="4525963"/>
          </a:xfrm>
        </p:spPr>
        <p:txBody>
          <a:bodyPr/>
          <a:lstStyle/>
          <a:p>
            <a:pPr>
              <a:buNone/>
            </a:pPr>
            <a:endParaRPr lang="en-US" dirty="0" smtClean="0"/>
          </a:p>
          <a:p>
            <a:pPr>
              <a:buNone/>
            </a:pPr>
            <a:r>
              <a:rPr lang="en-US" dirty="0" err="1" smtClean="0"/>
              <a:t>Dalene</a:t>
            </a:r>
            <a:r>
              <a:rPr lang="en-US" dirty="0" smtClean="0"/>
              <a:t> Dutton, MS</a:t>
            </a:r>
          </a:p>
          <a:p>
            <a:pPr>
              <a:buNone/>
            </a:pPr>
            <a:r>
              <a:rPr lang="en-US" dirty="0" smtClean="0"/>
              <a:t>Five Town Communities That Care, Maine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defRPr/>
            </a:pPr>
            <a:r>
              <a:rPr lang="en-US" dirty="0" smtClean="0">
                <a:ea typeface="+mj-ea"/>
                <a:cs typeface="+mj-cs"/>
              </a:rPr>
              <a:t>How Five Town CTC got started:</a:t>
            </a:r>
          </a:p>
        </p:txBody>
      </p:sp>
      <p:pic>
        <p:nvPicPr>
          <p:cNvPr id="3081" name="Picture 9" descr="me_map_camden.gif                                              000AA4FAMacintosh HD                   C3E30A56:"/>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1371600" y="1676400"/>
            <a:ext cx="2133600" cy="2660650"/>
          </a:xfrm>
        </p:spPr>
      </p:pic>
      <p:sp>
        <p:nvSpPr>
          <p:cNvPr id="3076" name="Rectangle 4"/>
          <p:cNvSpPr>
            <a:spLocks noGrp="1" noChangeArrowheads="1"/>
          </p:cNvSpPr>
          <p:nvPr>
            <p:ph type="body" sz="half" idx="2"/>
          </p:nvPr>
        </p:nvSpPr>
        <p:spPr>
          <a:xfrm>
            <a:off x="4267200" y="1752600"/>
            <a:ext cx="4267200" cy="4495800"/>
          </a:xfrm>
        </p:spPr>
        <p:txBody>
          <a:bodyPr/>
          <a:lstStyle/>
          <a:p>
            <a:pPr eaLnBrk="1" hangingPunct="1">
              <a:buFontTx/>
              <a:buNone/>
            </a:pPr>
            <a:r>
              <a:rPr lang="en-US" sz="2400" smtClean="0"/>
              <a:t>    In 2003, our community in midcoast Maine needed help to address youth mental, emotional, and behavioral disorders…and the Social Development Research Group at the University of Washington needed an additional study site to test the CTC system.</a:t>
            </a:r>
          </a:p>
        </p:txBody>
      </p:sp>
      <p:pic>
        <p:nvPicPr>
          <p:cNvPr id="7" name="Picture 6" descr="CTClogowithTagSMALL.jpg                                        000C062FMacintosh HD                   C3E30A5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45720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pic>
        <p:nvPicPr>
          <p:cNvPr id="6" name="Picture 5" descr="CTClogowithTagSMALL.jpg                                        000C062FMacintosh HD                   C3E30A5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1600" y="47244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609600"/>
            <a:ext cx="4648200" cy="1143000"/>
          </a:xfrm>
        </p:spPr>
        <p:txBody>
          <a:bodyPr/>
          <a:lstStyle/>
          <a:p>
            <a:pPr algn="l" eaLnBrk="1" hangingPunct="1">
              <a:defRPr/>
            </a:pPr>
            <a:r>
              <a:rPr lang="en-US" dirty="0" smtClean="0">
                <a:ea typeface="+mj-ea"/>
                <a:cs typeface="+mj-cs"/>
              </a:rPr>
              <a:t>Original funding:</a:t>
            </a:r>
          </a:p>
        </p:txBody>
      </p:sp>
      <p:sp>
        <p:nvSpPr>
          <p:cNvPr id="3076" name="Rectangle 4"/>
          <p:cNvSpPr>
            <a:spLocks noGrp="1" noChangeArrowheads="1"/>
          </p:cNvSpPr>
          <p:nvPr>
            <p:ph type="body" sz="half" idx="2"/>
          </p:nvPr>
        </p:nvSpPr>
        <p:spPr>
          <a:xfrm>
            <a:off x="533400" y="2133600"/>
            <a:ext cx="8001000" cy="3886200"/>
          </a:xfrm>
        </p:spPr>
        <p:txBody>
          <a:bodyPr/>
          <a:lstStyle/>
          <a:p>
            <a:pPr eaLnBrk="1" hangingPunct="1">
              <a:buFontTx/>
              <a:buNone/>
              <a:defRPr/>
            </a:pPr>
            <a:r>
              <a:rPr lang="en-US" sz="2800" dirty="0" smtClean="0">
                <a:ea typeface="+mn-ea"/>
                <a:cs typeface="+mn-cs"/>
              </a:rPr>
              <a:t>  The five-year research trial provided funds for one staff person and some overhead, and $50,000 of program funding in years 2-5.</a:t>
            </a:r>
          </a:p>
          <a:p>
            <a:pPr eaLnBrk="1" hangingPunct="1">
              <a:buFontTx/>
              <a:buNone/>
              <a:defRPr/>
            </a:pPr>
            <a:endParaRPr lang="en-US" sz="2800" dirty="0">
              <a:ea typeface="+mn-ea"/>
              <a:cs typeface="+mn-cs"/>
            </a:endParaRPr>
          </a:p>
          <a:p>
            <a:pPr eaLnBrk="1" hangingPunct="1">
              <a:buFontTx/>
              <a:buNone/>
              <a:defRPr/>
            </a:pPr>
            <a:r>
              <a:rPr lang="en-US" sz="2800" dirty="0" smtClean="0">
                <a:ea typeface="+mn-ea"/>
                <a:cs typeface="+mn-cs"/>
              </a:rPr>
              <a:t>Just as importantly, it provided training in CTC, which includes coalition development, prevention science, data analysis, and program evaluation.</a:t>
            </a:r>
          </a:p>
          <a:p>
            <a:pPr eaLnBrk="1" hangingPunct="1">
              <a:buFontTx/>
              <a:buNone/>
              <a:defRPr/>
            </a:pPr>
            <a:endParaRPr lang="en-US" sz="2800" dirty="0" smtClean="0">
              <a:ea typeface="+mn-ea"/>
              <a:cs typeface="+mn-cs"/>
            </a:endParaRPr>
          </a:p>
        </p:txBody>
      </p:sp>
      <p:pic>
        <p:nvPicPr>
          <p:cNvPr id="7" name="Picture 6" descr="CTClogowithTagSMALL.jpg                                        000C062FMacintosh HD                   C3E30A5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5334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609600"/>
            <a:ext cx="4648200" cy="1219200"/>
          </a:xfrm>
        </p:spPr>
        <p:txBody>
          <a:bodyPr/>
          <a:lstStyle/>
          <a:p>
            <a:pPr algn="l" eaLnBrk="1" hangingPunct="1">
              <a:defRPr/>
            </a:pPr>
            <a:r>
              <a:rPr lang="en-US" dirty="0" smtClean="0">
                <a:ea typeface="+mj-ea"/>
                <a:cs typeface="+mj-cs"/>
              </a:rPr>
              <a:t>Shift in funding:</a:t>
            </a:r>
          </a:p>
        </p:txBody>
      </p:sp>
      <p:sp>
        <p:nvSpPr>
          <p:cNvPr id="3076" name="Rectangle 4"/>
          <p:cNvSpPr>
            <a:spLocks noGrp="1" noChangeArrowheads="1"/>
          </p:cNvSpPr>
          <p:nvPr>
            <p:ph type="body" sz="half" idx="2"/>
          </p:nvPr>
        </p:nvSpPr>
        <p:spPr>
          <a:xfrm>
            <a:off x="609600" y="2133600"/>
            <a:ext cx="8001000" cy="4114800"/>
          </a:xfrm>
        </p:spPr>
        <p:txBody>
          <a:bodyPr>
            <a:normAutofit/>
          </a:bodyPr>
          <a:lstStyle/>
          <a:p>
            <a:pPr eaLnBrk="1" hangingPunct="1">
              <a:buFontTx/>
              <a:buNone/>
            </a:pPr>
            <a:r>
              <a:rPr lang="en-US" sz="2800" smtClean="0"/>
              <a:t>  During the five years of our first grant, we were able to attract some additional funding from corporate foundations (Verizon), local foundations (Maine Community Foundation), and a few local donors.</a:t>
            </a:r>
          </a:p>
          <a:p>
            <a:pPr eaLnBrk="1" hangingPunct="1">
              <a:buFontTx/>
              <a:buNone/>
            </a:pPr>
            <a:endParaRPr lang="en-US" sz="2800" smtClean="0"/>
          </a:p>
          <a:p>
            <a:pPr eaLnBrk="1" hangingPunct="1">
              <a:buFontTx/>
              <a:buNone/>
            </a:pPr>
            <a:r>
              <a:rPr lang="en-US" sz="2800" smtClean="0"/>
              <a:t>Having good, LOCAL data that we could clearly tie to desired outcomes—and having established partnerships and desire to form true collaborations—positioned us more favorably in funders</a:t>
            </a:r>
            <a:r>
              <a:rPr lang="en-US" altLang="en-US" sz="2800" smtClean="0"/>
              <a:t>’</a:t>
            </a:r>
            <a:r>
              <a:rPr lang="en-US" sz="2800" smtClean="0"/>
              <a:t> eyes.</a:t>
            </a:r>
          </a:p>
        </p:txBody>
      </p:sp>
      <p:pic>
        <p:nvPicPr>
          <p:cNvPr id="7" name="Picture 6" descr="CTClogowithTagSMALL.jpg                                        000C062FMacintosh HD                   C3E30A5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6096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descr="programs_to_behaviors.tiff"/>
          <p:cNvPicPr>
            <a:picLocks noChangeAspect="1"/>
          </p:cNvPicPr>
          <p:nvPr/>
        </p:nvPicPr>
        <p:blipFill>
          <a:blip r:embed="rId3" cstate="print"/>
          <a:srcRect/>
          <a:stretch>
            <a:fillRect/>
          </a:stretch>
        </p:blipFill>
        <p:spPr bwMode="auto">
          <a:xfrm>
            <a:off x="241300" y="50800"/>
            <a:ext cx="8661400" cy="6756400"/>
          </a:xfrm>
          <a:prstGeom prst="rect">
            <a:avLst/>
          </a:prstGeom>
          <a:noFill/>
          <a:ln w="9525">
            <a:noFill/>
            <a:miter lim="800000"/>
            <a:headEnd/>
            <a:tailEnd/>
          </a:ln>
        </p:spPr>
      </p:pic>
      <p:pic>
        <p:nvPicPr>
          <p:cNvPr id="7" name="Picture 6" descr="CTClogowithTagSMALL.jpg                                        000C062FMacintosh HD                   C3E30A5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8000" y="4572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 descr="GGC.jpg"/>
          <p:cNvPicPr>
            <a:picLocks noChangeAspect="1"/>
          </p:cNvPicPr>
          <p:nvPr/>
        </p:nvPicPr>
        <p:blipFill>
          <a:blip r:embed="rId3" cstate="print"/>
          <a:srcRect/>
          <a:stretch>
            <a:fillRect/>
          </a:stretch>
        </p:blipFill>
        <p:spPr bwMode="auto">
          <a:xfrm>
            <a:off x="558800" y="0"/>
            <a:ext cx="8026400" cy="6858000"/>
          </a:xfrm>
          <a:prstGeom prst="rect">
            <a:avLst/>
          </a:prstGeom>
          <a:noFill/>
          <a:ln w="9525">
            <a:noFill/>
            <a:miter lim="800000"/>
            <a:headEnd/>
            <a:tailEnd/>
          </a:ln>
        </p:spPr>
      </p:pic>
      <p:pic>
        <p:nvPicPr>
          <p:cNvPr id="7" name="Picture 6" descr="CTClogowithTagSMALL.jpg                                        000C062FMacintosh HD                   C3E30A5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 y="3810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TClogowithTagSMALL.jpg                                        000C062FMacintosh HD                   C3E30A5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3810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
        <p:nvSpPr>
          <p:cNvPr id="25602" name="TextBox 1"/>
          <p:cNvSpPr txBox="1">
            <a:spLocks noChangeArrowheads="1"/>
          </p:cNvSpPr>
          <p:nvPr/>
        </p:nvSpPr>
        <p:spPr bwMode="auto">
          <a:xfrm>
            <a:off x="762000" y="2209800"/>
            <a:ext cx="7848600" cy="3786188"/>
          </a:xfrm>
          <a:prstGeom prst="rect">
            <a:avLst/>
          </a:prstGeom>
          <a:noFill/>
          <a:ln w="9525">
            <a:noFill/>
            <a:miter lim="800000"/>
            <a:headEnd/>
            <a:tailEnd/>
          </a:ln>
        </p:spPr>
        <p:txBody>
          <a:bodyPr>
            <a:spAutoFit/>
          </a:bodyPr>
          <a:lstStyle/>
          <a:p>
            <a:r>
              <a:rPr lang="en-US"/>
              <a:t>Frank, regular discussions that clarify roles and goals of each organization (part of the CTC structure) allow the community to be able to minimize duplication of effort—and for organizations to consider new partnerships.</a:t>
            </a:r>
          </a:p>
          <a:p>
            <a:endParaRPr lang="en-US"/>
          </a:p>
          <a:p>
            <a:r>
              <a:rPr lang="en-US"/>
              <a:t>Partnerships include program delivery, program endorsement, information sharing, loaning one another specialized staff, and fund-raising events.</a:t>
            </a:r>
          </a:p>
          <a:p>
            <a:endParaRPr lang="en-US"/>
          </a:p>
          <a:p>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2" descr="program web.tiff"/>
          <p:cNvPicPr>
            <a:picLocks noChangeAspect="1"/>
          </p:cNvPicPr>
          <p:nvPr/>
        </p:nvPicPr>
        <p:blipFill>
          <a:blip r:embed="rId3" cstate="print"/>
          <a:srcRect/>
          <a:stretch>
            <a:fillRect/>
          </a:stretch>
        </p:blipFill>
        <p:spPr bwMode="auto">
          <a:xfrm>
            <a:off x="0" y="457200"/>
            <a:ext cx="9144000" cy="56594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609600"/>
            <a:ext cx="3962400" cy="1143000"/>
          </a:xfrm>
        </p:spPr>
        <p:txBody>
          <a:bodyPr/>
          <a:lstStyle/>
          <a:p>
            <a:pPr algn="l" eaLnBrk="1" hangingPunct="1">
              <a:defRPr/>
            </a:pPr>
            <a:r>
              <a:rPr lang="en-US" dirty="0" smtClean="0">
                <a:ea typeface="+mj-ea"/>
                <a:cs typeface="+mj-cs"/>
              </a:rPr>
              <a:t>Current funding:</a:t>
            </a:r>
          </a:p>
        </p:txBody>
      </p:sp>
      <p:sp>
        <p:nvSpPr>
          <p:cNvPr id="3076" name="Rectangle 4"/>
          <p:cNvSpPr>
            <a:spLocks noGrp="1" noChangeArrowheads="1"/>
          </p:cNvSpPr>
          <p:nvPr>
            <p:ph type="body" sz="half" idx="2"/>
          </p:nvPr>
        </p:nvSpPr>
        <p:spPr>
          <a:xfrm>
            <a:off x="609600" y="2133600"/>
            <a:ext cx="7924800" cy="4267200"/>
          </a:xfrm>
        </p:spPr>
        <p:txBody>
          <a:bodyPr/>
          <a:lstStyle/>
          <a:p>
            <a:pPr eaLnBrk="1" hangingPunct="1">
              <a:buFontTx/>
              <a:buNone/>
              <a:defRPr/>
            </a:pPr>
            <a:r>
              <a:rPr lang="en-US" sz="2000" dirty="0" smtClean="0">
                <a:ea typeface="+mn-ea"/>
                <a:cs typeface="+mn-cs"/>
              </a:rPr>
              <a:t>We now are able to attract significant support from local donors and fundraising events. </a:t>
            </a:r>
          </a:p>
          <a:p>
            <a:pPr eaLnBrk="1" hangingPunct="1">
              <a:buFontTx/>
              <a:buNone/>
              <a:defRPr/>
            </a:pPr>
            <a:r>
              <a:rPr lang="en-US" sz="2000" dirty="0" smtClean="0">
                <a:ea typeface="+mn-ea"/>
                <a:cs typeface="+mn-cs"/>
              </a:rPr>
              <a:t>In-kind donations make a real difference in what we are able to do, especially in terms of youth programming. </a:t>
            </a:r>
          </a:p>
          <a:p>
            <a:pPr eaLnBrk="1" hangingPunct="1">
              <a:buFontTx/>
              <a:buNone/>
              <a:defRPr/>
            </a:pPr>
            <a:r>
              <a:rPr lang="en-US" sz="2000" dirty="0" smtClean="0">
                <a:ea typeface="+mn-ea"/>
                <a:cs typeface="+mn-cs"/>
              </a:rPr>
              <a:t>We have also been successful in our bids for some state funding (delinquency prevention funds).</a:t>
            </a:r>
          </a:p>
          <a:p>
            <a:pPr eaLnBrk="1" hangingPunct="1">
              <a:buFontTx/>
              <a:buNone/>
              <a:defRPr/>
            </a:pPr>
            <a:r>
              <a:rPr lang="en-US" sz="2000" dirty="0" smtClean="0">
                <a:ea typeface="+mn-ea"/>
                <a:cs typeface="+mn-cs"/>
              </a:rPr>
              <a:t>Local municipalities include us in their budgets.</a:t>
            </a:r>
          </a:p>
          <a:p>
            <a:pPr eaLnBrk="1" hangingPunct="1">
              <a:buFontTx/>
              <a:buNone/>
              <a:defRPr/>
            </a:pPr>
            <a:r>
              <a:rPr lang="en-US" sz="2000" dirty="0" smtClean="0">
                <a:ea typeface="+mn-ea"/>
                <a:cs typeface="+mn-cs"/>
              </a:rPr>
              <a:t>In addition, we have been able to leverage our expertise to generate a modest income stream from consulting.</a:t>
            </a:r>
          </a:p>
        </p:txBody>
      </p:sp>
      <p:pic>
        <p:nvPicPr>
          <p:cNvPr id="7" name="Picture 6" descr="CTClogowithTagSMALL.jpg                                        000C062FMacintosh HD                   C3E30A5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4600" y="5334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381000"/>
            <a:ext cx="7772400" cy="1143000"/>
          </a:xfrm>
        </p:spPr>
        <p:txBody>
          <a:bodyPr/>
          <a:lstStyle/>
          <a:p>
            <a:pPr algn="l" eaLnBrk="1" hangingPunct="1">
              <a:defRPr/>
            </a:pPr>
            <a:r>
              <a:rPr lang="en-US" dirty="0" smtClean="0">
                <a:ea typeface="+mj-ea"/>
                <a:cs typeface="+mj-cs"/>
              </a:rPr>
              <a:t>Points to note:</a:t>
            </a:r>
          </a:p>
        </p:txBody>
      </p:sp>
      <p:sp>
        <p:nvSpPr>
          <p:cNvPr id="3076" name="Rectangle 4"/>
          <p:cNvSpPr>
            <a:spLocks noGrp="1" noChangeArrowheads="1"/>
          </p:cNvSpPr>
          <p:nvPr>
            <p:ph type="body" sz="half" idx="2"/>
          </p:nvPr>
        </p:nvSpPr>
        <p:spPr>
          <a:xfrm>
            <a:off x="838200" y="1752600"/>
            <a:ext cx="7696200" cy="4038600"/>
          </a:xfrm>
        </p:spPr>
        <p:txBody>
          <a:bodyPr/>
          <a:lstStyle/>
          <a:p>
            <a:pPr eaLnBrk="1" hangingPunct="1">
              <a:buFontTx/>
              <a:buNone/>
              <a:defRPr/>
            </a:pPr>
            <a:r>
              <a:rPr lang="en-US" sz="2000" dirty="0" smtClean="0">
                <a:ea typeface="+mn-ea"/>
                <a:cs typeface="+mn-cs"/>
              </a:rPr>
              <a:t>Use of data</a:t>
            </a:r>
          </a:p>
          <a:p>
            <a:pPr eaLnBrk="1" hangingPunct="1">
              <a:buFontTx/>
              <a:buNone/>
              <a:defRPr/>
            </a:pPr>
            <a:endParaRPr lang="en-US" sz="2000" dirty="0" smtClean="0">
              <a:ea typeface="+mn-ea"/>
              <a:cs typeface="+mn-cs"/>
            </a:endParaRPr>
          </a:p>
          <a:p>
            <a:pPr eaLnBrk="1" hangingPunct="1">
              <a:buFontTx/>
              <a:buNone/>
              <a:defRPr/>
            </a:pPr>
            <a:r>
              <a:rPr lang="en-US" sz="2000" dirty="0" smtClean="0">
                <a:ea typeface="+mn-ea"/>
                <a:cs typeface="+mn-cs"/>
              </a:rPr>
              <a:t>True Collaborations</a:t>
            </a:r>
          </a:p>
          <a:p>
            <a:pPr eaLnBrk="1" hangingPunct="1">
              <a:buFontTx/>
              <a:buNone/>
              <a:defRPr/>
            </a:pPr>
            <a:endParaRPr lang="en-US" sz="2000" dirty="0" smtClean="0">
              <a:ea typeface="+mn-ea"/>
              <a:cs typeface="+mn-cs"/>
            </a:endParaRPr>
          </a:p>
          <a:p>
            <a:pPr eaLnBrk="1" hangingPunct="1">
              <a:buFontTx/>
              <a:buNone/>
              <a:defRPr/>
            </a:pPr>
            <a:r>
              <a:rPr lang="en-US" sz="2000" dirty="0" smtClean="0">
                <a:ea typeface="+mn-ea"/>
                <a:cs typeface="+mn-cs"/>
              </a:rPr>
              <a:t>By working upstream (focus on risk and protective factors) we can effect multiple problem behaviors</a:t>
            </a:r>
          </a:p>
          <a:p>
            <a:pPr eaLnBrk="1" hangingPunct="1">
              <a:buFontTx/>
              <a:buNone/>
              <a:defRPr/>
            </a:pPr>
            <a:endParaRPr lang="en-US" sz="2000" dirty="0" smtClean="0">
              <a:ea typeface="+mn-ea"/>
              <a:cs typeface="+mn-cs"/>
            </a:endParaRPr>
          </a:p>
          <a:p>
            <a:pPr eaLnBrk="1" hangingPunct="1">
              <a:buFontTx/>
              <a:buNone/>
              <a:defRPr/>
            </a:pPr>
            <a:r>
              <a:rPr lang="en-US" sz="2000" dirty="0" smtClean="0">
                <a:ea typeface="+mn-ea"/>
                <a:cs typeface="+mn-cs"/>
              </a:rPr>
              <a:t>Develop your capacity and use it</a:t>
            </a:r>
          </a:p>
          <a:p>
            <a:pPr eaLnBrk="1" hangingPunct="1">
              <a:buFontTx/>
              <a:buNone/>
              <a:defRPr/>
            </a:pPr>
            <a:endParaRPr lang="en-US" sz="2000" dirty="0" smtClean="0">
              <a:ea typeface="+mn-ea"/>
              <a:cs typeface="+mn-cs"/>
            </a:endParaRPr>
          </a:p>
          <a:p>
            <a:pPr eaLnBrk="1" hangingPunct="1">
              <a:buFontTx/>
              <a:buNone/>
              <a:defRPr/>
            </a:pPr>
            <a:r>
              <a:rPr lang="en-US" sz="2000" dirty="0" smtClean="0">
                <a:ea typeface="+mn-ea"/>
                <a:cs typeface="+mn-cs"/>
              </a:rPr>
              <a:t>Put community needs first</a:t>
            </a:r>
          </a:p>
        </p:txBody>
      </p:sp>
      <p:pic>
        <p:nvPicPr>
          <p:cNvPr id="8" name="Picture 7" descr="CTClogowithTagSMALL.jpg                                        000C062FMacintosh HD                   C3E30A5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00" y="1295400"/>
            <a:ext cx="2133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half" idx="1"/>
          </p:nvPr>
        </p:nvPicPr>
        <p:blipFill>
          <a:blip r:embed="rId2" cstate="print"/>
          <a:stretch>
            <a:fillRect/>
          </a:stretch>
        </p:blipFill>
        <p:spPr bwMode="auto">
          <a:xfrm>
            <a:off x="1073339" y="3473520"/>
            <a:ext cx="3034921" cy="1130159"/>
          </a:xfrm>
          <a:prstGeom prst="rect">
            <a:avLst/>
          </a:prstGeom>
          <a:noFill/>
          <a:ln w="9525">
            <a:noFill/>
            <a:miter lim="800000"/>
            <a:headEnd/>
            <a:tailEnd/>
          </a:ln>
          <a:effectLst/>
        </p:spPr>
      </p:pic>
      <p:sp>
        <p:nvSpPr>
          <p:cNvPr id="4" name="Text Placeholder 3"/>
          <p:cNvSpPr>
            <a:spLocks noGrp="1"/>
          </p:cNvSpPr>
          <p:nvPr>
            <p:ph type="body" sz="half" idx="2"/>
          </p:nvPr>
        </p:nvSpPr>
        <p:spPr/>
        <p:txBody>
          <a:bodyPr/>
          <a:lstStyle/>
          <a:p>
            <a:pPr>
              <a:buNone/>
            </a:pPr>
            <a:endParaRPr lang="en-US" dirty="0" smtClean="0"/>
          </a:p>
          <a:p>
            <a:pPr>
              <a:buNone/>
            </a:pPr>
            <a:r>
              <a:rPr lang="en-US" dirty="0" smtClean="0"/>
              <a:t>Mike Brose, MSW</a:t>
            </a:r>
          </a:p>
          <a:p>
            <a:pPr>
              <a:buNone/>
            </a:pPr>
            <a:r>
              <a:rPr lang="en-US" dirty="0" smtClean="0"/>
              <a:t>Executive Director</a:t>
            </a:r>
            <a:endParaRPr lang="en-US" dirty="0"/>
          </a:p>
        </p:txBody>
      </p:sp>
      <p:pic>
        <p:nvPicPr>
          <p:cNvPr id="1027" name="Picture 3" descr="C:\Users\Sarah\Desktop\mha ok.jpg"/>
          <p:cNvPicPr>
            <a:picLocks noChangeAspect="1" noChangeArrowheads="1"/>
          </p:cNvPicPr>
          <p:nvPr/>
        </p:nvPicPr>
        <p:blipFill>
          <a:blip r:embed="rId3" cstate="print"/>
          <a:srcRect/>
          <a:stretch>
            <a:fillRect/>
          </a:stretch>
        </p:blipFill>
        <p:spPr bwMode="auto">
          <a:xfrm>
            <a:off x="1828800" y="2133600"/>
            <a:ext cx="1524000" cy="15240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MHA Oklahoma - Advocacy and Prevention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Redefining prevention in a “downstream” state</a:t>
            </a:r>
          </a:p>
          <a:p>
            <a:r>
              <a:rPr lang="en-US" dirty="0" smtClean="0"/>
              <a:t>Historical use of institutions and high cost uncompensated care </a:t>
            </a:r>
          </a:p>
          <a:p>
            <a:r>
              <a:rPr lang="en-US" dirty="0" smtClean="0"/>
              <a:t>Rejection of Medicaid expansion</a:t>
            </a:r>
          </a:p>
          <a:p>
            <a:r>
              <a:rPr lang="en-US" dirty="0" smtClean="0"/>
              <a:t>Political moment in time</a:t>
            </a:r>
          </a:p>
          <a:p>
            <a:r>
              <a:rPr lang="en-US" dirty="0" smtClean="0"/>
              <a:t>Developing partners and champions</a:t>
            </a:r>
          </a:p>
          <a:p>
            <a:r>
              <a:rPr lang="en-US" dirty="0" smtClean="0"/>
              <a:t>20th Annual </a:t>
            </a:r>
            <a:r>
              <a:rPr lang="en-US" dirty="0" err="1" smtClean="0"/>
              <a:t>Zarrow</a:t>
            </a:r>
            <a:r>
              <a:rPr lang="en-US" dirty="0" smtClean="0"/>
              <a:t> Symposium  - </a:t>
            </a:r>
            <a:r>
              <a:rPr lang="en-US" i="1" dirty="0" smtClean="0"/>
              <a:t>All Things Prevention</a:t>
            </a:r>
            <a:endParaRPr lang="en-US" dirty="0" smtClean="0"/>
          </a:p>
        </p:txBody>
      </p:sp>
      <p:sp>
        <p:nvSpPr>
          <p:cNvPr id="4" name="Rectangle 3"/>
          <p:cNvSpPr/>
          <p:nvPr/>
        </p:nvSpPr>
        <p:spPr>
          <a:xfrm>
            <a:off x="2286000" y="3105835"/>
            <a:ext cx="4572000" cy="646331"/>
          </a:xfrm>
          <a:prstGeom prst="rect">
            <a:avLst/>
          </a:prstGeom>
        </p:spPr>
        <p:txBody>
          <a:bodyPr>
            <a:spAutoFit/>
          </a:bodyPr>
          <a:lstStyle/>
          <a:p>
            <a:r>
              <a:rPr lang="en-US" dirty="0" smtClean="0"/>
              <a:t> </a:t>
            </a:r>
            <a:br>
              <a:rPr lang="en-US" dirty="0" smtClean="0"/>
            </a:br>
            <a:endParaRPr lang="en-US" dirty="0"/>
          </a:p>
        </p:txBody>
      </p:sp>
      <p:sp>
        <p:nvSpPr>
          <p:cNvPr id="5" name="Rectangle 4"/>
          <p:cNvSpPr/>
          <p:nvPr/>
        </p:nvSpPr>
        <p:spPr>
          <a:xfrm>
            <a:off x="2286000" y="3105835"/>
            <a:ext cx="4572000" cy="646331"/>
          </a:xfrm>
          <a:prstGeom prst="rect">
            <a:avLst/>
          </a:prstGeom>
        </p:spPr>
        <p:txBody>
          <a:bodyPr>
            <a:spAutoFit/>
          </a:bodyPr>
          <a:lstStyle/>
          <a:p>
            <a:r>
              <a:rPr lang="en-US" dirty="0" smtClean="0"/>
              <a:t> </a:t>
            </a:r>
            <a:br>
              <a:rPr lang="en-US" dirty="0" smtClean="0"/>
            </a:b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Schools and Prevention</a:t>
            </a:r>
            <a:endParaRPr lang="en-US" dirty="0"/>
          </a:p>
        </p:txBody>
      </p:sp>
      <p:sp>
        <p:nvSpPr>
          <p:cNvPr id="3" name="Content Placeholder 2"/>
          <p:cNvSpPr>
            <a:spLocks noGrp="1"/>
          </p:cNvSpPr>
          <p:nvPr>
            <p:ph idx="1"/>
          </p:nvPr>
        </p:nvSpPr>
        <p:spPr/>
        <p:txBody>
          <a:bodyPr>
            <a:noAutofit/>
          </a:bodyPr>
          <a:lstStyle/>
          <a:p>
            <a:r>
              <a:rPr lang="en-US" sz="2800" dirty="0" smtClean="0"/>
              <a:t>Building partners and credibility “one crisis at a time”</a:t>
            </a:r>
          </a:p>
          <a:p>
            <a:r>
              <a:rPr lang="en-US" sz="2800" dirty="0" smtClean="0"/>
              <a:t>Bringing </a:t>
            </a:r>
            <a:r>
              <a:rPr lang="en-US" sz="2800" dirty="0" err="1" smtClean="0"/>
              <a:t>TeenScreen</a:t>
            </a:r>
            <a:r>
              <a:rPr lang="en-US" sz="2800" dirty="0" smtClean="0"/>
              <a:t>, </a:t>
            </a:r>
            <a:r>
              <a:rPr lang="en-US" sz="2800" dirty="0" err="1" smtClean="0"/>
              <a:t>SafeTeam</a:t>
            </a:r>
            <a:r>
              <a:rPr lang="en-US" sz="2800" dirty="0" smtClean="0"/>
              <a:t>, and other screening tools into school settings as primary prevention</a:t>
            </a:r>
          </a:p>
          <a:p>
            <a:r>
              <a:rPr lang="en-US" sz="2800" dirty="0" smtClean="0"/>
              <a:t>Flexibility, training, school counselors in Oklahoma</a:t>
            </a:r>
          </a:p>
          <a:p>
            <a:r>
              <a:rPr lang="en-US" sz="2800" dirty="0" smtClean="0"/>
              <a:t>Primary care settings </a:t>
            </a:r>
          </a:p>
          <a:p>
            <a:r>
              <a:rPr lang="en-US" sz="2800" dirty="0" smtClean="0"/>
              <a:t>Funding through private foundations and corporations</a:t>
            </a:r>
          </a:p>
          <a:p>
            <a:r>
              <a:rPr lang="en-US" sz="2800" dirty="0" smtClean="0"/>
              <a:t>Garrett Lee Smith funding</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Housing Development As Prevention</a:t>
            </a:r>
            <a:endParaRPr lang="en-US" dirty="0"/>
          </a:p>
        </p:txBody>
      </p:sp>
      <p:sp>
        <p:nvSpPr>
          <p:cNvPr id="3" name="Content Placeholder 2"/>
          <p:cNvSpPr>
            <a:spLocks noGrp="1"/>
          </p:cNvSpPr>
          <p:nvPr>
            <p:ph idx="1"/>
          </p:nvPr>
        </p:nvSpPr>
        <p:spPr/>
        <p:txBody>
          <a:bodyPr>
            <a:normAutofit/>
          </a:bodyPr>
          <a:lstStyle/>
          <a:p>
            <a:r>
              <a:rPr lang="en-US" dirty="0" smtClean="0"/>
              <a:t>“Housing First”  Safe, affordable and decent</a:t>
            </a:r>
          </a:p>
          <a:p>
            <a:r>
              <a:rPr lang="en-US" dirty="0" smtClean="0"/>
              <a:t>850 units, 20 apartment buildings, in 16 different neighborhoods</a:t>
            </a:r>
          </a:p>
          <a:p>
            <a:r>
              <a:rPr lang="en-US" dirty="0" smtClean="0"/>
              <a:t>Debt-free ownership</a:t>
            </a:r>
          </a:p>
          <a:p>
            <a:r>
              <a:rPr lang="en-US" dirty="0" smtClean="0"/>
              <a:t>Prevention from becoming homeless and returning to homelessness</a:t>
            </a:r>
          </a:p>
          <a:p>
            <a:r>
              <a:rPr lang="en-US" dirty="0" smtClean="0"/>
              <a:t>Preservation of affordable housing (slowing gentrification) </a:t>
            </a:r>
          </a:p>
          <a:p>
            <a:r>
              <a:rPr lang="en-US" dirty="0" smtClean="0"/>
              <a:t>Partnerships with Housing Authorities and private developers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Development of Funding Streams</a:t>
            </a:r>
            <a:endParaRPr lang="en-US" dirty="0"/>
          </a:p>
        </p:txBody>
      </p:sp>
      <p:sp>
        <p:nvSpPr>
          <p:cNvPr id="3" name="Content Placeholder 2"/>
          <p:cNvSpPr>
            <a:spLocks noGrp="1"/>
          </p:cNvSpPr>
          <p:nvPr>
            <p:ph idx="1"/>
          </p:nvPr>
        </p:nvSpPr>
        <p:spPr/>
        <p:txBody>
          <a:bodyPr>
            <a:normAutofit/>
          </a:bodyPr>
          <a:lstStyle/>
          <a:p>
            <a:r>
              <a:rPr lang="en-US" dirty="0" smtClean="0"/>
              <a:t>Privately funded capital campaigns for bricks and mortar, and services</a:t>
            </a:r>
          </a:p>
          <a:p>
            <a:r>
              <a:rPr lang="en-US" dirty="0" smtClean="0"/>
              <a:t>Housing tax credits</a:t>
            </a:r>
          </a:p>
          <a:p>
            <a:r>
              <a:rPr lang="en-US" dirty="0" smtClean="0"/>
              <a:t>HUD Continuum of Care</a:t>
            </a:r>
          </a:p>
          <a:p>
            <a:r>
              <a:rPr lang="en-US" dirty="0" smtClean="0"/>
              <a:t>HUD HOME Funds and ESG</a:t>
            </a:r>
          </a:p>
          <a:p>
            <a:r>
              <a:rPr lang="en-US" dirty="0" smtClean="0"/>
              <a:t>Rapid </a:t>
            </a:r>
            <a:r>
              <a:rPr lang="en-US" dirty="0" err="1" smtClean="0"/>
              <a:t>Rehousing</a:t>
            </a:r>
            <a:endParaRPr lang="en-US" dirty="0" smtClean="0"/>
          </a:p>
          <a:p>
            <a:r>
              <a:rPr lang="en-US" dirty="0" smtClean="0"/>
              <a:t>SAMHSA funding for services</a:t>
            </a:r>
          </a:p>
          <a:p>
            <a:r>
              <a:rPr lang="en-US" dirty="0" smtClean="0"/>
              <a:t>State contracts</a:t>
            </a:r>
          </a:p>
          <a:p>
            <a:r>
              <a:rPr lang="en-US" dirty="0" smtClean="0"/>
              <a:t>VA contracts</a:t>
            </a:r>
          </a:p>
          <a:p>
            <a:r>
              <a:rPr lang="en-US" dirty="0" smtClean="0"/>
              <a:t>Federal Home Loan Banks</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r>
              <a:rPr lang="en-US" sz="9600" dirty="0" smtClean="0"/>
              <a:t>Q &amp; A</a:t>
            </a:r>
          </a:p>
          <a:p>
            <a:pPr algn="ctr">
              <a:buNone/>
            </a:pPr>
            <a:endParaRPr lang="en-US" dirty="0" smtClean="0"/>
          </a:p>
          <a:p>
            <a:pPr algn="ctr">
              <a:buNone/>
            </a:pPr>
            <a:endParaRPr lang="en-US" dirty="0" smtClean="0"/>
          </a:p>
          <a:p>
            <a:pPr algn="ctr">
              <a:buNone/>
            </a:pPr>
            <a:r>
              <a:rPr lang="en-US" dirty="0" smtClean="0"/>
              <a:t>Today’s recording, slides, and other resources can be found at http://mentalhealthamerica.net/mha-webinars</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MHA">
  <a:themeElements>
    <a:clrScheme name="MHA">
      <a:dk1>
        <a:srgbClr val="6A737B"/>
      </a:dk1>
      <a:lt1>
        <a:sysClr val="window" lastClr="FFFFFF"/>
      </a:lt1>
      <a:dk2>
        <a:srgbClr val="005596"/>
      </a:dk2>
      <a:lt2>
        <a:srgbClr val="FFFFFF"/>
      </a:lt2>
      <a:accent1>
        <a:srgbClr val="005596"/>
      </a:accent1>
      <a:accent2>
        <a:srgbClr val="7AC142"/>
      </a:accent2>
      <a:accent3>
        <a:srgbClr val="B51A8A"/>
      </a:accent3>
      <a:accent4>
        <a:srgbClr val="FBB034"/>
      </a:accent4>
      <a:accent5>
        <a:srgbClr val="005596"/>
      </a:accent5>
      <a:accent6>
        <a:srgbClr val="7AC142"/>
      </a:accent6>
      <a:hlink>
        <a:srgbClr val="B51A8A"/>
      </a:hlink>
      <a:folHlink>
        <a:srgbClr val="B51A8A"/>
      </a:folHlink>
    </a:clrScheme>
    <a:fontScheme name="MHA">
      <a:majorFont>
        <a:latin typeface="Calibri"/>
        <a:ea typeface=""/>
        <a:cs typeface=""/>
      </a:majorFont>
      <a:minorFont>
        <a:latin typeface="Calibri"/>
        <a:ea typeface=""/>
        <a:cs typeface=""/>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75000"/>
                <a:satMod val="250000"/>
              </a:schemeClr>
            </a:gs>
            <a:gs pos="20000">
              <a:schemeClr val="phClr">
                <a:shade val="85000"/>
                <a:satMod val="175000"/>
              </a:schemeClr>
            </a:gs>
            <a:gs pos="100000">
              <a:schemeClr val="phClr">
                <a:tint val="70000"/>
                <a:satMod val="17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1515</TotalTime>
  <Words>2472</Words>
  <Application>Microsoft Office PowerPoint</Application>
  <PresentationFormat>On-screen Show (4:3)</PresentationFormat>
  <Paragraphs>388</Paragraphs>
  <Slides>50</Slides>
  <Notes>20</Notes>
  <HiddenSlides>0</HiddenSlides>
  <MMClips>0</MMClips>
  <ScaleCrop>false</ScaleCrop>
  <HeadingPairs>
    <vt:vector size="4" baseType="variant">
      <vt:variant>
        <vt:lpstr>Theme</vt:lpstr>
      </vt:variant>
      <vt:variant>
        <vt:i4>2</vt:i4>
      </vt:variant>
      <vt:variant>
        <vt:lpstr>Slide Titles</vt:lpstr>
      </vt:variant>
      <vt:variant>
        <vt:i4>50</vt:i4>
      </vt:variant>
    </vt:vector>
  </HeadingPairs>
  <TitlesOfParts>
    <vt:vector size="52" baseType="lpstr">
      <vt:lpstr>Angles</vt:lpstr>
      <vt:lpstr>MHA</vt:lpstr>
      <vt:lpstr>Prioritizing Primary Prevention - Innovative Financing Mechanisms and Successful Community Partnerships</vt:lpstr>
      <vt:lpstr>Prioritizing Primary Prevention - Innovative Financing Mechanisms and Successful Community Partnerships</vt:lpstr>
      <vt:lpstr>Financing and Implementation of Primary Prevention: An Overview</vt:lpstr>
      <vt:lpstr>Presentation Overview</vt:lpstr>
      <vt:lpstr>Challenges</vt:lpstr>
      <vt:lpstr>Opportunities</vt:lpstr>
      <vt:lpstr>Schematic Representation of Prevention Financing</vt:lpstr>
      <vt:lpstr>Challenge for Stakeholders</vt:lpstr>
      <vt:lpstr>Opportunities</vt:lpstr>
      <vt:lpstr>Opportunities</vt:lpstr>
      <vt:lpstr>Opportunities</vt:lpstr>
      <vt:lpstr>Intervention Costs and Benefits</vt:lpstr>
      <vt:lpstr>Overarching Goals</vt:lpstr>
      <vt:lpstr>Opportunities for Prevention </vt:lpstr>
      <vt:lpstr>Constraints on Prevention Financing and Implementation</vt:lpstr>
      <vt:lpstr>Federal Financing</vt:lpstr>
      <vt:lpstr>Prevention in the ACA</vt:lpstr>
      <vt:lpstr>Medicaid Waivers</vt:lpstr>
      <vt:lpstr>Other Sources</vt:lpstr>
      <vt:lpstr>Pay for Success Financing in Mental Healthcare</vt:lpstr>
      <vt:lpstr>Pay For Success</vt:lpstr>
      <vt:lpstr>Pay For Success: Activity in the US</vt:lpstr>
      <vt:lpstr>Pay for Success: Structure</vt:lpstr>
      <vt:lpstr>Pay for Success: Structure</vt:lpstr>
      <vt:lpstr>Pay for Success: Structure</vt:lpstr>
      <vt:lpstr>Pay for Success: Structure</vt:lpstr>
      <vt:lpstr>Pay for Success: Structure</vt:lpstr>
      <vt:lpstr>Pay for Success: Key Points</vt:lpstr>
      <vt:lpstr>PowerPoint Presentation</vt:lpstr>
      <vt:lpstr>Key Elements of Implementation</vt:lpstr>
      <vt:lpstr>Community Coalitions – Increase Coordination and Strategic Direction</vt:lpstr>
      <vt:lpstr>Community Coalition Strategies</vt:lpstr>
      <vt:lpstr>Gaining Funding and Political Buy-in</vt:lpstr>
      <vt:lpstr>Community Examples</vt:lpstr>
      <vt:lpstr>PowerPoint Presentation</vt:lpstr>
      <vt:lpstr>How Five Town CTC got started:</vt:lpstr>
      <vt:lpstr>Original funding:</vt:lpstr>
      <vt:lpstr>Shift in funding:</vt:lpstr>
      <vt:lpstr>PowerPoint Presentation</vt:lpstr>
      <vt:lpstr>PowerPoint Presentation</vt:lpstr>
      <vt:lpstr>PowerPoint Presentation</vt:lpstr>
      <vt:lpstr>PowerPoint Presentation</vt:lpstr>
      <vt:lpstr>Current funding:</vt:lpstr>
      <vt:lpstr>Points to note:</vt:lpstr>
      <vt:lpstr>PowerPoint Presentation</vt:lpstr>
      <vt:lpstr> MHA Oklahoma - Advocacy and Prevention  </vt:lpstr>
      <vt:lpstr>Schools and Prevention</vt:lpstr>
      <vt:lpstr>Housing Development As Prevention</vt:lpstr>
      <vt:lpstr>Development of Funding Streams</vt:lpstr>
      <vt:lpstr>PowerPoint Presentation</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Prioritizing Primary Prevention - Innovative Financing Mechanisms and Successful Community Partnerships</dc:title>
  <dc:creator>Sarah Steverman</dc:creator>
  <cp:lastModifiedBy>Jessica Kennedy</cp:lastModifiedBy>
  <cp:revision>19</cp:revision>
  <dcterms:created xsi:type="dcterms:W3CDTF">2014-08-28T19:27:56Z</dcterms:created>
  <dcterms:modified xsi:type="dcterms:W3CDTF">2014-09-17T14:28:17Z</dcterms:modified>
</cp:coreProperties>
</file>