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8" r:id="rId3"/>
    <p:sldId id="257" r:id="rId4"/>
    <p:sldId id="260" r:id="rId5"/>
    <p:sldId id="259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-2000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printerSettings" Target="printerSettings/printerSettings1.bin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D795C1-9BDC-1140-8343-15DFC26A4CBA}" type="doc">
      <dgm:prSet loTypeId="urn:microsoft.com/office/officeart/2005/8/layout/chevron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47914B-7EED-0F44-9511-9B0CC822AF1F}">
      <dgm:prSet phldrT="[Text]"/>
      <dgm:spPr/>
      <dgm:t>
        <a:bodyPr/>
        <a:lstStyle/>
        <a:p>
          <a:r>
            <a:rPr lang="en-US" dirty="0" smtClean="0"/>
            <a:t>Help</a:t>
          </a:r>
          <a:endParaRPr lang="en-US" dirty="0"/>
        </a:p>
      </dgm:t>
    </dgm:pt>
    <dgm:pt modelId="{F806E9EA-450A-7F4A-AFB9-650CA9F8AC15}" type="parTrans" cxnId="{FC63B2CD-24AE-294E-B9C8-1CC84AEDBC98}">
      <dgm:prSet/>
      <dgm:spPr/>
      <dgm:t>
        <a:bodyPr/>
        <a:lstStyle/>
        <a:p>
          <a:endParaRPr lang="en-US"/>
        </a:p>
      </dgm:t>
    </dgm:pt>
    <dgm:pt modelId="{AA8B2799-DBEE-0D44-9DF5-DFC2BA7F3848}" type="sibTrans" cxnId="{FC63B2CD-24AE-294E-B9C8-1CC84AEDBC98}">
      <dgm:prSet/>
      <dgm:spPr/>
      <dgm:t>
        <a:bodyPr/>
        <a:lstStyle/>
        <a:p>
          <a:endParaRPr lang="en-US"/>
        </a:p>
      </dgm:t>
    </dgm:pt>
    <dgm:pt modelId="{F09B7C03-2693-4F47-8024-45E5C2DE983B}">
      <dgm:prSet phldrT="[Text]"/>
      <dgm:spPr/>
      <dgm:t>
        <a:bodyPr/>
        <a:lstStyle/>
        <a:p>
          <a:r>
            <a:rPr lang="en-US" dirty="0" smtClean="0"/>
            <a:t>Stabilize</a:t>
          </a:r>
          <a:endParaRPr lang="en-US" dirty="0"/>
        </a:p>
      </dgm:t>
    </dgm:pt>
    <dgm:pt modelId="{C3C94AC1-71EA-5F46-B21C-4D2BC4636636}" type="parTrans" cxnId="{6B715C45-1F48-7946-B281-ED1122B8833A}">
      <dgm:prSet/>
      <dgm:spPr/>
      <dgm:t>
        <a:bodyPr/>
        <a:lstStyle/>
        <a:p>
          <a:endParaRPr lang="en-US"/>
        </a:p>
      </dgm:t>
    </dgm:pt>
    <dgm:pt modelId="{A7186275-FFB7-EC43-BE51-C86C3D02735D}" type="sibTrans" cxnId="{6B715C45-1F48-7946-B281-ED1122B8833A}">
      <dgm:prSet/>
      <dgm:spPr/>
      <dgm:t>
        <a:bodyPr/>
        <a:lstStyle/>
        <a:p>
          <a:endParaRPr lang="en-US"/>
        </a:p>
      </dgm:t>
    </dgm:pt>
    <dgm:pt modelId="{9E54EDF6-E2DA-E248-9BF9-1BC0473AC067}">
      <dgm:prSet phldrT="[Text]"/>
      <dgm:spPr/>
      <dgm:t>
        <a:bodyPr/>
        <a:lstStyle/>
        <a:p>
          <a:r>
            <a:rPr lang="en-US" dirty="0" smtClean="0"/>
            <a:t>Normalize </a:t>
          </a:r>
          <a:endParaRPr lang="en-US" dirty="0"/>
        </a:p>
      </dgm:t>
    </dgm:pt>
    <dgm:pt modelId="{8382D64C-3024-9A4F-ACEC-690A4C9450C3}" type="parTrans" cxnId="{F3D83DE0-32BD-434D-98A4-B28F98E22CFD}">
      <dgm:prSet/>
      <dgm:spPr/>
      <dgm:t>
        <a:bodyPr/>
        <a:lstStyle/>
        <a:p>
          <a:endParaRPr lang="en-US"/>
        </a:p>
      </dgm:t>
    </dgm:pt>
    <dgm:pt modelId="{8345F5F3-1CA6-B24B-A79A-D4999F3BCF8C}" type="sibTrans" cxnId="{F3D83DE0-32BD-434D-98A4-B28F98E22CFD}">
      <dgm:prSet/>
      <dgm:spPr/>
      <dgm:t>
        <a:bodyPr/>
        <a:lstStyle/>
        <a:p>
          <a:endParaRPr lang="en-US"/>
        </a:p>
      </dgm:t>
    </dgm:pt>
    <dgm:pt modelId="{0BEC58D1-3DC8-CA4A-81B7-5AABFAEEE9CD}">
      <dgm:prSet phldrT="[Text]"/>
      <dgm:spPr/>
      <dgm:t>
        <a:bodyPr/>
        <a:lstStyle/>
        <a:p>
          <a:r>
            <a:rPr lang="en-US" dirty="0" smtClean="0"/>
            <a:t>Educate </a:t>
          </a:r>
          <a:endParaRPr lang="en-US" dirty="0"/>
        </a:p>
      </dgm:t>
    </dgm:pt>
    <dgm:pt modelId="{906049AF-1690-CC4C-BAE9-BF2E0325BB8D}" type="parTrans" cxnId="{B7C6B6EC-2A29-5044-998F-C78E66EEB77C}">
      <dgm:prSet/>
      <dgm:spPr/>
      <dgm:t>
        <a:bodyPr/>
        <a:lstStyle/>
        <a:p>
          <a:endParaRPr lang="en-US"/>
        </a:p>
      </dgm:t>
    </dgm:pt>
    <dgm:pt modelId="{7CB5A36D-2DA7-3B4E-89E8-DCCAEADB4FFA}" type="sibTrans" cxnId="{B7C6B6EC-2A29-5044-998F-C78E66EEB77C}">
      <dgm:prSet/>
      <dgm:spPr/>
      <dgm:t>
        <a:bodyPr/>
        <a:lstStyle/>
        <a:p>
          <a:endParaRPr lang="en-US"/>
        </a:p>
      </dgm:t>
    </dgm:pt>
    <dgm:pt modelId="{73D976CE-149A-164D-BBFF-EA8FA8F296FF}">
      <dgm:prSet phldrT="[Text]"/>
      <dgm:spPr/>
      <dgm:t>
        <a:bodyPr/>
        <a:lstStyle/>
        <a:p>
          <a:r>
            <a:rPr lang="en-US" dirty="0" smtClean="0"/>
            <a:t>Trauma and Brain</a:t>
          </a:r>
          <a:endParaRPr lang="en-US" dirty="0"/>
        </a:p>
      </dgm:t>
    </dgm:pt>
    <dgm:pt modelId="{8A9609AE-064A-1540-987A-5D1A09ED1927}" type="parTrans" cxnId="{82DA8F53-D8C4-CA45-9EA3-281D594C6A9D}">
      <dgm:prSet/>
      <dgm:spPr/>
      <dgm:t>
        <a:bodyPr/>
        <a:lstStyle/>
        <a:p>
          <a:endParaRPr lang="en-US"/>
        </a:p>
      </dgm:t>
    </dgm:pt>
    <dgm:pt modelId="{1963905F-BCD3-A84C-B22E-99AB2307CB80}" type="sibTrans" cxnId="{82DA8F53-D8C4-CA45-9EA3-281D594C6A9D}">
      <dgm:prSet/>
      <dgm:spPr/>
      <dgm:t>
        <a:bodyPr/>
        <a:lstStyle/>
        <a:p>
          <a:endParaRPr lang="en-US"/>
        </a:p>
      </dgm:t>
    </dgm:pt>
    <dgm:pt modelId="{C9A25426-DFA0-FC40-9A24-E80C04ABD4C1}">
      <dgm:prSet phldrT="[Text]"/>
      <dgm:spPr/>
      <dgm:t>
        <a:bodyPr/>
        <a:lstStyle/>
        <a:p>
          <a:r>
            <a:rPr lang="en-US" dirty="0" smtClean="0"/>
            <a:t>Storytelling </a:t>
          </a:r>
          <a:endParaRPr lang="en-US" dirty="0"/>
        </a:p>
      </dgm:t>
    </dgm:pt>
    <dgm:pt modelId="{369209DE-E152-754A-B1C3-DED4FD1D6EF9}" type="parTrans" cxnId="{84C52ADC-9507-584F-99DE-42233B8D73C0}">
      <dgm:prSet/>
      <dgm:spPr/>
      <dgm:t>
        <a:bodyPr/>
        <a:lstStyle/>
        <a:p>
          <a:endParaRPr lang="en-US"/>
        </a:p>
      </dgm:t>
    </dgm:pt>
    <dgm:pt modelId="{1771BE44-14A2-884F-85C8-0019F9043949}" type="sibTrans" cxnId="{84C52ADC-9507-584F-99DE-42233B8D73C0}">
      <dgm:prSet/>
      <dgm:spPr/>
      <dgm:t>
        <a:bodyPr/>
        <a:lstStyle/>
        <a:p>
          <a:endParaRPr lang="en-US"/>
        </a:p>
      </dgm:t>
    </dgm:pt>
    <dgm:pt modelId="{1EFBF252-4E15-574D-91D2-F096E00C45D3}">
      <dgm:prSet phldrT="[Text]"/>
      <dgm:spPr/>
      <dgm:t>
        <a:bodyPr/>
        <a:lstStyle/>
        <a:p>
          <a:r>
            <a:rPr lang="en-US" dirty="0" smtClean="0"/>
            <a:t>Affirm</a:t>
          </a:r>
          <a:endParaRPr lang="en-US" dirty="0"/>
        </a:p>
      </dgm:t>
    </dgm:pt>
    <dgm:pt modelId="{20EC74B6-455E-5F44-BDDF-B01371EE0404}" type="parTrans" cxnId="{F82ADD8B-FABF-2145-BF46-CB2A4919A953}">
      <dgm:prSet/>
      <dgm:spPr/>
      <dgm:t>
        <a:bodyPr/>
        <a:lstStyle/>
        <a:p>
          <a:endParaRPr lang="en-US"/>
        </a:p>
      </dgm:t>
    </dgm:pt>
    <dgm:pt modelId="{7B34B9FB-8267-0A44-A362-5B29E67537BC}" type="sibTrans" cxnId="{F82ADD8B-FABF-2145-BF46-CB2A4919A953}">
      <dgm:prSet/>
      <dgm:spPr/>
      <dgm:t>
        <a:bodyPr/>
        <a:lstStyle/>
        <a:p>
          <a:endParaRPr lang="en-US"/>
        </a:p>
      </dgm:t>
    </dgm:pt>
    <dgm:pt modelId="{8052DC39-3029-894B-A199-EB53DABD3CF3}">
      <dgm:prSet phldrT="[Text]"/>
      <dgm:spPr/>
      <dgm:t>
        <a:bodyPr/>
        <a:lstStyle/>
        <a:p>
          <a:r>
            <a:rPr lang="en-US" dirty="0" smtClean="0"/>
            <a:t>Feelings</a:t>
          </a:r>
          <a:endParaRPr lang="en-US" dirty="0"/>
        </a:p>
      </dgm:t>
    </dgm:pt>
    <dgm:pt modelId="{D1F81E6A-E093-EE40-8114-0FA072B36A2B}" type="parTrans" cxnId="{4664F1FA-F55C-D64F-AF5C-68ECE7BC42EC}">
      <dgm:prSet/>
      <dgm:spPr/>
      <dgm:t>
        <a:bodyPr/>
        <a:lstStyle/>
        <a:p>
          <a:endParaRPr lang="en-US"/>
        </a:p>
      </dgm:t>
    </dgm:pt>
    <dgm:pt modelId="{F9475B89-AC04-0440-91BD-CD0FAFE6A88B}" type="sibTrans" cxnId="{4664F1FA-F55C-D64F-AF5C-68ECE7BC42EC}">
      <dgm:prSet/>
      <dgm:spPr/>
      <dgm:t>
        <a:bodyPr/>
        <a:lstStyle/>
        <a:p>
          <a:endParaRPr lang="en-US"/>
        </a:p>
      </dgm:t>
    </dgm:pt>
    <dgm:pt modelId="{25BD5254-30E7-ED48-A445-9B0B310AB5B7}">
      <dgm:prSet phldrT="[Text]"/>
      <dgm:spPr/>
      <dgm:t>
        <a:bodyPr/>
        <a:lstStyle/>
        <a:p>
          <a:r>
            <a:rPr lang="en-US" dirty="0" smtClean="0"/>
            <a:t>Liberate </a:t>
          </a:r>
          <a:endParaRPr lang="en-US" dirty="0"/>
        </a:p>
      </dgm:t>
    </dgm:pt>
    <dgm:pt modelId="{A4B297D4-3A9A-0843-89A0-CFF77C62BEA2}" type="parTrans" cxnId="{6619D397-DD58-1D40-9A39-FFA4A0BACA5D}">
      <dgm:prSet/>
      <dgm:spPr/>
      <dgm:t>
        <a:bodyPr/>
        <a:lstStyle/>
        <a:p>
          <a:endParaRPr lang="en-US"/>
        </a:p>
      </dgm:t>
    </dgm:pt>
    <dgm:pt modelId="{828EFD37-2DB3-4E45-93B1-EAF70E573455}" type="sibTrans" cxnId="{6619D397-DD58-1D40-9A39-FFA4A0BACA5D}">
      <dgm:prSet/>
      <dgm:spPr/>
      <dgm:t>
        <a:bodyPr/>
        <a:lstStyle/>
        <a:p>
          <a:endParaRPr lang="en-US"/>
        </a:p>
      </dgm:t>
    </dgm:pt>
    <dgm:pt modelId="{90B3C7EB-EAD7-5342-8D5F-D72D0F48B4A5}">
      <dgm:prSet phldrT="[Text]"/>
      <dgm:spPr/>
      <dgm:t>
        <a:bodyPr/>
        <a:lstStyle/>
        <a:p>
          <a:r>
            <a:rPr lang="en-US" dirty="0" smtClean="0"/>
            <a:t>Rationalize</a:t>
          </a:r>
          <a:endParaRPr lang="en-US" dirty="0"/>
        </a:p>
      </dgm:t>
    </dgm:pt>
    <dgm:pt modelId="{A71D2E80-5FE2-1F42-A320-64A6397F0F74}" type="parTrans" cxnId="{A3141A04-35A4-6647-9454-A7BC06B61640}">
      <dgm:prSet/>
      <dgm:spPr/>
      <dgm:t>
        <a:bodyPr/>
        <a:lstStyle/>
        <a:p>
          <a:endParaRPr lang="en-US"/>
        </a:p>
      </dgm:t>
    </dgm:pt>
    <dgm:pt modelId="{2CC3A7B2-401A-404E-A59B-83E70BB0FBFF}" type="sibTrans" cxnId="{A3141A04-35A4-6647-9454-A7BC06B61640}">
      <dgm:prSet/>
      <dgm:spPr/>
      <dgm:t>
        <a:bodyPr/>
        <a:lstStyle/>
        <a:p>
          <a:endParaRPr lang="en-US"/>
        </a:p>
      </dgm:t>
    </dgm:pt>
    <dgm:pt modelId="{9F174C8E-2BB1-814E-9D71-90B30DA0A4E5}">
      <dgm:prSet phldrT="[Text]"/>
      <dgm:spPr/>
      <dgm:t>
        <a:bodyPr/>
        <a:lstStyle/>
        <a:p>
          <a:r>
            <a:rPr lang="en-US" dirty="0" smtClean="0"/>
            <a:t>Self-Regulation</a:t>
          </a:r>
          <a:endParaRPr lang="en-US" dirty="0"/>
        </a:p>
      </dgm:t>
    </dgm:pt>
    <dgm:pt modelId="{25AC7420-CBE2-6C40-8667-1AADAC9BA852}" type="parTrans" cxnId="{4A619FBB-B130-CE4C-836C-39089B4839A5}">
      <dgm:prSet/>
      <dgm:spPr/>
      <dgm:t>
        <a:bodyPr/>
        <a:lstStyle/>
        <a:p>
          <a:endParaRPr lang="en-US"/>
        </a:p>
      </dgm:t>
    </dgm:pt>
    <dgm:pt modelId="{1EEFE810-65D6-6940-8E05-A2F870FADBDA}" type="sibTrans" cxnId="{4A619FBB-B130-CE4C-836C-39089B4839A5}">
      <dgm:prSet/>
      <dgm:spPr/>
      <dgm:t>
        <a:bodyPr/>
        <a:lstStyle/>
        <a:p>
          <a:endParaRPr lang="en-US"/>
        </a:p>
      </dgm:t>
    </dgm:pt>
    <dgm:pt modelId="{0D14FB27-CD97-8D45-AB1C-A8CD4AD9D6D8}">
      <dgm:prSet phldrT="[Text]"/>
      <dgm:spPr/>
      <dgm:t>
        <a:bodyPr/>
        <a:lstStyle/>
        <a:p>
          <a:r>
            <a:rPr lang="en-US" dirty="0" smtClean="0"/>
            <a:t>Empowerment</a:t>
          </a:r>
          <a:endParaRPr lang="en-US" dirty="0"/>
        </a:p>
      </dgm:t>
    </dgm:pt>
    <dgm:pt modelId="{76B3A082-6CA2-8749-8ED8-9E6983D3171E}" type="parTrans" cxnId="{1BAD58D1-F342-D74E-B9A9-53BEDDFF3D5B}">
      <dgm:prSet/>
      <dgm:spPr/>
      <dgm:t>
        <a:bodyPr/>
        <a:lstStyle/>
        <a:p>
          <a:endParaRPr lang="en-US"/>
        </a:p>
      </dgm:t>
    </dgm:pt>
    <dgm:pt modelId="{4D2F11A7-4391-3146-BE86-70C8A59354AD}" type="sibTrans" cxnId="{1BAD58D1-F342-D74E-B9A9-53BEDDFF3D5B}">
      <dgm:prSet/>
      <dgm:spPr/>
      <dgm:t>
        <a:bodyPr/>
        <a:lstStyle/>
        <a:p>
          <a:endParaRPr lang="en-US"/>
        </a:p>
      </dgm:t>
    </dgm:pt>
    <dgm:pt modelId="{A25FAEBF-26BE-3D4D-BC22-AAD3D8F00F9D}">
      <dgm:prSet phldrT="[Text]"/>
      <dgm:spPr/>
      <dgm:t>
        <a:bodyPr/>
        <a:lstStyle/>
        <a:p>
          <a:r>
            <a:rPr lang="en-US" dirty="0" smtClean="0"/>
            <a:t>Resiliency </a:t>
          </a:r>
          <a:endParaRPr lang="en-US" dirty="0"/>
        </a:p>
      </dgm:t>
    </dgm:pt>
    <dgm:pt modelId="{72691440-B338-4842-9128-A63EAADA71DE}" type="parTrans" cxnId="{FB356D33-B773-264A-83B2-7A72A321027C}">
      <dgm:prSet/>
      <dgm:spPr/>
      <dgm:t>
        <a:bodyPr/>
        <a:lstStyle/>
        <a:p>
          <a:endParaRPr lang="en-US"/>
        </a:p>
      </dgm:t>
    </dgm:pt>
    <dgm:pt modelId="{742C7166-C3C3-174E-83A5-253F0C2C3105}" type="sibTrans" cxnId="{FB356D33-B773-264A-83B2-7A72A321027C}">
      <dgm:prSet/>
      <dgm:spPr/>
      <dgm:t>
        <a:bodyPr/>
        <a:lstStyle/>
        <a:p>
          <a:endParaRPr lang="en-US"/>
        </a:p>
      </dgm:t>
    </dgm:pt>
    <dgm:pt modelId="{1A3C2382-4FB4-8D4C-9B10-32C93711ECBF}">
      <dgm:prSet phldrT="[Text]"/>
      <dgm:spPr/>
      <dgm:t>
        <a:bodyPr/>
        <a:lstStyle/>
        <a:p>
          <a:r>
            <a:rPr lang="en-US" dirty="0" smtClean="0"/>
            <a:t>Celebrate </a:t>
          </a:r>
          <a:endParaRPr lang="en-US" dirty="0"/>
        </a:p>
      </dgm:t>
    </dgm:pt>
    <dgm:pt modelId="{611247B9-6A14-4742-A550-ED7542428238}" type="parTrans" cxnId="{2CB6A5FD-D67C-1642-85F4-E1FB373A45D3}">
      <dgm:prSet/>
      <dgm:spPr/>
      <dgm:t>
        <a:bodyPr/>
        <a:lstStyle/>
        <a:p>
          <a:endParaRPr lang="en-US"/>
        </a:p>
      </dgm:t>
    </dgm:pt>
    <dgm:pt modelId="{A85C5BEC-41BB-0647-A8F6-935418EB4281}" type="sibTrans" cxnId="{2CB6A5FD-D67C-1642-85F4-E1FB373A45D3}">
      <dgm:prSet/>
      <dgm:spPr/>
      <dgm:t>
        <a:bodyPr/>
        <a:lstStyle/>
        <a:p>
          <a:endParaRPr lang="en-US"/>
        </a:p>
      </dgm:t>
    </dgm:pt>
    <dgm:pt modelId="{BF9E5BDE-3C3D-2C4E-BC35-F7B3E909CA75}" type="pres">
      <dgm:prSet presAssocID="{D8D795C1-9BDC-1140-8343-15DFC26A4CBA}" presName="linearFlow" presStyleCnt="0">
        <dgm:presLayoutVars>
          <dgm:dir/>
          <dgm:animLvl val="lvl"/>
          <dgm:resizeHandles val="exact"/>
        </dgm:presLayoutVars>
      </dgm:prSet>
      <dgm:spPr/>
    </dgm:pt>
    <dgm:pt modelId="{7F8354D2-7D4F-8940-B007-87F8CA66E373}" type="pres">
      <dgm:prSet presAssocID="{DF47914B-7EED-0F44-9511-9B0CC822AF1F}" presName="composite" presStyleCnt="0"/>
      <dgm:spPr/>
    </dgm:pt>
    <dgm:pt modelId="{0461295F-D5F1-9B4D-83E0-6604E223BC7F}" type="pres">
      <dgm:prSet presAssocID="{DF47914B-7EED-0F44-9511-9B0CC822AF1F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BC71515B-7597-3445-AF82-A0E96B148E51}" type="pres">
      <dgm:prSet presAssocID="{DF47914B-7EED-0F44-9511-9B0CC822AF1F}" presName="descendantText" presStyleLbl="align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4BF21B-9AC3-524B-B431-67E476C7652A}" type="pres">
      <dgm:prSet presAssocID="{AA8B2799-DBEE-0D44-9DF5-DFC2BA7F3848}" presName="sp" presStyleCnt="0"/>
      <dgm:spPr/>
    </dgm:pt>
    <dgm:pt modelId="{24889327-05E4-1B48-A09E-95BC89FD0D8F}" type="pres">
      <dgm:prSet presAssocID="{0BEC58D1-3DC8-CA4A-81B7-5AABFAEEE9CD}" presName="composite" presStyleCnt="0"/>
      <dgm:spPr/>
    </dgm:pt>
    <dgm:pt modelId="{F7BE4508-E0D6-814C-8066-98E21CAE7454}" type="pres">
      <dgm:prSet presAssocID="{0BEC58D1-3DC8-CA4A-81B7-5AABFAEEE9CD}" presName="parentText" presStyleLbl="align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D188D7-9075-144C-8C7B-788A846D32FB}" type="pres">
      <dgm:prSet presAssocID="{0BEC58D1-3DC8-CA4A-81B7-5AABFAEEE9CD}" presName="descendantText" presStyleLbl="align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AA0EA90-957C-C743-B6B3-A20A1CFE27C8}" type="pres">
      <dgm:prSet presAssocID="{7CB5A36D-2DA7-3B4E-89E8-DCCAEADB4FFA}" presName="sp" presStyleCnt="0"/>
      <dgm:spPr/>
    </dgm:pt>
    <dgm:pt modelId="{3162A2CC-B6FE-234A-A1A9-C3EB0004A111}" type="pres">
      <dgm:prSet presAssocID="{1EFBF252-4E15-574D-91D2-F096E00C45D3}" presName="composite" presStyleCnt="0"/>
      <dgm:spPr/>
    </dgm:pt>
    <dgm:pt modelId="{0B61EBD8-AA39-FB43-8AC8-4F520AF24840}" type="pres">
      <dgm:prSet presAssocID="{1EFBF252-4E15-574D-91D2-F096E00C45D3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22751091-C803-F34D-B20B-44EDDEDAA3D9}" type="pres">
      <dgm:prSet presAssocID="{1EFBF252-4E15-574D-91D2-F096E00C45D3}" presName="descendantText" presStyleLbl="align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9E6CB5-B32A-B147-8CC2-53B54A746EF0}" type="pres">
      <dgm:prSet presAssocID="{7B34B9FB-8267-0A44-A362-5B29E67537BC}" presName="sp" presStyleCnt="0"/>
      <dgm:spPr/>
    </dgm:pt>
    <dgm:pt modelId="{EE5D8C16-E857-DC45-AF40-5FBE3C7DE1EA}" type="pres">
      <dgm:prSet presAssocID="{25BD5254-30E7-ED48-A445-9B0B310AB5B7}" presName="composite" presStyleCnt="0"/>
      <dgm:spPr/>
    </dgm:pt>
    <dgm:pt modelId="{6FC215FE-7837-A540-8F72-140588BF8B45}" type="pres">
      <dgm:prSet presAssocID="{25BD5254-30E7-ED48-A445-9B0B310AB5B7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9735AE85-2080-AC4E-B08D-50D973C3DDAE}" type="pres">
      <dgm:prSet presAssocID="{25BD5254-30E7-ED48-A445-9B0B310AB5B7}" presName="descendantText" presStyleLbl="align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0608A7A-C5BE-214E-8D0E-CFB9CEF4A79B}" type="presOf" srcId="{73D976CE-149A-164D-BBFF-EA8FA8F296FF}" destId="{04D188D7-9075-144C-8C7B-788A846D32FB}" srcOrd="0" destOrd="0" presId="urn:microsoft.com/office/officeart/2005/8/layout/chevron2"/>
    <dgm:cxn modelId="{B7C6B6EC-2A29-5044-998F-C78E66EEB77C}" srcId="{D8D795C1-9BDC-1140-8343-15DFC26A4CBA}" destId="{0BEC58D1-3DC8-CA4A-81B7-5AABFAEEE9CD}" srcOrd="1" destOrd="0" parTransId="{906049AF-1690-CC4C-BAE9-BF2E0325BB8D}" sibTransId="{7CB5A36D-2DA7-3B4E-89E8-DCCAEADB4FFA}"/>
    <dgm:cxn modelId="{FC63B2CD-24AE-294E-B9C8-1CC84AEDBC98}" srcId="{D8D795C1-9BDC-1140-8343-15DFC26A4CBA}" destId="{DF47914B-7EED-0F44-9511-9B0CC822AF1F}" srcOrd="0" destOrd="0" parTransId="{F806E9EA-450A-7F4A-AFB9-650CA9F8AC15}" sibTransId="{AA8B2799-DBEE-0D44-9DF5-DFC2BA7F3848}"/>
    <dgm:cxn modelId="{F8729340-2188-AA4A-A7A9-C4DE2C49D48A}" type="presOf" srcId="{F09B7C03-2693-4F47-8024-45E5C2DE983B}" destId="{BC71515B-7597-3445-AF82-A0E96B148E51}" srcOrd="0" destOrd="0" presId="urn:microsoft.com/office/officeart/2005/8/layout/chevron2"/>
    <dgm:cxn modelId="{EB0A3F4D-BDCD-744F-8C7E-C5FC1E221832}" type="presOf" srcId="{90B3C7EB-EAD7-5342-8D5F-D72D0F48B4A5}" destId="{BC71515B-7597-3445-AF82-A0E96B148E51}" srcOrd="0" destOrd="2" presId="urn:microsoft.com/office/officeart/2005/8/layout/chevron2"/>
    <dgm:cxn modelId="{94388FF9-19CF-864E-BDFF-F7F9DFD0B4E4}" type="presOf" srcId="{1EFBF252-4E15-574D-91D2-F096E00C45D3}" destId="{0B61EBD8-AA39-FB43-8AC8-4F520AF24840}" srcOrd="0" destOrd="0" presId="urn:microsoft.com/office/officeart/2005/8/layout/chevron2"/>
    <dgm:cxn modelId="{5F8E8B3B-C4B5-044C-98C5-8C684A4883A5}" type="presOf" srcId="{DF47914B-7EED-0F44-9511-9B0CC822AF1F}" destId="{0461295F-D5F1-9B4D-83E0-6604E223BC7F}" srcOrd="0" destOrd="0" presId="urn:microsoft.com/office/officeart/2005/8/layout/chevron2"/>
    <dgm:cxn modelId="{7E76CADC-BE73-D84D-92B3-5236260184D3}" type="presOf" srcId="{C9A25426-DFA0-FC40-9A24-E80C04ABD4C1}" destId="{04D188D7-9075-144C-8C7B-788A846D32FB}" srcOrd="0" destOrd="2" presId="urn:microsoft.com/office/officeart/2005/8/layout/chevron2"/>
    <dgm:cxn modelId="{0E43B381-9C8A-5840-B60C-198D2CD5F088}" type="presOf" srcId="{9F174C8E-2BB1-814E-9D71-90B30DA0A4E5}" destId="{04D188D7-9075-144C-8C7B-788A846D32FB}" srcOrd="0" destOrd="1" presId="urn:microsoft.com/office/officeart/2005/8/layout/chevron2"/>
    <dgm:cxn modelId="{6B715C45-1F48-7946-B281-ED1122B8833A}" srcId="{DF47914B-7EED-0F44-9511-9B0CC822AF1F}" destId="{F09B7C03-2693-4F47-8024-45E5C2DE983B}" srcOrd="0" destOrd="0" parTransId="{C3C94AC1-71EA-5F46-B21C-4D2BC4636636}" sibTransId="{A7186275-FFB7-EC43-BE51-C86C3D02735D}"/>
    <dgm:cxn modelId="{8F5475DE-2158-8642-B79F-C5CF067D7693}" type="presOf" srcId="{9E54EDF6-E2DA-E248-9BF9-1BC0473AC067}" destId="{BC71515B-7597-3445-AF82-A0E96B148E51}" srcOrd="0" destOrd="1" presId="urn:microsoft.com/office/officeart/2005/8/layout/chevron2"/>
    <dgm:cxn modelId="{F3D83DE0-32BD-434D-98A4-B28F98E22CFD}" srcId="{DF47914B-7EED-0F44-9511-9B0CC822AF1F}" destId="{9E54EDF6-E2DA-E248-9BF9-1BC0473AC067}" srcOrd="1" destOrd="0" parTransId="{8382D64C-3024-9A4F-ACEC-690A4C9450C3}" sibTransId="{8345F5F3-1CA6-B24B-A79A-D4999F3BCF8C}"/>
    <dgm:cxn modelId="{8ADE90E2-0310-6F45-A573-83ACFBDC0430}" type="presOf" srcId="{25BD5254-30E7-ED48-A445-9B0B310AB5B7}" destId="{6FC215FE-7837-A540-8F72-140588BF8B45}" srcOrd="0" destOrd="0" presId="urn:microsoft.com/office/officeart/2005/8/layout/chevron2"/>
    <dgm:cxn modelId="{1BAD58D1-F342-D74E-B9A9-53BEDDFF3D5B}" srcId="{25BD5254-30E7-ED48-A445-9B0B310AB5B7}" destId="{0D14FB27-CD97-8D45-AB1C-A8CD4AD9D6D8}" srcOrd="0" destOrd="0" parTransId="{76B3A082-6CA2-8749-8ED8-9E6983D3171E}" sibTransId="{4D2F11A7-4391-3146-BE86-70C8A59354AD}"/>
    <dgm:cxn modelId="{FB356D33-B773-264A-83B2-7A72A321027C}" srcId="{25BD5254-30E7-ED48-A445-9B0B310AB5B7}" destId="{A25FAEBF-26BE-3D4D-BC22-AAD3D8F00F9D}" srcOrd="1" destOrd="0" parTransId="{72691440-B338-4842-9128-A63EAADA71DE}" sibTransId="{742C7166-C3C3-174E-83A5-253F0C2C3105}"/>
    <dgm:cxn modelId="{82DA8F53-D8C4-CA45-9EA3-281D594C6A9D}" srcId="{0BEC58D1-3DC8-CA4A-81B7-5AABFAEEE9CD}" destId="{73D976CE-149A-164D-BBFF-EA8FA8F296FF}" srcOrd="0" destOrd="0" parTransId="{8A9609AE-064A-1540-987A-5D1A09ED1927}" sibTransId="{1963905F-BCD3-A84C-B22E-99AB2307CB80}"/>
    <dgm:cxn modelId="{3EA541EC-DC8E-E448-85DA-9E93039767CB}" type="presOf" srcId="{0D14FB27-CD97-8D45-AB1C-A8CD4AD9D6D8}" destId="{9735AE85-2080-AC4E-B08D-50D973C3DDAE}" srcOrd="0" destOrd="0" presId="urn:microsoft.com/office/officeart/2005/8/layout/chevron2"/>
    <dgm:cxn modelId="{CA3C750C-1FB6-2D4B-B64C-929BB8C7CD5D}" type="presOf" srcId="{8052DC39-3029-894B-A199-EB53DABD3CF3}" destId="{22751091-C803-F34D-B20B-44EDDEDAA3D9}" srcOrd="0" destOrd="0" presId="urn:microsoft.com/office/officeart/2005/8/layout/chevron2"/>
    <dgm:cxn modelId="{4664F1FA-F55C-D64F-AF5C-68ECE7BC42EC}" srcId="{1EFBF252-4E15-574D-91D2-F096E00C45D3}" destId="{8052DC39-3029-894B-A199-EB53DABD3CF3}" srcOrd="0" destOrd="0" parTransId="{D1F81E6A-E093-EE40-8114-0FA072B36A2B}" sibTransId="{F9475B89-AC04-0440-91BD-CD0FAFE6A88B}"/>
    <dgm:cxn modelId="{84C52ADC-9507-584F-99DE-42233B8D73C0}" srcId="{0BEC58D1-3DC8-CA4A-81B7-5AABFAEEE9CD}" destId="{C9A25426-DFA0-FC40-9A24-E80C04ABD4C1}" srcOrd="2" destOrd="0" parTransId="{369209DE-E152-754A-B1C3-DED4FD1D6EF9}" sibTransId="{1771BE44-14A2-884F-85C8-0019F9043949}"/>
    <dgm:cxn modelId="{4A619FBB-B130-CE4C-836C-39089B4839A5}" srcId="{0BEC58D1-3DC8-CA4A-81B7-5AABFAEEE9CD}" destId="{9F174C8E-2BB1-814E-9D71-90B30DA0A4E5}" srcOrd="1" destOrd="0" parTransId="{25AC7420-CBE2-6C40-8667-1AADAC9BA852}" sibTransId="{1EEFE810-65D6-6940-8E05-A2F870FADBDA}"/>
    <dgm:cxn modelId="{2CB6A5FD-D67C-1642-85F4-E1FB373A45D3}" srcId="{25BD5254-30E7-ED48-A445-9B0B310AB5B7}" destId="{1A3C2382-4FB4-8D4C-9B10-32C93711ECBF}" srcOrd="2" destOrd="0" parTransId="{611247B9-6A14-4742-A550-ED7542428238}" sibTransId="{A85C5BEC-41BB-0647-A8F6-935418EB4281}"/>
    <dgm:cxn modelId="{A3141A04-35A4-6647-9454-A7BC06B61640}" srcId="{DF47914B-7EED-0F44-9511-9B0CC822AF1F}" destId="{90B3C7EB-EAD7-5342-8D5F-D72D0F48B4A5}" srcOrd="2" destOrd="0" parTransId="{A71D2E80-5FE2-1F42-A320-64A6397F0F74}" sibTransId="{2CC3A7B2-401A-404E-A59B-83E70BB0FBFF}"/>
    <dgm:cxn modelId="{6619D397-DD58-1D40-9A39-FFA4A0BACA5D}" srcId="{D8D795C1-9BDC-1140-8343-15DFC26A4CBA}" destId="{25BD5254-30E7-ED48-A445-9B0B310AB5B7}" srcOrd="3" destOrd="0" parTransId="{A4B297D4-3A9A-0843-89A0-CFF77C62BEA2}" sibTransId="{828EFD37-2DB3-4E45-93B1-EAF70E573455}"/>
    <dgm:cxn modelId="{F9C3B608-C457-194D-9575-D23294AAA72D}" type="presOf" srcId="{1A3C2382-4FB4-8D4C-9B10-32C93711ECBF}" destId="{9735AE85-2080-AC4E-B08D-50D973C3DDAE}" srcOrd="0" destOrd="2" presId="urn:microsoft.com/office/officeart/2005/8/layout/chevron2"/>
    <dgm:cxn modelId="{53DE08AA-6C56-4C44-80F6-16869280B5ED}" type="presOf" srcId="{0BEC58D1-3DC8-CA4A-81B7-5AABFAEEE9CD}" destId="{F7BE4508-E0D6-814C-8066-98E21CAE7454}" srcOrd="0" destOrd="0" presId="urn:microsoft.com/office/officeart/2005/8/layout/chevron2"/>
    <dgm:cxn modelId="{F82ADD8B-FABF-2145-BF46-CB2A4919A953}" srcId="{D8D795C1-9BDC-1140-8343-15DFC26A4CBA}" destId="{1EFBF252-4E15-574D-91D2-F096E00C45D3}" srcOrd="2" destOrd="0" parTransId="{20EC74B6-455E-5F44-BDDF-B01371EE0404}" sibTransId="{7B34B9FB-8267-0A44-A362-5B29E67537BC}"/>
    <dgm:cxn modelId="{837C5A43-48A8-7340-8937-6395542337A3}" type="presOf" srcId="{A25FAEBF-26BE-3D4D-BC22-AAD3D8F00F9D}" destId="{9735AE85-2080-AC4E-B08D-50D973C3DDAE}" srcOrd="0" destOrd="1" presId="urn:microsoft.com/office/officeart/2005/8/layout/chevron2"/>
    <dgm:cxn modelId="{87342B95-815E-D14C-A992-49150FC15CB3}" type="presOf" srcId="{D8D795C1-9BDC-1140-8343-15DFC26A4CBA}" destId="{BF9E5BDE-3C3D-2C4E-BC35-F7B3E909CA75}" srcOrd="0" destOrd="0" presId="urn:microsoft.com/office/officeart/2005/8/layout/chevron2"/>
    <dgm:cxn modelId="{FFD0E045-7236-DB49-91FB-92FA61EB5278}" type="presParOf" srcId="{BF9E5BDE-3C3D-2C4E-BC35-F7B3E909CA75}" destId="{7F8354D2-7D4F-8940-B007-87F8CA66E373}" srcOrd="0" destOrd="0" presId="urn:microsoft.com/office/officeart/2005/8/layout/chevron2"/>
    <dgm:cxn modelId="{D80BB2E2-D5F6-5E47-AFA5-9B9BA2D10EE7}" type="presParOf" srcId="{7F8354D2-7D4F-8940-B007-87F8CA66E373}" destId="{0461295F-D5F1-9B4D-83E0-6604E223BC7F}" srcOrd="0" destOrd="0" presId="urn:microsoft.com/office/officeart/2005/8/layout/chevron2"/>
    <dgm:cxn modelId="{538AB5C8-429F-6D46-884A-8EC7626EE28D}" type="presParOf" srcId="{7F8354D2-7D4F-8940-B007-87F8CA66E373}" destId="{BC71515B-7597-3445-AF82-A0E96B148E51}" srcOrd="1" destOrd="0" presId="urn:microsoft.com/office/officeart/2005/8/layout/chevron2"/>
    <dgm:cxn modelId="{FDEE5E0A-D424-A84F-950C-957B3A1DC2A7}" type="presParOf" srcId="{BF9E5BDE-3C3D-2C4E-BC35-F7B3E909CA75}" destId="{684BF21B-9AC3-524B-B431-67E476C7652A}" srcOrd="1" destOrd="0" presId="urn:microsoft.com/office/officeart/2005/8/layout/chevron2"/>
    <dgm:cxn modelId="{B1B8C0B9-7CC8-144F-84CB-F40C7C0BFBDB}" type="presParOf" srcId="{BF9E5BDE-3C3D-2C4E-BC35-F7B3E909CA75}" destId="{24889327-05E4-1B48-A09E-95BC89FD0D8F}" srcOrd="2" destOrd="0" presId="urn:microsoft.com/office/officeart/2005/8/layout/chevron2"/>
    <dgm:cxn modelId="{ECE3FC20-EA6F-2E4E-AEBC-02AA24A0E3B5}" type="presParOf" srcId="{24889327-05E4-1B48-A09E-95BC89FD0D8F}" destId="{F7BE4508-E0D6-814C-8066-98E21CAE7454}" srcOrd="0" destOrd="0" presId="urn:microsoft.com/office/officeart/2005/8/layout/chevron2"/>
    <dgm:cxn modelId="{9D79D42B-BB2D-A847-BC72-A85087519FA5}" type="presParOf" srcId="{24889327-05E4-1B48-A09E-95BC89FD0D8F}" destId="{04D188D7-9075-144C-8C7B-788A846D32FB}" srcOrd="1" destOrd="0" presId="urn:microsoft.com/office/officeart/2005/8/layout/chevron2"/>
    <dgm:cxn modelId="{EAAD9139-DE17-504C-901A-9BCBBB251D6C}" type="presParOf" srcId="{BF9E5BDE-3C3D-2C4E-BC35-F7B3E909CA75}" destId="{3AA0EA90-957C-C743-B6B3-A20A1CFE27C8}" srcOrd="3" destOrd="0" presId="urn:microsoft.com/office/officeart/2005/8/layout/chevron2"/>
    <dgm:cxn modelId="{070F511D-CACA-8840-A461-D0B3DDBAE297}" type="presParOf" srcId="{BF9E5BDE-3C3D-2C4E-BC35-F7B3E909CA75}" destId="{3162A2CC-B6FE-234A-A1A9-C3EB0004A111}" srcOrd="4" destOrd="0" presId="urn:microsoft.com/office/officeart/2005/8/layout/chevron2"/>
    <dgm:cxn modelId="{A157D344-F44D-3D48-A870-F63545A95A84}" type="presParOf" srcId="{3162A2CC-B6FE-234A-A1A9-C3EB0004A111}" destId="{0B61EBD8-AA39-FB43-8AC8-4F520AF24840}" srcOrd="0" destOrd="0" presId="urn:microsoft.com/office/officeart/2005/8/layout/chevron2"/>
    <dgm:cxn modelId="{8409767B-E2DF-6244-8586-2C2471D62A3A}" type="presParOf" srcId="{3162A2CC-B6FE-234A-A1A9-C3EB0004A111}" destId="{22751091-C803-F34D-B20B-44EDDEDAA3D9}" srcOrd="1" destOrd="0" presId="urn:microsoft.com/office/officeart/2005/8/layout/chevron2"/>
    <dgm:cxn modelId="{092D5B88-B0F5-5147-A23E-F05DAF2983D1}" type="presParOf" srcId="{BF9E5BDE-3C3D-2C4E-BC35-F7B3E909CA75}" destId="{8C9E6CB5-B32A-B147-8CC2-53B54A746EF0}" srcOrd="5" destOrd="0" presId="urn:microsoft.com/office/officeart/2005/8/layout/chevron2"/>
    <dgm:cxn modelId="{11B265BC-AFA2-AA49-A757-FDBB365D3FF3}" type="presParOf" srcId="{BF9E5BDE-3C3D-2C4E-BC35-F7B3E909CA75}" destId="{EE5D8C16-E857-DC45-AF40-5FBE3C7DE1EA}" srcOrd="6" destOrd="0" presId="urn:microsoft.com/office/officeart/2005/8/layout/chevron2"/>
    <dgm:cxn modelId="{773F1CD8-F66E-A54B-84CE-7EA8E043911B}" type="presParOf" srcId="{EE5D8C16-E857-DC45-AF40-5FBE3C7DE1EA}" destId="{6FC215FE-7837-A540-8F72-140588BF8B45}" srcOrd="0" destOrd="0" presId="urn:microsoft.com/office/officeart/2005/8/layout/chevron2"/>
    <dgm:cxn modelId="{AFB69770-9D37-A743-86A0-DD2C0C98AF9C}" type="presParOf" srcId="{EE5D8C16-E857-DC45-AF40-5FBE3C7DE1EA}" destId="{9735AE85-2080-AC4E-B08D-50D973C3DDA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61295F-D5F1-9B4D-83E0-6604E223BC7F}">
      <dsp:nvSpPr>
        <dsp:cNvPr id="0" name=""/>
        <dsp:cNvSpPr/>
      </dsp:nvSpPr>
      <dsp:spPr>
        <a:xfrm rot="5400000">
          <a:off x="-168939" y="169710"/>
          <a:ext cx="1126264" cy="788385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Help</a:t>
          </a:r>
          <a:endParaRPr lang="en-US" sz="1400" kern="1200" dirty="0"/>
        </a:p>
      </dsp:txBody>
      <dsp:txXfrm rot="-5400000">
        <a:off x="1" y="394964"/>
        <a:ext cx="788385" cy="337879"/>
      </dsp:txXfrm>
    </dsp:sp>
    <dsp:sp modelId="{BC71515B-7597-3445-AF82-A0E96B148E51}">
      <dsp:nvSpPr>
        <dsp:cNvPr id="0" name=""/>
        <dsp:cNvSpPr/>
      </dsp:nvSpPr>
      <dsp:spPr>
        <a:xfrm rot="5400000">
          <a:off x="3664807" y="-2875651"/>
          <a:ext cx="732071" cy="648491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Stabilize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Normalize 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Rationalize</a:t>
          </a:r>
          <a:endParaRPr lang="en-US" sz="1300" kern="1200" dirty="0"/>
        </a:p>
      </dsp:txBody>
      <dsp:txXfrm rot="-5400000">
        <a:off x="788385" y="36508"/>
        <a:ext cx="6449179" cy="660597"/>
      </dsp:txXfrm>
    </dsp:sp>
    <dsp:sp modelId="{F7BE4508-E0D6-814C-8066-98E21CAE7454}">
      <dsp:nvSpPr>
        <dsp:cNvPr id="0" name=""/>
        <dsp:cNvSpPr/>
      </dsp:nvSpPr>
      <dsp:spPr>
        <a:xfrm rot="5400000">
          <a:off x="-168939" y="1147407"/>
          <a:ext cx="1126264" cy="788385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Educate </a:t>
          </a:r>
          <a:endParaRPr lang="en-US" sz="1400" kern="1200" dirty="0"/>
        </a:p>
      </dsp:txBody>
      <dsp:txXfrm rot="-5400000">
        <a:off x="1" y="1372661"/>
        <a:ext cx="788385" cy="337879"/>
      </dsp:txXfrm>
    </dsp:sp>
    <dsp:sp modelId="{04D188D7-9075-144C-8C7B-788A846D32FB}">
      <dsp:nvSpPr>
        <dsp:cNvPr id="0" name=""/>
        <dsp:cNvSpPr/>
      </dsp:nvSpPr>
      <dsp:spPr>
        <a:xfrm rot="5400000">
          <a:off x="3664807" y="-1897954"/>
          <a:ext cx="732071" cy="648491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Trauma and Brain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Self-Regulation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Storytelling </a:t>
          </a:r>
          <a:endParaRPr lang="en-US" sz="1300" kern="1200" dirty="0"/>
        </a:p>
      </dsp:txBody>
      <dsp:txXfrm rot="-5400000">
        <a:off x="788385" y="1014205"/>
        <a:ext cx="6449179" cy="660597"/>
      </dsp:txXfrm>
    </dsp:sp>
    <dsp:sp modelId="{0B61EBD8-AA39-FB43-8AC8-4F520AF24840}">
      <dsp:nvSpPr>
        <dsp:cNvPr id="0" name=""/>
        <dsp:cNvSpPr/>
      </dsp:nvSpPr>
      <dsp:spPr>
        <a:xfrm rot="5400000">
          <a:off x="-168939" y="2125104"/>
          <a:ext cx="1126264" cy="788385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Affirm</a:t>
          </a:r>
          <a:endParaRPr lang="en-US" sz="1400" kern="1200" dirty="0"/>
        </a:p>
      </dsp:txBody>
      <dsp:txXfrm rot="-5400000">
        <a:off x="1" y="2350358"/>
        <a:ext cx="788385" cy="337879"/>
      </dsp:txXfrm>
    </dsp:sp>
    <dsp:sp modelId="{22751091-C803-F34D-B20B-44EDDEDAA3D9}">
      <dsp:nvSpPr>
        <dsp:cNvPr id="0" name=""/>
        <dsp:cNvSpPr/>
      </dsp:nvSpPr>
      <dsp:spPr>
        <a:xfrm rot="5400000">
          <a:off x="3664807" y="-920257"/>
          <a:ext cx="732071" cy="648491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Feelings</a:t>
          </a:r>
          <a:endParaRPr lang="en-US" sz="1300" kern="1200" dirty="0"/>
        </a:p>
      </dsp:txBody>
      <dsp:txXfrm rot="-5400000">
        <a:off x="788385" y="1991902"/>
        <a:ext cx="6449179" cy="660597"/>
      </dsp:txXfrm>
    </dsp:sp>
    <dsp:sp modelId="{6FC215FE-7837-A540-8F72-140588BF8B45}">
      <dsp:nvSpPr>
        <dsp:cNvPr id="0" name=""/>
        <dsp:cNvSpPr/>
      </dsp:nvSpPr>
      <dsp:spPr>
        <a:xfrm rot="5400000">
          <a:off x="-168939" y="3102801"/>
          <a:ext cx="1126264" cy="788385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5000"/>
                <a:satMod val="120000"/>
                <a:lumMod val="90000"/>
              </a:schemeClr>
            </a:gs>
          </a:gsLst>
          <a:lin ang="54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400" dir="5400000" rotWithShape="0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threePt" dir="tl">
            <a:rot lat="0" lon="0" rev="20400000"/>
          </a:lightRig>
        </a:scene3d>
        <a:sp3d>
          <a:bevelT w="50800" h="12700" prst="softRound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Liberate </a:t>
          </a:r>
          <a:endParaRPr lang="en-US" sz="1400" kern="1200" dirty="0"/>
        </a:p>
      </dsp:txBody>
      <dsp:txXfrm rot="-5400000">
        <a:off x="1" y="3328055"/>
        <a:ext cx="788385" cy="337879"/>
      </dsp:txXfrm>
    </dsp:sp>
    <dsp:sp modelId="{9735AE85-2080-AC4E-B08D-50D973C3DDAE}">
      <dsp:nvSpPr>
        <dsp:cNvPr id="0" name=""/>
        <dsp:cNvSpPr/>
      </dsp:nvSpPr>
      <dsp:spPr>
        <a:xfrm rot="5400000">
          <a:off x="3664807" y="57439"/>
          <a:ext cx="732071" cy="648491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Empowerment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Resiliency </a:t>
          </a:r>
          <a:endParaRPr lang="en-US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Celebrate </a:t>
          </a:r>
          <a:endParaRPr lang="en-US" sz="1300" kern="1200" dirty="0"/>
        </a:p>
      </dsp:txBody>
      <dsp:txXfrm rot="-5400000">
        <a:off x="788385" y="2969599"/>
        <a:ext cx="6449179" cy="6605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6B25B6-B9E8-034B-BE6F-2F4C74FF0E1B}" type="datetimeFigureOut">
              <a:rPr lang="en-US" smtClean="0"/>
              <a:t>6/7/17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E3266-F0F4-2744-AF29-1116027571F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5421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954C68-8A0B-1649-9C0E-AFDDDBFC6913}" type="datetimeFigureOut">
              <a:rPr lang="en-US" smtClean="0"/>
              <a:t>6/7/17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88C8E-D4D7-D34F-AE97-8DAD97341D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716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FF5E79AA-9579-8F4E-B6C8-3C73E6E462C1}" type="datetime1">
              <a:rPr lang="en-US" smtClean="0"/>
              <a:t>6/7/17</a:t>
            </a:fld>
            <a:endParaRPr lang="en-US" dirty="0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3526AED-2A75-A443-A7F2-D559A4FF913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5127D-6F5A-C147-B0BC-278B4C4AFF94}" type="datetime1">
              <a:rPr lang="en-US" smtClean="0"/>
              <a:t>6/7/17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26AED-2A75-A443-A7F2-D559A4FF913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A87BC-7584-2E45-9DEE-3482A154716C}" type="datetime1">
              <a:rPr lang="en-US" smtClean="0"/>
              <a:t>6/7/17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26AED-2A75-A443-A7F2-D559A4FF913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CEBF8-F988-BF4F-B062-625BC7C3D591}" type="datetime1">
              <a:rPr lang="en-US" smtClean="0"/>
              <a:t>6/7/17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26AED-2A75-A443-A7F2-D559A4FF913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0AC4F-F7F2-BC46-B4B8-D249259FF463}" type="datetime1">
              <a:rPr lang="en-US" smtClean="0"/>
              <a:t>6/7/17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26AED-2A75-A443-A7F2-D559A4FF913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D497B-ECE7-E246-8428-AD204E69782A}" type="datetime1">
              <a:rPr lang="en-US" smtClean="0"/>
              <a:t>6/7/17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26AED-2A75-A443-A7F2-D559A4FF913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BB9C9-F380-CA49-82D2-2AA3C6D639D3}" type="datetime1">
              <a:rPr lang="en-US" smtClean="0"/>
              <a:t>6/7/17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26AED-2A75-A443-A7F2-D559A4FF913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11FC8-9C33-8B40-85E7-E53BC642324E}" type="datetime1">
              <a:rPr lang="en-US" smtClean="0"/>
              <a:t>6/7/17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26AED-2A75-A443-A7F2-D559A4FF913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73671-2B5D-A546-966F-16CB71DF95B3}" type="datetime1">
              <a:rPr lang="en-US" smtClean="0"/>
              <a:t>6/7/17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26AED-2A75-A443-A7F2-D559A4FF913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F01F-186F-D747-9F76-2EB88241FECF}" type="datetime1">
              <a:rPr lang="en-US" smtClean="0"/>
              <a:t>6/7/17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26AED-2A75-A443-A7F2-D559A4FF913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6905D-7CDD-B144-9C82-CCA4B45A9FF8}" type="datetime1">
              <a:rPr lang="en-US" smtClean="0"/>
              <a:t>6/7/17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26AED-2A75-A443-A7F2-D559A4FF913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B7AE1EFA-0BFE-8F42-9C7D-7C3D0838B964}" type="datetime1">
              <a:rPr lang="en-US" smtClean="0"/>
              <a:t>6/7/17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93526AED-2A75-A443-A7F2-D559A4FF9130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6917" y="3058801"/>
            <a:ext cx="3313355" cy="170216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The Connection Between Sexual Trauma and Mental Health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6917" y="4760961"/>
            <a:ext cx="3309803" cy="1260629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Mishawn Glover, M.Ed., Resident In Counseling </a:t>
            </a:r>
          </a:p>
          <a:p>
            <a:endParaRPr lang="en-US" dirty="0"/>
          </a:p>
          <a:p>
            <a:r>
              <a:rPr lang="en-US" dirty="0" smtClean="0"/>
              <a:t>MHA Conference </a:t>
            </a:r>
          </a:p>
          <a:p>
            <a:r>
              <a:rPr lang="en-US" dirty="0" smtClean="0"/>
              <a:t>June 2017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941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Welcome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281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 of the Session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Introductions</a:t>
            </a:r>
          </a:p>
          <a:p>
            <a:r>
              <a:rPr lang="en-US" dirty="0" smtClean="0"/>
              <a:t>What is Sexual Trauma?</a:t>
            </a:r>
          </a:p>
          <a:p>
            <a:r>
              <a:rPr lang="en-US" dirty="0" smtClean="0"/>
              <a:t>What are the Mental Health Effects on Sexual Trauma?</a:t>
            </a:r>
          </a:p>
          <a:p>
            <a:r>
              <a:rPr lang="en-US" dirty="0" smtClean="0"/>
              <a:t>Barriers to Treatment</a:t>
            </a:r>
          </a:p>
          <a:p>
            <a:r>
              <a:rPr lang="en-US" dirty="0" smtClean="0"/>
              <a:t>Treatment Model</a:t>
            </a:r>
          </a:p>
          <a:p>
            <a:r>
              <a:rPr lang="en-US" dirty="0" smtClean="0"/>
              <a:t>Compassion Fatigue/Self-Care</a:t>
            </a:r>
          </a:p>
          <a:p>
            <a:r>
              <a:rPr lang="en-US" dirty="0" smtClean="0"/>
              <a:t>Closing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788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Whose in the Room?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85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Who Am I?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Master of Education in Counselor Education: Community Mental Health</a:t>
            </a:r>
          </a:p>
          <a:p>
            <a:r>
              <a:rPr lang="en-US" dirty="0" smtClean="0"/>
              <a:t>Resident in Counseling-LPC</a:t>
            </a:r>
          </a:p>
          <a:p>
            <a:pPr marL="342900" lvl="1"/>
            <a:r>
              <a:rPr lang="en-US" dirty="0"/>
              <a:t>Currently a </a:t>
            </a:r>
            <a:r>
              <a:rPr lang="en-US" dirty="0" smtClean="0"/>
              <a:t>counselor </a:t>
            </a:r>
            <a:r>
              <a:rPr lang="en-US" dirty="0"/>
              <a:t>for survivors of Intimate Partner, Domestic and Sexual Violence</a:t>
            </a:r>
          </a:p>
          <a:p>
            <a:r>
              <a:rPr lang="en-US" dirty="0" smtClean="0"/>
              <a:t>Hotline Crisis Specialist with the Virginia Sexual and Domestic Violence Action Alliance </a:t>
            </a:r>
          </a:p>
          <a:p>
            <a:r>
              <a:rPr lang="en-US" dirty="0" smtClean="0"/>
              <a:t>Certified Trauma Professional </a:t>
            </a:r>
          </a:p>
          <a:p>
            <a:pPr lvl="1"/>
            <a:r>
              <a:rPr lang="en-US" dirty="0" smtClean="0"/>
              <a:t>Clinical </a:t>
            </a:r>
          </a:p>
          <a:p>
            <a:pPr lvl="1"/>
            <a:r>
              <a:rPr lang="en-US" dirty="0" smtClean="0"/>
              <a:t>Family </a:t>
            </a:r>
          </a:p>
          <a:p>
            <a:pPr lvl="1"/>
            <a:r>
              <a:rPr lang="en-US" dirty="0" smtClean="0"/>
              <a:t>Child and Youth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275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Who Are You Introduction Activity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Name</a:t>
            </a:r>
          </a:p>
          <a:p>
            <a:r>
              <a:rPr lang="en-US" dirty="0" smtClean="0"/>
              <a:t>What you do</a:t>
            </a:r>
          </a:p>
          <a:p>
            <a:r>
              <a:rPr lang="en-US" dirty="0" smtClean="0"/>
              <a:t>Something you require to feel safe in a learning environment</a:t>
            </a:r>
          </a:p>
          <a:p>
            <a:r>
              <a:rPr lang="en-US" dirty="0" smtClean="0"/>
              <a:t>Something you can contribute to a create a safe learning environment</a:t>
            </a:r>
          </a:p>
          <a:p>
            <a:endParaRPr lang="en-US" dirty="0"/>
          </a:p>
          <a:p>
            <a:r>
              <a:rPr lang="en-US" dirty="0" smtClean="0"/>
              <a:t>Nominate 1 recorder and 1 reporter</a:t>
            </a:r>
          </a:p>
          <a:p>
            <a:r>
              <a:rPr lang="en-US" dirty="0" smtClean="0"/>
              <a:t>Pick 1 Requirement and 1 Contribution to report back to everyone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98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Sexual Trauma?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25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Sexual Trauma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Sexual Violence or Sexual Assault</a:t>
            </a:r>
          </a:p>
          <a:p>
            <a:r>
              <a:rPr lang="en-US" dirty="0" smtClean="0"/>
              <a:t>Sexual behavior that occurs without the clear </a:t>
            </a:r>
            <a:r>
              <a:rPr lang="en-US" b="1" dirty="0" smtClean="0">
                <a:solidFill>
                  <a:srgbClr val="FF0000"/>
                </a:solidFill>
              </a:rPr>
              <a:t>CONSENT </a:t>
            </a:r>
            <a:r>
              <a:rPr lang="en-US" dirty="0" smtClean="0"/>
              <a:t>of the victim</a:t>
            </a:r>
          </a:p>
          <a:p>
            <a:pPr lvl="1"/>
            <a:r>
              <a:rPr lang="en-US" dirty="0" smtClean="0"/>
              <a:t>Attempted rape</a:t>
            </a:r>
          </a:p>
          <a:p>
            <a:pPr lvl="1"/>
            <a:r>
              <a:rPr lang="en-US" dirty="0" smtClean="0"/>
              <a:t>Fondling or unwanted touch</a:t>
            </a:r>
          </a:p>
          <a:p>
            <a:pPr lvl="1"/>
            <a:r>
              <a:rPr lang="en-US" dirty="0" smtClean="0"/>
              <a:t>Forcing victim to perform sexual acts</a:t>
            </a:r>
          </a:p>
          <a:p>
            <a:pPr lvl="1"/>
            <a:r>
              <a:rPr lang="en-US" dirty="0" smtClean="0"/>
              <a:t>Penetration of victim’s body</a:t>
            </a:r>
          </a:p>
          <a:p>
            <a:pPr lvl="1"/>
            <a:endParaRPr lang="en-US" dirty="0"/>
          </a:p>
          <a:p>
            <a:pPr marL="365760" lvl="1" indent="0">
              <a:buNone/>
            </a:pPr>
            <a:endParaRPr lang="en-US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Mental Health American, RAINN, West Virginia University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01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Facts and Stats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1 in 5 women and 1 in 71 men will be raped at some point in their lives</a:t>
            </a:r>
          </a:p>
          <a:p>
            <a:r>
              <a:rPr lang="en-US" dirty="0" smtClean="0"/>
              <a:t>46.4% Lesbian, 74.9% bisexual women and 43.3% of heterosexual women report sexual violence other than rape during a lifetime, while 40.2% gay men, 47.4% bisexual men and 20.8% heterosexual men reported sexual violence other than rape during their lifetimes</a:t>
            </a:r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National Sexual Violence Resource Center,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161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Facts and Stats Con’t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Each rape costs approximately $151,423</a:t>
            </a:r>
          </a:p>
          <a:p>
            <a:r>
              <a:rPr lang="en-US" dirty="0" smtClean="0"/>
              <a:t>81% of women and 35% of men report significant short-term or long-term impacts such as PTSD</a:t>
            </a:r>
          </a:p>
          <a:p>
            <a:r>
              <a:rPr lang="en-US" dirty="0" smtClean="0"/>
              <a:t>Health care is 16% higher for women who were sexually abused as children</a:t>
            </a:r>
          </a:p>
          <a:p>
            <a:pPr marL="68580" indent="0">
              <a:buNone/>
            </a:pPr>
            <a:endParaRPr lang="en-US" dirty="0" smtClean="0"/>
          </a:p>
          <a:p>
            <a:endParaRPr lang="en-US" dirty="0"/>
          </a:p>
          <a:p>
            <a:pPr marL="68580" indent="0">
              <a:buNone/>
            </a:pPr>
            <a:r>
              <a:rPr lang="en-US" dirty="0" smtClean="0"/>
              <a:t>Sexual Violence is </a:t>
            </a:r>
            <a:r>
              <a:rPr lang="en-US" b="1" dirty="0" smtClean="0">
                <a:solidFill>
                  <a:srgbClr val="FF0000"/>
                </a:solidFill>
              </a:rPr>
              <a:t>NEVER </a:t>
            </a:r>
            <a:r>
              <a:rPr lang="en-US" dirty="0" smtClean="0">
                <a:solidFill>
                  <a:schemeClr val="tx1"/>
                </a:solidFill>
              </a:rPr>
              <a:t>the victim/survivors fault!!!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National Sexual Violence Resource Center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013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does mental </a:t>
            </a:r>
            <a:r>
              <a:rPr lang="en-US" dirty="0"/>
              <a:t>h</a:t>
            </a:r>
            <a:r>
              <a:rPr lang="en-US" dirty="0" smtClean="0"/>
              <a:t>ealth have to do with it?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Activity: Holding on to secrets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017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Mental health effects on Sexual Trauma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Trauma is a brain thing</a:t>
            </a:r>
          </a:p>
          <a:p>
            <a:r>
              <a:rPr lang="en-US" dirty="0" smtClean="0"/>
              <a:t>Trauma is something that overwhelms our coping capacity </a:t>
            </a:r>
          </a:p>
          <a:p>
            <a:r>
              <a:rPr lang="en-US" dirty="0" smtClean="0"/>
              <a:t>Trauma activates our survival responses</a:t>
            </a:r>
          </a:p>
          <a:p>
            <a:pPr lvl="1"/>
            <a:r>
              <a:rPr lang="en-US" dirty="0" smtClean="0"/>
              <a:t>Fight </a:t>
            </a:r>
          </a:p>
          <a:p>
            <a:pPr lvl="1"/>
            <a:r>
              <a:rPr lang="en-US" dirty="0" smtClean="0"/>
              <a:t>Flight </a:t>
            </a:r>
          </a:p>
          <a:p>
            <a:pPr lvl="1"/>
            <a:r>
              <a:rPr lang="en-US" dirty="0" smtClean="0"/>
              <a:t>Freeze</a:t>
            </a:r>
          </a:p>
          <a:p>
            <a:pPr marL="365760" lvl="1" indent="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685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Long-Term Effects of Sexual Violence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Feelings of guilt and shame</a:t>
            </a:r>
          </a:p>
          <a:p>
            <a:r>
              <a:rPr lang="en-US" dirty="0" smtClean="0"/>
              <a:t>Lonely </a:t>
            </a:r>
          </a:p>
          <a:p>
            <a:r>
              <a:rPr lang="en-US" dirty="0" smtClean="0"/>
              <a:t>Different</a:t>
            </a:r>
          </a:p>
          <a:p>
            <a:r>
              <a:rPr lang="en-US" dirty="0" smtClean="0"/>
              <a:t>Sad/Depressed</a:t>
            </a:r>
          </a:p>
          <a:p>
            <a:r>
              <a:rPr lang="en-US" dirty="0" smtClean="0"/>
              <a:t>Confusion </a:t>
            </a:r>
          </a:p>
          <a:p>
            <a:r>
              <a:rPr lang="en-US" dirty="0" smtClean="0"/>
              <a:t>Anger</a:t>
            </a:r>
          </a:p>
          <a:p>
            <a:r>
              <a:rPr lang="en-US" dirty="0" smtClean="0"/>
              <a:t>Fear</a:t>
            </a:r>
          </a:p>
          <a:p>
            <a:r>
              <a:rPr lang="en-US" dirty="0" smtClean="0"/>
              <a:t>Dissociation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smtClean="0"/>
              <a:t>Intrusive thoughts </a:t>
            </a:r>
          </a:p>
          <a:p>
            <a:r>
              <a:rPr lang="en-US" dirty="0" smtClean="0"/>
              <a:t>Rigid or lack of boundaries</a:t>
            </a:r>
          </a:p>
          <a:p>
            <a:r>
              <a:rPr lang="en-US" dirty="0" smtClean="0"/>
              <a:t>Difficulty forming </a:t>
            </a:r>
          </a:p>
          <a:p>
            <a:r>
              <a:rPr lang="en-US" dirty="0" smtClean="0"/>
              <a:t>Close relationships</a:t>
            </a:r>
          </a:p>
          <a:p>
            <a:r>
              <a:rPr lang="en-US" dirty="0" smtClean="0"/>
              <a:t>Trust/Intimacy Issues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44775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Mental Health Disorders Associated with Sexual Trauma 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Eating Disorders</a:t>
            </a:r>
          </a:p>
          <a:p>
            <a:r>
              <a:rPr lang="en-US" dirty="0" smtClean="0"/>
              <a:t>Anxiety </a:t>
            </a:r>
          </a:p>
          <a:p>
            <a:r>
              <a:rPr lang="en-US" dirty="0" smtClean="0"/>
              <a:t>Substance Abuse</a:t>
            </a:r>
          </a:p>
          <a:p>
            <a:r>
              <a:rPr lang="en-US" dirty="0" smtClean="0"/>
              <a:t>PTSD</a:t>
            </a:r>
          </a:p>
          <a:p>
            <a:r>
              <a:rPr lang="en-US" dirty="0" smtClean="0"/>
              <a:t>Depression 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49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Barriers to Treatment 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292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Treatment Needs of Survivors 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Freedom to explore, process and grow</a:t>
            </a:r>
          </a:p>
          <a:p>
            <a:r>
              <a:rPr lang="en-US" dirty="0" smtClean="0"/>
              <a:t>Treatment should be facilitative</a:t>
            </a:r>
          </a:p>
          <a:p>
            <a:r>
              <a:rPr lang="en-US" dirty="0" smtClean="0"/>
              <a:t>Awareness of own body language, feelings, beliefs, etc.</a:t>
            </a:r>
          </a:p>
          <a:p>
            <a:r>
              <a:rPr lang="en-US" dirty="0" smtClean="0"/>
              <a:t>Comfortable with talking about sexual trauma</a:t>
            </a:r>
          </a:p>
          <a:p>
            <a:r>
              <a:rPr lang="en-US" dirty="0" smtClean="0"/>
              <a:t>The focus of treatment should be client centered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2725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HEAL Model™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465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 Model™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4494244"/>
              </p:ext>
            </p:extLst>
          </p:nvPr>
        </p:nvGraphicFramePr>
        <p:xfrm>
          <a:off x="1043490" y="2343183"/>
          <a:ext cx="7273302" cy="4060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292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Assessing for Safety </a:t>
            </a:r>
          </a:p>
          <a:p>
            <a:r>
              <a:rPr lang="en-US" dirty="0" smtClean="0"/>
              <a:t> They are having a normal reaction to an abnormal experience </a:t>
            </a:r>
          </a:p>
          <a:p>
            <a:r>
              <a:rPr lang="en-US" dirty="0" smtClean="0"/>
              <a:t>Stability as a  precursor to treatment improves the outcome for treatment</a:t>
            </a:r>
          </a:p>
          <a:p>
            <a:endParaRPr lang="en-US" dirty="0"/>
          </a:p>
          <a:p>
            <a:pPr lvl="2">
              <a:buFont typeface="Wingdings 2" charset="2"/>
              <a:buChar char="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25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Educate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Teach about how the trauma has effected their brain</a:t>
            </a:r>
          </a:p>
          <a:p>
            <a:r>
              <a:rPr lang="en-US" dirty="0" smtClean="0"/>
              <a:t>Teach self-regulation techniques</a:t>
            </a:r>
          </a:p>
          <a:p>
            <a:r>
              <a:rPr lang="en-US" dirty="0" smtClean="0"/>
              <a:t>Relationships and Trust </a:t>
            </a:r>
          </a:p>
          <a:p>
            <a:pPr lvl="1"/>
            <a:r>
              <a:rPr lang="en-US" dirty="0" smtClean="0"/>
              <a:t>Healthy vs. Unhealthy </a:t>
            </a:r>
          </a:p>
          <a:p>
            <a:pPr lvl="1"/>
            <a:r>
              <a:rPr lang="en-US" dirty="0" smtClean="0"/>
              <a:t>Sex vs. Love</a:t>
            </a:r>
          </a:p>
          <a:p>
            <a:pPr lvl="1"/>
            <a:r>
              <a:rPr lang="en-US" dirty="0" smtClean="0"/>
              <a:t>Respect </a:t>
            </a:r>
          </a:p>
          <a:p>
            <a:pPr lvl="1"/>
            <a:r>
              <a:rPr lang="en-US" dirty="0" smtClean="0"/>
              <a:t>Boundaries</a:t>
            </a:r>
          </a:p>
          <a:p>
            <a:pPr lvl="1"/>
            <a:r>
              <a:rPr lang="en-US" dirty="0" smtClean="0"/>
              <a:t>Assertiveness Skills</a:t>
            </a:r>
          </a:p>
          <a:p>
            <a:pPr lvl="1"/>
            <a:r>
              <a:rPr lang="en-US" dirty="0" smtClean="0"/>
              <a:t>Family dynamics</a:t>
            </a:r>
          </a:p>
          <a:p>
            <a:r>
              <a:rPr lang="en-US" dirty="0" smtClean="0"/>
              <a:t>Help the survivor tell their story </a:t>
            </a:r>
          </a:p>
          <a:p>
            <a:pPr lvl="1"/>
            <a:r>
              <a:rPr lang="en-US" dirty="0" smtClean="0"/>
              <a:t>Narrative therapy </a:t>
            </a:r>
          </a:p>
          <a:p>
            <a:pPr lvl="1"/>
            <a:r>
              <a:rPr lang="en-US" dirty="0" smtClean="0"/>
              <a:t>Art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791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Affirm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Feelings</a:t>
            </a:r>
          </a:p>
          <a:p>
            <a:pPr lvl="1"/>
            <a:r>
              <a:rPr lang="en-US" dirty="0" smtClean="0"/>
              <a:t>Address</a:t>
            </a:r>
          </a:p>
          <a:p>
            <a:pPr lvl="1"/>
            <a:r>
              <a:rPr lang="en-US" dirty="0" smtClean="0"/>
              <a:t>Connect</a:t>
            </a:r>
          </a:p>
          <a:p>
            <a:pPr lvl="1"/>
            <a:r>
              <a:rPr lang="en-US" dirty="0" smtClean="0"/>
              <a:t>Identify </a:t>
            </a:r>
          </a:p>
          <a:p>
            <a:pPr lvl="1"/>
            <a:endParaRPr lang="en-US" dirty="0"/>
          </a:p>
          <a:p>
            <a:pPr marL="365760" lvl="1" indent="0">
              <a:buNone/>
            </a:pPr>
            <a:r>
              <a:rPr lang="en-US" dirty="0" smtClean="0"/>
              <a:t>Activities to help may include:</a:t>
            </a:r>
          </a:p>
          <a:p>
            <a:pPr lvl="1"/>
            <a:r>
              <a:rPr lang="en-US" dirty="0" smtClean="0"/>
              <a:t>Mask</a:t>
            </a:r>
          </a:p>
          <a:p>
            <a:pPr lvl="1"/>
            <a:r>
              <a:rPr lang="en-US" dirty="0" smtClean="0"/>
              <a:t>Positive Self-Talk</a:t>
            </a:r>
          </a:p>
          <a:p>
            <a:pPr lvl="1"/>
            <a:r>
              <a:rPr lang="en-US" dirty="0" smtClean="0"/>
              <a:t>Mantras </a:t>
            </a:r>
          </a:p>
          <a:p>
            <a:pPr lvl="1"/>
            <a:r>
              <a:rPr lang="en-US" dirty="0" smtClean="0"/>
              <a:t>Mirror exercises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515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Liberation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Continue to let the survivor know you believe them and what happened to them is not their fault</a:t>
            </a:r>
          </a:p>
          <a:p>
            <a:r>
              <a:rPr lang="en-US" dirty="0" smtClean="0"/>
              <a:t>Celebrate milestones survivors overcome in treatment </a:t>
            </a:r>
          </a:p>
          <a:p>
            <a:r>
              <a:rPr lang="en-US" dirty="0" smtClean="0"/>
              <a:t>Plan a celebration for all the hard work the survivor has done when termination happens.</a:t>
            </a:r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0057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3442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Take Care of Self!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Activity: Self-Care Plan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587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 &amp; A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3536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Thank You!!!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5833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Austin.thmx</Template>
  <TotalTime>99</TotalTime>
  <Words>653</Words>
  <Application>Microsoft Macintosh PowerPoint</Application>
  <PresentationFormat>On-screen Show (4:3)</PresentationFormat>
  <Paragraphs>141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Austin</vt:lpstr>
      <vt:lpstr>The Connection Between Sexual Trauma and Mental Health </vt:lpstr>
      <vt:lpstr>Welcome </vt:lpstr>
      <vt:lpstr>Overview of the Session </vt:lpstr>
      <vt:lpstr>Whose in the Room?</vt:lpstr>
      <vt:lpstr>Who Am I?</vt:lpstr>
      <vt:lpstr>Who Are You Introduction Activity </vt:lpstr>
      <vt:lpstr>What is Sexual Trauma?</vt:lpstr>
      <vt:lpstr>Sexual Trauma </vt:lpstr>
      <vt:lpstr>Facts and Stats</vt:lpstr>
      <vt:lpstr>Facts and Stats Con’t</vt:lpstr>
      <vt:lpstr>What does mental health have to do with it?</vt:lpstr>
      <vt:lpstr>Mental health effects on Sexual Trauma </vt:lpstr>
      <vt:lpstr>Long-Term Effects of Sexual Violence </vt:lpstr>
      <vt:lpstr>Mental Health Disorders Associated with Sexual Trauma </vt:lpstr>
      <vt:lpstr>Barriers to Treatment </vt:lpstr>
      <vt:lpstr>Treatment Needs of Survivors </vt:lpstr>
      <vt:lpstr>HEAL Model™</vt:lpstr>
      <vt:lpstr>HEAL Model™</vt:lpstr>
      <vt:lpstr>Help</vt:lpstr>
      <vt:lpstr>Educate </vt:lpstr>
      <vt:lpstr>Affirm</vt:lpstr>
      <vt:lpstr>Liberation </vt:lpstr>
      <vt:lpstr>PowerPoint Presentation</vt:lpstr>
      <vt:lpstr>Take Care of Self!</vt:lpstr>
      <vt:lpstr>Q &amp; A</vt:lpstr>
      <vt:lpstr>Thank You!!!</vt:lpstr>
    </vt:vector>
  </TitlesOfParts>
  <Company>VSU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Connection Between Sexual Trauma and Mental Health </dc:title>
  <dc:creator>Mishawn Glover</dc:creator>
  <cp:lastModifiedBy>Mishawn Glover</cp:lastModifiedBy>
  <cp:revision>11</cp:revision>
  <dcterms:created xsi:type="dcterms:W3CDTF">2017-06-08T01:11:32Z</dcterms:created>
  <dcterms:modified xsi:type="dcterms:W3CDTF">2017-06-08T02:50:42Z</dcterms:modified>
</cp:coreProperties>
</file>